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6cd95b2ed94b8c" /><Relationship Type="http://schemas.openxmlformats.org/officeDocument/2006/relationships/extended-properties" Target="/docProps/app.xml" Id="Re2c839a7623f4d6f" /><Relationship Type="http://schemas.openxmlformats.org/officeDocument/2006/relationships/officeDocument" Target="/ppt/presentation.xml" Id="R1ff2baf964c946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f88450febb4fa1"/>
  </p:sldMasterIdLst>
  <p:notesMasterIdLst>
    <p:notesMasterId xmlns:r="http://schemas.openxmlformats.org/officeDocument/2006/relationships" r:id="R35177f6cde414dfa"/>
  </p:notesMasterIdLst>
  <p:sldIdLst>
    <p:sldId xmlns:r="http://schemas.openxmlformats.org/officeDocument/2006/relationships" id="256" r:id="R5cd8d5a59a424ede"/>
    <p:sldId xmlns:r="http://schemas.openxmlformats.org/officeDocument/2006/relationships" id="257" r:id="Rb0f911338dc04cf3"/>
    <p:sldId xmlns:r="http://schemas.openxmlformats.org/officeDocument/2006/relationships" id="258" r:id="Ra606d665918b4a23"/>
    <p:sldId xmlns:r="http://schemas.openxmlformats.org/officeDocument/2006/relationships" id="259" r:id="R697cee6196614c8f"/>
    <p:sldId xmlns:r="http://schemas.openxmlformats.org/officeDocument/2006/relationships" id="260" r:id="Ra8f2c19d88854def"/>
    <p:sldId xmlns:r="http://schemas.openxmlformats.org/officeDocument/2006/relationships" id="261" r:id="R7240df657d0549ab"/>
    <p:sldId xmlns:r="http://schemas.openxmlformats.org/officeDocument/2006/relationships" id="262" r:id="R24ac5309e86e4365"/>
    <p:sldId xmlns:r="http://schemas.openxmlformats.org/officeDocument/2006/relationships" id="263" r:id="R8443462192b0427c"/>
    <p:sldId xmlns:r="http://schemas.openxmlformats.org/officeDocument/2006/relationships" id="264" r:id="Ree20c75714ec4bb7"/>
    <p:sldId xmlns:r="http://schemas.openxmlformats.org/officeDocument/2006/relationships" id="265" r:id="R24543b9a58f84176"/>
    <p:sldId xmlns:r="http://schemas.openxmlformats.org/officeDocument/2006/relationships" id="266" r:id="R95af375f196b4594"/>
    <p:sldId xmlns:r="http://schemas.openxmlformats.org/officeDocument/2006/relationships" id="267" r:id="Rc6bfddbcad8041f4"/>
    <p:sldId xmlns:r="http://schemas.openxmlformats.org/officeDocument/2006/relationships" id="268" r:id="R3e3edc1085bd487c"/>
    <p:sldId xmlns:r="http://schemas.openxmlformats.org/officeDocument/2006/relationships" id="269" r:id="R637d1c12acfb411c"/>
    <p:sldId xmlns:r="http://schemas.openxmlformats.org/officeDocument/2006/relationships" id="270" r:id="Re5b287c4924f4ec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6e3bd2c13564256" /><Relationship Type="http://schemas.openxmlformats.org/officeDocument/2006/relationships/slideMaster" Target="/ppt/slideMasters/slideMaster1.xml" Id="Rf5f88450febb4fa1" /><Relationship Type="http://schemas.openxmlformats.org/officeDocument/2006/relationships/notesMaster" Target="/ppt/notesMasters/notesMaster1.xml" Id="R35177f6cde414dfa" /><Relationship Type="http://schemas.openxmlformats.org/officeDocument/2006/relationships/presProps" Target="/ppt/presProps.xml" Id="R0e7b1f33d4404031" /><Relationship Type="http://schemas.openxmlformats.org/officeDocument/2006/relationships/viewProps" Target="/ppt/viewProps.xml" Id="R4d28428ed8f34f18" /><Relationship Type="http://schemas.openxmlformats.org/officeDocument/2006/relationships/tableStyles" Target="/ppt/tableStyles.xml" Id="R0520a7dfc1ec452a" /><Relationship Type="http://schemas.openxmlformats.org/officeDocument/2006/relationships/slide" Target="/ppt/slides/slide1.xml" Id="R5cd8d5a59a424ede" /><Relationship Type="http://schemas.openxmlformats.org/officeDocument/2006/relationships/slide" Target="/ppt/slides/slide2.xml" Id="Rb0f911338dc04cf3" /><Relationship Type="http://schemas.openxmlformats.org/officeDocument/2006/relationships/slide" Target="/ppt/slides/slide3.xml" Id="Ra606d665918b4a23" /><Relationship Type="http://schemas.openxmlformats.org/officeDocument/2006/relationships/slide" Target="/ppt/slides/slide4.xml" Id="R697cee6196614c8f" /><Relationship Type="http://schemas.openxmlformats.org/officeDocument/2006/relationships/slide" Target="/ppt/slides/slide5.xml" Id="Ra8f2c19d88854def" /><Relationship Type="http://schemas.openxmlformats.org/officeDocument/2006/relationships/slide" Target="/ppt/slides/slide6.xml" Id="R7240df657d0549ab" /><Relationship Type="http://schemas.openxmlformats.org/officeDocument/2006/relationships/slide" Target="/ppt/slides/slide7.xml" Id="R24ac5309e86e4365" /><Relationship Type="http://schemas.openxmlformats.org/officeDocument/2006/relationships/slide" Target="/ppt/slides/slide8.xml" Id="R8443462192b0427c" /><Relationship Type="http://schemas.openxmlformats.org/officeDocument/2006/relationships/slide" Target="/ppt/slides/slide9.xml" Id="Ree20c75714ec4bb7" /><Relationship Type="http://schemas.openxmlformats.org/officeDocument/2006/relationships/slide" Target="/ppt/slides/slide10.xml" Id="R24543b9a58f84176" /><Relationship Type="http://schemas.openxmlformats.org/officeDocument/2006/relationships/slide" Target="/ppt/slides/slide11.xml" Id="R95af375f196b4594" /><Relationship Type="http://schemas.openxmlformats.org/officeDocument/2006/relationships/slide" Target="/ppt/slides/slide12.xml" Id="Rc6bfddbcad8041f4" /><Relationship Type="http://schemas.openxmlformats.org/officeDocument/2006/relationships/slide" Target="/ppt/slides/slide13.xml" Id="R3e3edc1085bd487c" /><Relationship Type="http://schemas.openxmlformats.org/officeDocument/2006/relationships/slide" Target="/ppt/slides/slide14.xml" Id="R637d1c12acfb411c" /><Relationship Type="http://schemas.openxmlformats.org/officeDocument/2006/relationships/slide" Target="/ppt/slides/slide15.xml" Id="Re5b287c4924f4e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b6f16026514f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72088e14514559" /><Relationship Type="http://schemas.openxmlformats.org/officeDocument/2006/relationships/notesMaster" Target="/ppt/notesMasters/notesMaster1.xml" Id="Rb1bccb1090bd4f3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7b35254c614750" /><Relationship Type="http://schemas.openxmlformats.org/officeDocument/2006/relationships/notesMaster" Target="/ppt/notesMasters/notesMaster1.xml" Id="R670844dd7aaa44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1590324c5b45a6" /><Relationship Type="http://schemas.openxmlformats.org/officeDocument/2006/relationships/notesMaster" Target="/ppt/notesMasters/notesMaster1.xml" Id="Rae94c8d5a89442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666445d7ce4d27" /><Relationship Type="http://schemas.openxmlformats.org/officeDocument/2006/relationships/notesMaster" Target="/ppt/notesMasters/notesMaster1.xml" Id="Rfe05609463ef491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846cfc0c5049c1" /><Relationship Type="http://schemas.openxmlformats.org/officeDocument/2006/relationships/notesMaster" Target="/ppt/notesMasters/notesMaster1.xml" Id="R3cd8cc45f44f4e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07fc909cac431a" /><Relationship Type="http://schemas.openxmlformats.org/officeDocument/2006/relationships/notesMaster" Target="/ppt/notesMasters/notesMaster1.xml" Id="Ra88ddb82c22744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ca7f4dac5424239" /><Relationship Type="http://schemas.openxmlformats.org/officeDocument/2006/relationships/notesMaster" Target="/ppt/notesMasters/notesMaster1.xml" Id="R999f584ff4134b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02dc6d4b8d4183" /><Relationship Type="http://schemas.openxmlformats.org/officeDocument/2006/relationships/notesMaster" Target="/ppt/notesMasters/notesMaster1.xml" Id="R171277a6947f493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6f68bc1134344ad" /><Relationship Type="http://schemas.openxmlformats.org/officeDocument/2006/relationships/notesMaster" Target="/ppt/notesMasters/notesMaster1.xml" Id="Ra0312935dfa248d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f3063e4a7b44c4" /><Relationship Type="http://schemas.openxmlformats.org/officeDocument/2006/relationships/notesMaster" Target="/ppt/notesMasters/notesMaster1.xml" Id="R80a7e22f9af341a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0604be7127244d7" /><Relationship Type="http://schemas.openxmlformats.org/officeDocument/2006/relationships/notesMaster" Target="/ppt/notesMasters/notesMaster1.xml" Id="Rca61d9b7513242f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8f0a1564b7d4d5d" /><Relationship Type="http://schemas.openxmlformats.org/officeDocument/2006/relationships/notesMaster" Target="/ppt/notesMasters/notesMaster1.xml" Id="R8b1a38e4eb4b43d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c1b7c04bdd648d0" /><Relationship Type="http://schemas.openxmlformats.org/officeDocument/2006/relationships/notesMaster" Target="/ppt/notesMasters/notesMaster1.xml" Id="R47edbc58f7ed4a8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6b9f8107a79433c" /><Relationship Type="http://schemas.openxmlformats.org/officeDocument/2006/relationships/notesMaster" Target="/ppt/notesMasters/notesMaster1.xml" Id="R7dd0bb686b2c4f1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9382826989d40a1" /><Relationship Type="http://schemas.openxmlformats.org/officeDocument/2006/relationships/notesMaster" Target="/ppt/notesMasters/notesMaster1.xml" Id="Ra0af4ab1959f46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补充姓名、岗位、部门、日期。开场建议先说试用期的主要职责，再说明胶囊项目是其中一个能体现系统理解和工程实践的案例。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内容对应答辩表五项工作内容与五项职业素养。为避免替本人编造绩效，每一项后续页都留有具体经历、数据或文件编号的填写位置。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根据本人真实试用期工作填写此页。最好选择两到三个最能说明能力的案例，避免只说“参与了”“完成了”，需要讲清本人负责内容和证据。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源码依据：nrf_tx/examples/peripheral/radio/TX/ov7676.c、cx93510.c、image.c；RX 的 antenna_manager/radio_link；stm32F103RET6/stm_project/Core/Src/capsule_protocol.c、sd_storage.c。箭头和流程框均为可编辑 PowerPoint 对象。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设备型号以当前源码为准：OV7676（不是 OV7766）。OV7676 经 CX93510 内部 I²C 主机配置，像素经并行 DVP 送到 CX93510；CX93510 在有限单帧模式下采集，JPEG 数据与帧块信息进入其帧 RAM；nRF52832 通过 SPI 读取帧信息并逐片读 JPEG。当前正式无线协议只发送原始图像块，不将旧版 IMG/CRC16 分块写法当作当前协议。来源：TX/ov7676.c、cx93510.c、image.c；doc/01-通信协议.md；doc/03-TX软件框架.md。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TX-RX 无线协议依据 doc/01-通信协议.md；RX到STM和STM到PC依据 doc/08-STM软件框架.md 与当前 capsule_protocol.c。协议字段和校验要以这些当前文件为准。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doc/06-TYGD31旧工程框架与天线扫描.md、doc/07-新旧工程对比.md、doc/03-TX软件框架.md。该页描述代码和方案差异，不宣称未验证的功耗或成像性能提升。现方案仍需按静止、移动、弱信号场景验证前三候选和扫描阈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对应考核表开发与缺陷修复、技术交接与版本迭代。不要将代码存在或仓库功能描述直接当成个人贡献证据。优先放一项能展示自己判断过程的缺陷闭环案例。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手持控制器信息由用户提供：主控 STM8S103F2P6，控制 HC-04S，应用协议仅一条，用于通过蓝牙控制 PC 保存当前照片。具体按键电路、串口参数、命令码及报文格式未提供，留待本人补充。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标准来源（全国标准信息公共服务平台）：</a:t>
            </a:r>
          </a:p>
          <a:p xmlns:a="http://schemas.openxmlformats.org/drawingml/2006/main">
            <a:r>
              <a:t>GB 9706.1-2020 https://openstd.samr.gov.cn/bzgk/std/newGbInfo?hcno=74E8A9884B75808BF9369E2E25196F53</a:t>
            </a:r>
            <a:endParaRPr/>
          </a:p>
          <a:p xmlns:a="http://schemas.openxmlformats.org/drawingml/2006/main">
            <a:r>
              <a:t>YY 9706.102-2021 https://std.samr.gov.cn/hb/search/stdHBDetailed?id=BFEAFC933D025285E05397BE0A0A7BFB</a:t>
            </a:r>
          </a:p>
          <a:p xmlns:a="http://schemas.openxmlformats.org/drawingml/2006/main">
            <a:r>
              <a:t>GB 9706.218-2021 https://std.samr.gov.cn/gb/search/gbDetailed?id=D275887A544B7721E05397BE0A0AFB27</a:t>
            </a:r>
          </a:p>
          <a:p xmlns:a="http://schemas.openxmlformats.org/drawingml/2006/main">
            <a:r>
              <a:t>GB/T 42062-2022 https://std.samr.gov.cn/gb/search/gbDetailed?id=EB58F4DA9167B2A2E05397BE0A0A7D33</a:t>
            </a:r>
          </a:p>
          <a:p xmlns:a="http://schemas.openxmlformats.org/drawingml/2006/main">
            <a:r>
              <a:t>YY/T 1437-2023 https://std.samr.gov.cn/hb/search/stdHBDetailed?id=00D333A21F1A492AE06397BE0A0A2B32</a:t>
            </a:r>
          </a:p>
          <a:p xmlns:a="http://schemas.openxmlformats.org/drawingml/2006/main">
            <a:r>
              <a:t>本页“本次关注”为结合用户变更事项推导的评估方向，非标准逐条引用；GB 9706.218 的产品适用性仍由注册人确认。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用户提供的变更事实：图像记录仪板子电池更换；手持设备控制器电池由 A 换到 B，整机型号不变；图像记录仪器件改动；产品涉及耐压变化。未提供具体料号、工作电压、旧版/新版耐压值与检验结果，故在页内留空。</a:t>
            </a:r>
          </a:p>
          <a:p xmlns:a="http://schemas.openxmlformats.org/drawingml/2006/main">
            <a:r>
              <a:t>注册依据：国家药监局《医疗器械注册与备案管理办法》第79、80条，实质性变化可能影响安全有效时办理变更注册，技术审评重点针对变化部分。https://english.nmpa.gov.cn/2024-06/05/c_993242.htm</a:t>
            </a:r>
          </a:p>
          <a:p xmlns:a="http://schemas.openxmlformats.org/drawingml/2006/main">
            <a:r>
              <a:t>通用安全标准 GB 9706.1-2020：https://openstd.samr.gov.cn/bzgk/std/newGbInfo?hcno=74E8A9884B75808BF9369E2E25196F53</a:t>
            </a:r>
          </a:p>
          <a:p xmlns:a="http://schemas.openxmlformats.org/drawingml/2006/main">
            <a:r>
              <a:t>耐压试验点、数值与判定须结合产品结构及标准适用条款由测试/注册团队确定；本页不预设具体数值。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项目仓库已有技术文档，但不能据此推断公司受控的法规标准清单、完整生命周期文档或正式验证已完成。把真实文件名、编号、版本和审核状态填入。软件生命周期要求可参照YY/T 0664-2020理解，系统级确认不应被代码测试替代。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对应职业素养的五项评分标准和10%的专项任务权重。请使用真实事件，写明时间、协作对象、个人责任、反馈方式和可验证结果。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结尾请补充你愿意承担的下一阶段具体职责和可检查目标。避免承诺尚未评估过的量化指标。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ff7203d2f044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f38eff6ae54292" /><Relationship Type="http://schemas.openxmlformats.org/officeDocument/2006/relationships/slideLayout" Target="/ppt/slideLayouts/slideLayout1.xml" Id="R238d247da92f4f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8d247da92f4f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e567b2b20b457c" /><Relationship Type="http://schemas.openxmlformats.org/officeDocument/2006/relationships/notesSlide" Target="/ppt/notesSlides/notesSlide1.xml" Id="R571379cd476840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55f27c2ff642c2" /><Relationship Type="http://schemas.openxmlformats.org/officeDocument/2006/relationships/notesSlide" Target="/ppt/notesSlides/notesSlide2.xml" Id="Rd16c8862c90f4c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3f42049e94917" /><Relationship Type="http://schemas.openxmlformats.org/officeDocument/2006/relationships/notesSlide" Target="/ppt/notesSlides/notesSlide3.xml" Id="R872f986060b346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122314ee4431a" /><Relationship Type="http://schemas.openxmlformats.org/officeDocument/2006/relationships/image" Target="/ppt/media/image.png" Id="Rcbe5d6b178544d05" /><Relationship Type="http://schemas.openxmlformats.org/officeDocument/2006/relationships/notesSlide" Target="/ppt/notesSlides/notesSlide4.xml" Id="Ra5b439855e7e4f5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7feecf1034474" /><Relationship Type="http://schemas.openxmlformats.org/officeDocument/2006/relationships/image" Target="/ppt/media/image2.png" Id="R0d99b62a50cc4d6b" /><Relationship Type="http://schemas.openxmlformats.org/officeDocument/2006/relationships/notesSlide" Target="/ppt/notesSlides/notesSlide5.xml" Id="Rf3e4424c0dbb44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9475c2d4634855" /><Relationship Type="http://schemas.openxmlformats.org/officeDocument/2006/relationships/image" Target="/ppt/media/image3.png" Id="R434e7e54323a44a0" /><Relationship Type="http://schemas.openxmlformats.org/officeDocument/2006/relationships/notesSlide" Target="/ppt/notesSlides/notesSlide6.xml" Id="R13f1644fb62f43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d4324440af4286" /><Relationship Type="http://schemas.openxmlformats.org/officeDocument/2006/relationships/notesSlide" Target="/ppt/notesSlides/notesSlide7.xml" Id="R4f03b858313547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a9160b1c51486c" /><Relationship Type="http://schemas.openxmlformats.org/officeDocument/2006/relationships/notesSlide" Target="/ppt/notesSlides/notesSlide8.xml" Id="R7e872759dc2b4f8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00146ea29c4628" /><Relationship Type="http://schemas.openxmlformats.org/officeDocument/2006/relationships/notesSlide" Target="/ppt/notesSlides/notesSlide9.xml" Id="Rbd1cbf1fc1fd49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ba19efaaf46b5" /><Relationship Type="http://schemas.openxmlformats.org/officeDocument/2006/relationships/notesSlide" Target="/ppt/notesSlides/notesSlide10.xml" Id="R637098ad92a743f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4899c3cda44d74" /><Relationship Type="http://schemas.openxmlformats.org/officeDocument/2006/relationships/notesSlide" Target="/ppt/notesSlides/notesSlide11.xml" Id="R65a59886bea64ef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6a91bf48f4bb8" /><Relationship Type="http://schemas.openxmlformats.org/officeDocument/2006/relationships/notesSlide" Target="/ppt/notesSlides/notesSlide12.xml" Id="R5a21d14cbfdb4d6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b816ca95684a87" /><Relationship Type="http://schemas.openxmlformats.org/officeDocument/2006/relationships/notesSlide" Target="/ppt/notesSlides/notesSlide13.xml" Id="R175018cb41e141f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a8e52f55e04689" /><Relationship Type="http://schemas.openxmlformats.org/officeDocument/2006/relationships/notesSlide" Target="/ppt/notesSlides/notesSlide14.xml" Id="R9cf7e730760b450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40b9035744e47" /><Relationship Type="http://schemas.openxmlformats.org/officeDocument/2006/relationships/notesSlide" Target="/ppt/notesSlides/notesSlide15.xml" Id="Ra10c9ad532c748b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32F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6C0B3E0-60B6-4768-8A2B-E1C98363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5775"/>
            <a:ext cx="7620000" cy="4667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79CDD2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61CBF4"/>
                </a:solidFill>
                <a:latin typeface="Arial"/>
                <a:ea typeface="Arial"/>
                <a:cs typeface="Arial"/>
              </a:rPr>
              <a:t>试用期转正答辩</a:t>
            </a:r>
            <a:endParaRPr b="1">
              <a:solidFill>
                <a:srgbClr val="61CBF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595A0EE-2D1F-4A4B-A2D1-3A40206E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85925"/>
            <a:ext cx="9525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工作回顾与</a:t>
            </a:r>
            <a:endParaRPr sz="42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buNone/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工程重构实践</a:t>
            </a:r>
            <a:endParaRPr sz="42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DA8FF25-E5AD-4787-97EC-45436C4C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95851"/>
            <a:ext cx="9525000" cy="12668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D4E3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4E3E8"/>
                </a:solidFill>
                <a:latin typeface="Arial"/>
                <a:ea typeface="Arial"/>
                <a:cs typeface="Arial"/>
              </a:rPr>
              <a:t>嵌入式软件工程式</a:t>
            </a:r>
            <a:r>
              <a:rPr sz="1575" b="0">
                <a:solidFill>
                  <a:srgbClr val="D4E3E8"/>
                </a:solidFill>
                <a:latin typeface="Arial"/>
                <a:ea typeface="Arial"/>
                <a:cs typeface="Arial"/>
              </a:rPr>
              <a:t>/  </a:t>
            </a:r>
            <a:r>
              <a:rPr sz="1575" b="0">
                <a:solidFill>
                  <a:srgbClr val="D4E3E8"/>
                </a:solidFill>
                <a:latin typeface="Arial"/>
                <a:ea typeface="Arial"/>
                <a:cs typeface="Arial"/>
              </a:rPr>
              <a:t>[</a:t>
            </a:r>
            <a:r>
              <a:rPr sz="1575" b="0">
                <a:solidFill>
                  <a:srgbClr val="D4E3E8"/>
                </a:solidFill>
                <a:latin typeface="Arial"/>
                <a:ea typeface="Arial"/>
                <a:cs typeface="Arial"/>
              </a:rPr>
              <a:t>姓名</a:t>
            </a:r>
            <a:r>
              <a:rPr sz="1575" b="0">
                <a:solidFill>
                  <a:srgbClr val="D4E3E8"/>
                </a:solidFill>
                <a:latin typeface="Arial"/>
                <a:ea typeface="Arial"/>
                <a:cs typeface="Arial"/>
              </a:rPr>
              <a:t>]  </a:t>
            </a:r>
            <a:endParaRPr sz="1575" b="0">
              <a:solidFill>
                <a:srgbClr val="D4E3E8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buNone/>
              <a:defRPr sz="1575" b="0">
                <a:solidFill>
                  <a:srgbClr val="D4E3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4E3E8"/>
                </a:solidFill>
                <a:latin typeface="Arial"/>
                <a:ea typeface="Arial"/>
                <a:cs typeface="Arial"/>
              </a:rPr>
              <a:t>  </a:t>
            </a:r>
            <a:endParaRPr sz="1575" b="0">
              <a:solidFill>
                <a:srgbClr val="D4E3E8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buNone/>
              <a:defRPr sz="1575" b="0">
                <a:solidFill>
                  <a:srgbClr val="D4E3E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4E3E8"/>
                </a:solidFill>
                <a:latin typeface="Arial"/>
                <a:ea typeface="Arial"/>
                <a:cs typeface="Arial"/>
              </a:rPr>
              <a:t>[</a:t>
            </a:r>
            <a:r>
              <a:rPr sz="1575" b="0">
                <a:solidFill>
                  <a:srgbClr val="D4E3E8"/>
                </a:solidFill>
                <a:latin typeface="Arial"/>
                <a:ea typeface="Arial"/>
                <a:cs typeface="Arial"/>
              </a:rPr>
              <a:t>研发</a:t>
            </a:r>
            <a:r>
              <a:rPr sz="1575" b="0">
                <a:solidFill>
                  <a:srgbClr val="D4E3E8"/>
                </a:solidFill>
                <a:latin typeface="Arial"/>
                <a:ea typeface="Arial"/>
                <a:cs typeface="Arial"/>
              </a:rPr>
              <a:t>6</a:t>
            </a:r>
            <a:r>
              <a:rPr sz="1575" b="0">
                <a:solidFill>
                  <a:srgbClr val="D4E3E8"/>
                </a:solidFill>
                <a:latin typeface="Arial"/>
                <a:ea typeface="Arial"/>
                <a:cs typeface="Arial"/>
              </a:rPr>
              <a:t>部</a:t>
            </a:r>
            <a:r>
              <a:rPr sz="1575" b="0">
                <a:solidFill>
                  <a:srgbClr val="D4E3E8"/>
                </a:solidFill>
                <a:latin typeface="Arial"/>
                <a:ea typeface="Arial"/>
                <a:cs typeface="Arial"/>
              </a:rPr>
              <a:t>  </a:t>
            </a:r>
            <a:r>
              <a:rPr sz="1575" b="0">
                <a:solidFill>
                  <a:srgbClr val="D4E3E8"/>
                </a:solidFill>
                <a:latin typeface="Arial"/>
                <a:ea typeface="Arial"/>
                <a:cs typeface="Arial"/>
              </a:rPr>
              <a:t>/  [</a:t>
            </a:r>
            <a:r>
              <a:rPr sz="1575" b="0">
                <a:solidFill>
                  <a:srgbClr val="D4E3E8"/>
                </a:solidFill>
                <a:latin typeface="Arial"/>
                <a:ea typeface="Arial"/>
                <a:cs typeface="Arial"/>
              </a:rPr>
              <a:t>日期</a:t>
            </a:r>
            <a:r>
              <a:rPr sz="1575" b="0">
                <a:solidFill>
                  <a:srgbClr val="D4E3E8"/>
                </a:solidFill>
                <a:latin typeface="Arial"/>
                <a:ea typeface="Arial"/>
                <a:cs typeface="Arial"/>
              </a:rPr>
              <a:t>]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E6A8C5C-5A84-4CD0-9ED7-1DBCFE7B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57875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A9C1CA"/>
                </a:solidFill>
                <a:latin typeface="Arial"/>
                <a:ea typeface="Arial"/>
                <a:cs typeface="Arial"/>
              </a:defRPr>
            </a:pPr>
            <a:endParaRPr sz="1275" b="0">
              <a:solidFill>
                <a:srgbClr val="A9C1CA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058364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72721359-C819-4761-9058-A66B63AF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01  工作总览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1600D3A-7EE0-4A81-9D39-F1308578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试用期工作内容与考核表对应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9B38284-A8FD-41C8-81B8-FD257E87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答辩主线围绕“理解工作、完成任务、形成交付、持续改进”。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E6031EA-5BF8-4E98-A853-B35C6473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70C07CF-16FC-4D04-98E4-DEC31AF03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292F402-FA80-4760-83EB-E760DF00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621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1610726-FADC-4B19-A176-FFCE22FB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9621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产品与系统理解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152D9CB-658B-4C3A-B921-62C78B66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9621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产品构成、主控流程、通信链路和异常路径</a:t>
            </a:r>
          </a:p>
        </p:txBody>
      </p:sp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930E0213-302D-470E-940D-4F35CBEE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104298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22D8B94C-0DC0-4C76-A684-E5E923C9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6479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6C5A0DD-2B76-466B-A7F8-E47AAF4D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6479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代码开发与缺陷修复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B7FE8651-B7F0-488C-BF9E-E2FFCA570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479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按规范开发、定位问题、控制修改影响</a:t>
            </a:r>
            <a:endParaRPr sz="1425" b="0">
              <a:solidFill>
                <a:srgbClr val="4155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A4D4B1D-5D9A-4621-97DD-37C827FA0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104298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9C250F91-519F-4BDC-9F49-4ADBFEB8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3337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E075AFB-5093-465B-8A7E-B5A65063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3337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交接与版本迭代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2C52BBC4-FF6E-4CCB-B994-CE8E6432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3337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接收资料，承担功能维护与迭代，配合验证</a:t>
            </a:r>
            <a:endParaRPr sz="1425" b="0">
              <a:solidFill>
                <a:srgbClr val="4155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E18F09AC-1343-488A-844E-E59AD8CA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04298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C4E47D1-75E6-4BC3-8854-5186C5F2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0195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D0BC4FA-6996-487C-8B88-EC1EBB98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0195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法规标准与软件文档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8879442-E15E-4661-91C4-C347B0A4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0195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理解适用标准，按流程输出可追溯资料</a:t>
            </a:r>
          </a:p>
        </p:txBody>
      </p:sp>
      <p:sp>
        <p:nvSpPr>
          <p:cNvPr id="21" name="直接连接符 20">
            <a:extLst xmlns:a="http://schemas.openxmlformats.org/drawingml/2006/main">
              <a:ext uri="{FF2B5EF4-FFF2-40B4-BE49-F238E27FC236}">
                <a16:creationId xmlns:a16="http://schemas.microsoft.com/office/drawing/2014/main" id="{7D687011-2148-4B70-B53C-77C710DD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104298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92145D0-CE78-40AF-9299-B93E6FA9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7053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10%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AA06F65-D067-4E3A-93D1-D66C8366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7053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专项任务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C5A3BD81-5683-428F-85F8-88A9A4FD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7053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按期处理临时任务，及时反馈风险和进度</a:t>
            </a:r>
            <a:endParaRPr sz="1425" b="0">
              <a:solidFill>
                <a:srgbClr val="4155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直接连接符 24">
            <a:extLst xmlns:a="http://schemas.openxmlformats.org/drawingml/2006/main">
              <a:ext uri="{FF2B5EF4-FFF2-40B4-BE49-F238E27FC236}">
                <a16:creationId xmlns:a16="http://schemas.microsoft.com/office/drawing/2014/main" id="{9A9307F7-3659-4BEA-AFD0-EB16EE87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104298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B4B0E1C8-A842-41D0-9444-ECB37502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581650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职业素养（20%）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0F80C088-61A7-49D8-99C3-EC9AA2A9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581650"/>
            <a:ext cx="809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工作态度　责任心　执行力　沟通协调　团队协作</a:t>
            </a:r>
          </a:p>
        </p:txBody>
      </p:sp>
    </p:spTree>
    <p:extLst>
      <p:ext uri="{BB962C8B-B14F-4D97-AF65-F5344CB8AC3E}">
        <p14:creationId xmlns:p14="http://schemas.microsoft.com/office/powerpoint/2010/main" val="20821416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71070D39-8119-4B65-ACF4-ED7E01FB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02  工作回顾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4099E72-5A2B-4789-8D9D-A8C49663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试用期工作主线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842D730-507A-414B-AFC0-7067169C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项目任务以外，重点呈现个人负责范围、交付证据和协作过程。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E0389D2-1AAA-413D-A6B3-655816CD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0365ABE-E344-402A-9A58-F038C640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5DFB6A9-CCC3-4AF9-8A70-D207B3B9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工作内容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4E5D8F6-3DAE-439F-BE66-FF9646B8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859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本人承担与交付</a:t>
            </a:r>
            <a:endParaRPr sz="1350" b="1">
              <a:solidFill>
                <a:srgbClr val="087F8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94DF952-3F7F-4BA5-A1E1-9C505496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764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证明材料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0E1BB2F4-5211-44AD-B2D9-9E3CCA64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384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熟悉产品与代码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2EBA146-7A90-4C61-A0E8-7625C11A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38424"/>
            <a:ext cx="3697356" cy="4381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</a:t>
            </a: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负责</a:t>
            </a: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YS-III</a:t>
            </a: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和</a:t>
            </a: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YS-II</a:t>
            </a: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的代码重构和协议重构</a:t>
            </a: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]</a:t>
            </a:r>
            <a:endParaRPr sz="1425" b="0">
              <a:solidFill>
                <a:srgbClr val="4155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4E0788B3-EB76-4837-9EDE-0C99C0AE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3842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[</a:t>
            </a:r>
            <a:r>
              <a:rPr sz="135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YS-III</a:t>
            </a:r>
            <a:r>
              <a:rPr sz="135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和</a:t>
            </a:r>
            <a:r>
              <a:rPr sz="135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YS-II</a:t>
            </a:r>
            <a:r>
              <a:rPr sz="135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可以适配</a:t>
            </a:r>
            <a:r>
              <a:rPr sz="135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PC</a:t>
            </a:r>
            <a:r>
              <a:rPr sz="135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软件的最终版代码</a:t>
            </a:r>
            <a:r>
              <a:rPr sz="135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]</a:t>
            </a:r>
            <a:endParaRPr sz="1350" b="0">
              <a:solidFill>
                <a:srgbClr val="63798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543B51C1-43F9-4CBE-86C5-749C9BDDB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812D8E6-F006-4189-A19D-352F05AC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147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开发与问题闭环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041B87F6-F2E1-4F2E-8939-0991D7CC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43276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</a:t>
            </a: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胶囊产品</a:t>
            </a: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]</a:t>
            </a:r>
            <a:endParaRPr sz="1425" b="0">
              <a:solidFill>
                <a:srgbClr val="41556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56D239A-E9A2-445E-8450-B042F4BE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1470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[提交 / 缺陷单 / 评审]</a:t>
            </a:r>
          </a:p>
        </p:txBody>
      </p:sp>
      <p:sp>
        <p:nvSpPr>
          <p:cNvPr id="16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B010E17C-16B3-463C-93D5-17AC448B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00475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ED4ACBB-7ABD-4186-A8B8-5F8B9DEE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909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验证与跨团队配合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8828A18-4EB4-4E0D-9E73-9749411C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000501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[联调、验证支持、问题同步]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CB8CA82-E6F7-4F1F-AD71-5D417F35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90975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[测试记录 / 协作案例]</a:t>
            </a:r>
          </a:p>
        </p:txBody>
      </p:sp>
      <p:sp>
        <p:nvSpPr>
          <p:cNvPr id="20" name="直接连接符 19">
            <a:extLst xmlns:a="http://schemas.openxmlformats.org/drawingml/2006/main">
              <a:ext uri="{FF2B5EF4-FFF2-40B4-BE49-F238E27FC236}">
                <a16:creationId xmlns:a16="http://schemas.microsoft.com/office/drawing/2014/main" id="{CDD91269-12FB-47E4-BFB3-4C932187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1DA16CB0-1ADC-4DB7-A2D0-E92EDFEAB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专项任务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4E084E5-33AD-4482-B1C7-6728E00E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653999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</a:t>
            </a: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任务名称、时限、结果</a:t>
            </a: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]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97C4057A-E7D1-40BF-9A0F-AD98C8A6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67250"/>
            <a:ext cx="3238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[任务记录 / 汇报记录]</a:t>
            </a:r>
          </a:p>
        </p:txBody>
      </p:sp>
      <p:sp>
        <p:nvSpPr>
          <p:cNvPr id="24" name="直接连接符 23">
            <a:extLst xmlns:a="http://schemas.openxmlformats.org/drawingml/2006/main">
              <a:ext uri="{FF2B5EF4-FFF2-40B4-BE49-F238E27FC236}">
                <a16:creationId xmlns:a16="http://schemas.microsoft.com/office/drawing/2014/main" id="{EEF0EC96-1960-4E68-830E-FB2C7F46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53025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0F70D617-12AD-4A6C-A170-3100C557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57850"/>
            <a:ext cx="10382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答辩建议：每件事按“背景 → 本人动作 → 验证证据 → 结果/复盘”讲清楚。</a:t>
            </a:r>
          </a:p>
        </p:txBody>
      </p:sp>
    </p:spTree>
    <p:extLst>
      <p:ext uri="{BB962C8B-B14F-4D97-AF65-F5344CB8AC3E}">
        <p14:creationId xmlns:p14="http://schemas.microsoft.com/office/powerpoint/2010/main" val="7846354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39F313A9-C0B7-47D9-B3E4-FE839A62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03  项目理解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B5F87AC-0E46-4F9A-A2D9-0E2B762F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产品系统与图像数据链路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143BB62-2B3C-4E8A-A8DC-80CDFC8E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胶囊端采图与编码，接收端选天线和转发，STM32 校验后送 PC 与 SD。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008AABE7-8B24-41F8-8E77-F7A93151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D94B92C-6B6A-4582-B8DE-17B3C3D6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47" name="图片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e5d6b178544d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6549" y="1909100"/>
            <a:ext cx="10181501" cy="40726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3463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BFF64C28-BB0A-41E2-963D-BA4ECD24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04  采集与编码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457A1E7-341B-4FA8-BCBC-A99D6352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图像怎样变成可发送的 JPEG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61645A1-6F1A-47EC-8D24-B94074C5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4937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关键边界：OV7676 输出原始像素；CX93510 </a:t>
            </a:r>
            <a:r>
              <a:rPr sz="1425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负责</a:t>
            </a:r>
            <a:r>
              <a:rPr sz="1425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配置</a:t>
            </a:r>
            <a:r>
              <a:rPr sz="1425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ov7676</a:t>
            </a:r>
            <a:r>
              <a:rPr sz="1425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，图像</a:t>
            </a:r>
            <a:r>
              <a:rPr sz="1425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采集</a:t>
            </a:r>
            <a:r>
              <a:rPr sz="1425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、压缩和缓存；nRF</a:t>
            </a:r>
            <a:r>
              <a:rPr sz="1425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 </a:t>
            </a:r>
            <a:r>
              <a:rPr sz="1425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负责读取与传输</a:t>
            </a:r>
            <a:r>
              <a:rPr sz="1425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。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9E6419D-3016-4537-8030-238536B4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5C355E6-1C8F-4F91-8D5E-E9144C9E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33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99b62a50cc4d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1377" y="1781175"/>
            <a:ext cx="11736896" cy="436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7271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D87ACF0A-2B46-43DA-B7F3-9D52781C0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05  通信链路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0F11D21-6F61-4C22-82F1-200E72169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无线传输、接收与 PC 转发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6EB7468-4C0E-453C-9ACC-A7EC2A30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209540D-4B3D-4D1B-9F32-455A80FD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35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4e7e54323a44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248" y="1200150"/>
            <a:ext cx="10688052" cy="50768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37619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58A43211-5DBC-42AD-B68D-318A861F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</a:t>
            </a: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6</a:t>
            </a: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  </a:t>
            </a: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天线选路</a:t>
            </a:r>
            <a:endParaRPr sz="1125" b="1">
              <a:solidFill>
                <a:srgbClr val="087F8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201B91D5-0155-4BFF-80C9-A30FA8ED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RX </a:t>
            </a: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天线扫描：旧版与新版</a:t>
            </a:r>
            <a:endParaRPr sz="2925" b="1">
              <a:solidFill>
                <a:srgbClr val="132F4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A8AA58FA-C46F-4580-9659-91F234AD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旧版独立扫描并锁定一路；新版与 TX 协商快速 SN 广播，保留三路候选。</a:t>
            </a:r>
          </a:p>
        </p:txBody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96ED7EF1-E275-439E-8933-08656D36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79" name="矩形 78">
            <a:extLst xmlns:a="http://schemas.openxmlformats.org/drawingml/2006/main">
              <a:ext uri="{FF2B5EF4-FFF2-40B4-BE49-F238E27FC236}">
                <a16:creationId xmlns:a16="http://schemas.microsoft.com/office/drawing/2014/main" id="{3A3F377F-E391-4CCC-AAB3-7802E3DF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D0B73860-4349-4F58-BBF2-A234798E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TYGD31 旧版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EC9AD0CF-8470-4F1F-8B43-F3A0CBFD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952625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当前工程</a:t>
            </a:r>
          </a:p>
        </p:txBody>
      </p:sp>
      <p:sp>
        <p:nvSpPr>
          <p:cNvPr id="82" name="圆角矩形 81">
            <a:extLst xmlns:a="http://schemas.openxmlformats.org/drawingml/2006/main">
              <a:ext uri="{FF2B5EF4-FFF2-40B4-BE49-F238E27FC236}">
                <a16:creationId xmlns:a16="http://schemas.microsoft.com/office/drawing/2014/main" id="{FCE83F1F-B9D2-4C2B-97EE-F2172821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52675"/>
            <a:ext cx="48101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83" name="矩形 82">
            <a:extLst xmlns:a="http://schemas.openxmlformats.org/drawingml/2006/main">
              <a:ext uri="{FF2B5EF4-FFF2-40B4-BE49-F238E27FC236}">
                <a16:creationId xmlns:a16="http://schemas.microsoft.com/office/drawing/2014/main" id="{9F093301-83DC-4986-B514-FFF0EC62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4505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逐路扫描</a:t>
            </a:r>
          </a:p>
        </p:txBody>
      </p:sp>
      <p:sp>
        <p:nvSpPr>
          <p:cNvPr id="84" name="矩形 83">
            <a:extLst xmlns:a="http://schemas.openxmlformats.org/drawingml/2006/main">
              <a:ext uri="{FF2B5EF4-FFF2-40B4-BE49-F238E27FC236}">
                <a16:creationId xmlns:a16="http://schemas.microsoft.com/office/drawing/2014/main" id="{9162188F-356B-4A8D-84B5-8B7AFDFF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4505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12 路天线每 3 ms 切换一次</a:t>
            </a:r>
          </a:p>
        </p:txBody>
      </p:sp>
      <p:sp>
        <p:nvSpPr>
          <p:cNvPr id="85" name="矩形 84">
            <a:extLst xmlns:a="http://schemas.openxmlformats.org/drawingml/2006/main">
              <a:ext uri="{FF2B5EF4-FFF2-40B4-BE49-F238E27FC236}">
                <a16:creationId xmlns:a16="http://schemas.microsoft.com/office/drawing/2014/main" id="{BA3171E8-BDE5-40F1-BD7B-69E2046F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0765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▼</a:t>
            </a:r>
          </a:p>
        </p:txBody>
      </p:sp>
      <p:sp>
        <p:nvSpPr>
          <p:cNvPr id="86" name="圆角矩形 85">
            <a:extLst xmlns:a="http://schemas.openxmlformats.org/drawingml/2006/main">
              <a:ext uri="{FF2B5EF4-FFF2-40B4-BE49-F238E27FC236}">
                <a16:creationId xmlns:a16="http://schemas.microsoft.com/office/drawing/2014/main" id="{726F61D7-2673-408B-AA81-B9D2ED1D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48101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87" name="矩形 86">
            <a:extLst xmlns:a="http://schemas.openxmlformats.org/drawingml/2006/main">
              <a:ext uri="{FF2B5EF4-FFF2-40B4-BE49-F238E27FC236}">
                <a16:creationId xmlns:a16="http://schemas.microsoft.com/office/drawing/2014/main" id="{403F71AF-83A0-4505-B730-C3AA9CE5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05175"/>
            <a:ext cx="4505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收集 RSSI</a:t>
            </a:r>
          </a:p>
        </p:txBody>
      </p:sp>
      <p:sp>
        <p:nvSpPr>
          <p:cNvPr id="88" name="矩形 87">
            <a:extLst xmlns:a="http://schemas.openxmlformats.org/drawingml/2006/main">
              <a:ext uri="{FF2B5EF4-FFF2-40B4-BE49-F238E27FC236}">
                <a16:creationId xmlns:a16="http://schemas.microsoft.com/office/drawing/2014/main" id="{8384C9B7-7306-4B32-A42E-D25D50C6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29025"/>
            <a:ext cx="4505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全局累计 36 个正值，各路样本数不固定</a:t>
            </a:r>
          </a:p>
        </p:txBody>
      </p:sp>
      <p:sp>
        <p:nvSpPr>
          <p:cNvPr id="89" name="矩形 88">
            <a:extLst xmlns:a="http://schemas.openxmlformats.org/drawingml/2006/main">
              <a:ext uri="{FF2B5EF4-FFF2-40B4-BE49-F238E27FC236}">
                <a16:creationId xmlns:a16="http://schemas.microsoft.com/office/drawing/2014/main" id="{2F8B3C64-59C5-4D7B-8579-B465A0C14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94335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▼</a:t>
            </a:r>
          </a:p>
        </p:txBody>
      </p:sp>
      <p:sp>
        <p:nvSpPr>
          <p:cNvPr id="90" name="圆角矩形 89">
            <a:extLst xmlns:a="http://schemas.openxmlformats.org/drawingml/2006/main">
              <a:ext uri="{FF2B5EF4-FFF2-40B4-BE49-F238E27FC236}">
                <a16:creationId xmlns:a16="http://schemas.microsoft.com/office/drawing/2014/main" id="{532A6198-927C-47A8-98EB-7DC5668A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86225"/>
            <a:ext cx="48101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91" name="矩形 90">
            <a:extLst xmlns:a="http://schemas.openxmlformats.org/drawingml/2006/main">
              <a:ext uri="{FF2B5EF4-FFF2-40B4-BE49-F238E27FC236}">
                <a16:creationId xmlns:a16="http://schemas.microsoft.com/office/drawing/2014/main" id="{52237EF5-C8E4-4F79-BCB9-FF060D39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4505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只选一路</a:t>
            </a:r>
          </a:p>
        </p:txBody>
      </p:sp>
      <p:sp>
        <p:nvSpPr>
          <p:cNvPr id="92" name="矩形 91">
            <a:extLst xmlns:a="http://schemas.openxmlformats.org/drawingml/2006/main">
              <a:ext uri="{FF2B5EF4-FFF2-40B4-BE49-F238E27FC236}">
                <a16:creationId xmlns:a16="http://schemas.microsoft.com/office/drawing/2014/main" id="{CA963EA7-9E06-461B-9FBB-8ACDA4B0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95800"/>
            <a:ext cx="4505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每路保留最强一次，选幅值最小者</a:t>
            </a:r>
          </a:p>
        </p:txBody>
      </p:sp>
      <p:sp>
        <p:nvSpPr>
          <p:cNvPr id="93" name="矩形 92">
            <a:extLst xmlns:a="http://schemas.openxmlformats.org/drawingml/2006/main">
              <a:ext uri="{FF2B5EF4-FFF2-40B4-BE49-F238E27FC236}">
                <a16:creationId xmlns:a16="http://schemas.microsoft.com/office/drawing/2014/main" id="{93059F0F-8370-4810-BD5A-AC1E6E63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8101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▼</a:t>
            </a:r>
          </a:p>
        </p:txBody>
      </p:sp>
      <p:sp>
        <p:nvSpPr>
          <p:cNvPr id="94" name="圆角矩形 93">
            <a:extLst xmlns:a="http://schemas.openxmlformats.org/drawingml/2006/main">
              <a:ext uri="{FF2B5EF4-FFF2-40B4-BE49-F238E27FC236}">
                <a16:creationId xmlns:a16="http://schemas.microsoft.com/office/drawing/2014/main" id="{94E0D19D-D5B2-452A-99B1-D9E89AE6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48101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95" name="矩形 94">
            <a:extLst xmlns:a="http://schemas.openxmlformats.org/drawingml/2006/main">
              <a:ext uri="{FF2B5EF4-FFF2-40B4-BE49-F238E27FC236}">
                <a16:creationId xmlns:a16="http://schemas.microsoft.com/office/drawing/2014/main" id="{9A6D94B0-927A-4D82-9247-1CBBBED1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38725"/>
            <a:ext cx="45053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锁定并监测</a:t>
            </a:r>
          </a:p>
        </p:txBody>
      </p:sp>
      <p:sp>
        <p:nvSpPr>
          <p:cNvPr id="96" name="矩形 95">
            <a:extLst xmlns:a="http://schemas.openxmlformats.org/drawingml/2006/main">
              <a:ext uri="{FF2B5EF4-FFF2-40B4-BE49-F238E27FC236}">
                <a16:creationId xmlns:a16="http://schemas.microsoft.com/office/drawing/2014/main" id="{871027BB-CC87-4D16-86AC-C162568B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62575"/>
            <a:ext cx="4505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1200 ms 无完整图片则重新扫描</a:t>
            </a:r>
          </a:p>
        </p:txBody>
      </p:sp>
      <p:sp>
        <p:nvSpPr>
          <p:cNvPr id="97" name="圆角矩形 96">
            <a:extLst xmlns:a="http://schemas.openxmlformats.org/drawingml/2006/main">
              <a:ext uri="{FF2B5EF4-FFF2-40B4-BE49-F238E27FC236}">
                <a16:creationId xmlns:a16="http://schemas.microsoft.com/office/drawing/2014/main" id="{E602840C-2743-427B-BE56-C3A6E14C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52675"/>
            <a:ext cx="5029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98" name="矩形 97">
            <a:extLst xmlns:a="http://schemas.openxmlformats.org/drawingml/2006/main">
              <a:ext uri="{FF2B5EF4-FFF2-40B4-BE49-F238E27FC236}">
                <a16:creationId xmlns:a16="http://schemas.microsoft.com/office/drawing/2014/main" id="{54588CD9-6704-449A-927D-CCFC8C62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38400"/>
            <a:ext cx="4724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寻找目标 END</a:t>
            </a:r>
          </a:p>
        </p:txBody>
      </p:sp>
      <p:sp>
        <p:nvSpPr>
          <p:cNvPr id="99" name="矩形 98">
            <a:extLst xmlns:a="http://schemas.openxmlformats.org/drawingml/2006/main">
              <a:ext uri="{FF2B5EF4-FFF2-40B4-BE49-F238E27FC236}">
                <a16:creationId xmlns:a16="http://schemas.microsoft.com/office/drawing/2014/main" id="{C779FDAB-11D1-42A4-A3F5-E6BBB5633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6225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绑定后每路 8 ms；RX 发 0x12 请求</a:t>
            </a: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4940572E-5A16-4BCB-A627-58C3DEDB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7657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▼</a:t>
            </a:r>
          </a:p>
        </p:txBody>
      </p:sp>
      <p:sp>
        <p:nvSpPr>
          <p:cNvPr id="101" name="圆角矩形 100">
            <a:extLst xmlns:a="http://schemas.openxmlformats.org/drawingml/2006/main">
              <a:ext uri="{FF2B5EF4-FFF2-40B4-BE49-F238E27FC236}">
                <a16:creationId xmlns:a16="http://schemas.microsoft.com/office/drawing/2014/main" id="{2EE902F7-C0EF-47F4-A86A-5534904C7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5029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02" name="矩形 101">
            <a:extLst xmlns:a="http://schemas.openxmlformats.org/drawingml/2006/main">
              <a:ext uri="{FF2B5EF4-FFF2-40B4-BE49-F238E27FC236}">
                <a16:creationId xmlns:a16="http://schemas.microsoft.com/office/drawing/2014/main" id="{50DE7277-23D0-43D6-85B5-CD524250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05175"/>
            <a:ext cx="4724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TX 配合快速广播</a:t>
            </a:r>
          </a:p>
        </p:txBody>
      </p:sp>
      <p:sp>
        <p:nvSpPr>
          <p:cNvPr id="103" name="矩形 102">
            <a:extLst xmlns:a="http://schemas.openxmlformats.org/drawingml/2006/main">
              <a:ext uri="{FF2B5EF4-FFF2-40B4-BE49-F238E27FC236}">
                <a16:creationId xmlns:a16="http://schemas.microsoft.com/office/drawing/2014/main" id="{43F458FD-173C-4E4B-AD3B-040C26F4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29025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暂停图片，回 0x11；每 8 ms 播 SN，最长 1800 ms</a:t>
            </a:r>
          </a:p>
        </p:txBody>
      </p:sp>
      <p:sp>
        <p:nvSpPr>
          <p:cNvPr id="104" name="矩形 103">
            <a:extLst xmlns:a="http://schemas.openxmlformats.org/drawingml/2006/main">
              <a:ext uri="{FF2B5EF4-FFF2-40B4-BE49-F238E27FC236}">
                <a16:creationId xmlns:a16="http://schemas.microsoft.com/office/drawing/2014/main" id="{5BB007B8-D6ED-40BE-805C-D9DD19D0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43350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▼</a:t>
            </a:r>
          </a:p>
        </p:txBody>
      </p:sp>
      <p:sp>
        <p:nvSpPr>
          <p:cNvPr id="105" name="圆角矩形 104">
            <a:extLst xmlns:a="http://schemas.openxmlformats.org/drawingml/2006/main">
              <a:ext uri="{FF2B5EF4-FFF2-40B4-BE49-F238E27FC236}">
                <a16:creationId xmlns:a16="http://schemas.microsoft.com/office/drawing/2014/main" id="{7E04B48C-78E0-4683-96FD-ACD98ECD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86225"/>
            <a:ext cx="5029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06" name="矩形 105">
            <a:extLst xmlns:a="http://schemas.openxmlformats.org/drawingml/2006/main">
              <a:ext uri="{FF2B5EF4-FFF2-40B4-BE49-F238E27FC236}">
                <a16:creationId xmlns:a16="http://schemas.microsoft.com/office/drawing/2014/main" id="{69AFCDAE-B583-4848-9666-7CC42BEB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71950"/>
            <a:ext cx="4724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正式扫描 12 路</a:t>
            </a:r>
          </a:p>
        </p:txBody>
      </p:sp>
      <p:sp>
        <p:nvSpPr>
          <p:cNvPr id="107" name="矩形 106">
            <a:extLst xmlns:a="http://schemas.openxmlformats.org/drawingml/2006/main">
              <a:ext uri="{FF2B5EF4-FFF2-40B4-BE49-F238E27FC236}">
                <a16:creationId xmlns:a16="http://schemas.microsoft.com/office/drawing/2014/main" id="{994FC18F-C880-40D8-9880-E35C11CE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95800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每路 32 ms × 4 轮；只计 CRC / SN 均有效的 0x05</a:t>
            </a:r>
          </a:p>
        </p:txBody>
      </p:sp>
      <p:sp>
        <p:nvSpPr>
          <p:cNvPr id="108" name="矩形 107">
            <a:extLst xmlns:a="http://schemas.openxmlformats.org/drawingml/2006/main">
              <a:ext uri="{FF2B5EF4-FFF2-40B4-BE49-F238E27FC236}">
                <a16:creationId xmlns:a16="http://schemas.microsoft.com/office/drawing/2014/main" id="{DDFFF704-C053-447A-BA1C-D61421148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810125"/>
            <a:ext cx="28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▼</a:t>
            </a:r>
          </a:p>
        </p:txBody>
      </p:sp>
      <p:sp>
        <p:nvSpPr>
          <p:cNvPr id="109" name="圆角矩形 108">
            <a:extLst xmlns:a="http://schemas.openxmlformats.org/drawingml/2006/main">
              <a:ext uri="{FF2B5EF4-FFF2-40B4-BE49-F238E27FC236}">
                <a16:creationId xmlns:a16="http://schemas.microsoft.com/office/drawing/2014/main" id="{CDE6CFD5-D3A8-43BE-887C-98F51D0B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53000"/>
            <a:ext cx="5029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DECEF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10" name="矩形 109">
            <a:extLst xmlns:a="http://schemas.openxmlformats.org/drawingml/2006/main">
              <a:ext uri="{FF2B5EF4-FFF2-40B4-BE49-F238E27FC236}">
                <a16:creationId xmlns:a16="http://schemas.microsoft.com/office/drawing/2014/main" id="{F35F2B57-5AAE-48CC-804E-C11B7D1A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38725"/>
            <a:ext cx="4724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排序并锁定</a:t>
            </a:r>
          </a:p>
        </p:txBody>
      </p:sp>
      <p:sp>
        <p:nvSpPr>
          <p:cNvPr id="111" name="矩形 110">
            <a:extLst xmlns:a="http://schemas.openxmlformats.org/drawingml/2006/main">
              <a:ext uri="{FF2B5EF4-FFF2-40B4-BE49-F238E27FC236}">
                <a16:creationId xmlns:a16="http://schemas.microsoft.com/office/drawing/2014/main" id="{06877AFE-EA15-406E-9917-F68BC99A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362575"/>
            <a:ext cx="4724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均值、≥2 样本优先；前三候选依次切换</a:t>
            </a:r>
          </a:p>
        </p:txBody>
      </p:sp>
      <p:sp>
        <p:nvSpPr>
          <p:cNvPr id="112" name="矩形 111">
            <a:extLst xmlns:a="http://schemas.openxmlformats.org/drawingml/2006/main">
              <a:ext uri="{FF2B5EF4-FFF2-40B4-BE49-F238E27FC236}">
                <a16:creationId xmlns:a16="http://schemas.microsoft.com/office/drawing/2014/main" id="{9C550741-E2E2-4DF4-BAF8-DD89BA07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旧版失联：直接回到扫描</a:t>
            </a:r>
          </a:p>
        </p:txBody>
      </p:sp>
      <p:sp>
        <p:nvSpPr>
          <p:cNvPr id="113" name="矩形 112">
            <a:extLst xmlns:a="http://schemas.openxmlformats.org/drawingml/2006/main">
              <a:ext uri="{FF2B5EF4-FFF2-40B4-BE49-F238E27FC236}">
                <a16:creationId xmlns:a16="http://schemas.microsoft.com/office/drawing/2014/main" id="{9998A172-8AAA-483A-BC7F-FD046291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9055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新版失联：先换候选；全部失败再寻 END</a:t>
            </a:r>
          </a:p>
        </p:txBody>
      </p:sp>
    </p:spTree>
    <p:extLst>
      <p:ext uri="{BB962C8B-B14F-4D97-AF65-F5344CB8AC3E}">
        <p14:creationId xmlns:p14="http://schemas.microsoft.com/office/powerpoint/2010/main" val="33158727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7557D337-5F09-4F02-BF0E-6674B7D4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</a:t>
            </a: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7</a:t>
            </a: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  </a:t>
            </a: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工程重构</a:t>
            </a:r>
            <a:endParaRPr sz="1125" b="1">
              <a:solidFill>
                <a:srgbClr val="087F8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85E6002B-15FF-45FE-BBC1-5B0155E6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TX / RX 新旧工程整体对比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3D0C2AFF-712C-470E-84ED-F9B1BFB1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围绕取图、唤醒、等待、空闲和选路，比较代码中的实际实现。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3CC703F0-5B95-4CCD-A694-CBD4891D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DCB34014-A3DA-4C08-A9AB-DBD5C961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ED411FCE-8BED-4DD6-BF77-3A9F8F89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52625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对比点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9A690AB8-F6D7-423D-B98A-B7024BFA3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952625"/>
            <a:ext cx="3476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TYGD31 旧工程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C5E3FA8-1513-475A-BA2A-76AF6CB5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52625"/>
            <a:ext cx="468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当前工程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A1D3BF55-552E-4C62-99AC-D2F4AEFF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43150"/>
            <a:ext cx="166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图片数据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7366BE52-ACB6-46BB-AC15-B1810FB9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34315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整张 JPEG 先复制到 nRF RAM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2C45B112-922A-46D7-93FB-E3FA91CD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362200"/>
            <a:ext cx="30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302377F6-F467-4841-AD2B-69BD2340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431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发送 DATA 时按片读 CX93510 帧 RAM</a:t>
            </a:r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CF6165C4-EC15-4D9D-A26F-8A0D3AB3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76550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A3F9BE7B-514A-4204-87BC-99398D04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009900"/>
            <a:ext cx="166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周期唤醒</a:t>
            </a:r>
          </a:p>
        </p:txBody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24FD08AB-25A0-4C21-8BAA-A8766869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0990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TIMER2 固定周期唤醒；主循环 WFI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905D0A8E-F403-42C7-9529-CA442DC3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028950"/>
            <a:ext cx="30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5712467D-43F8-46E0-A43E-77EAD0F3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099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RTC2 产生 500 ms 请求；空闲时 WFE</a:t>
            </a:r>
          </a:p>
        </p:txBody>
      </p:sp>
      <p:sp>
        <p:nvSpPr>
          <p:cNvPr id="44" name="直接连接符 43">
            <a:extLst xmlns:a="http://schemas.openxmlformats.org/drawingml/2006/main">
              <a:ext uri="{FF2B5EF4-FFF2-40B4-BE49-F238E27FC236}">
                <a16:creationId xmlns:a16="http://schemas.microsoft.com/office/drawing/2014/main" id="{1C7258FA-5000-4953-8C29-B1789C62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543300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6F0E392F-7F08-4195-A940-512113E2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76650"/>
            <a:ext cx="166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业务等待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AD222CA7-044F-45B9-AA1F-96C81A2A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67665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拍摄预热和取图轮询使用 delay_ms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619D9476-A8DE-4451-8E92-D7CBABE4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695700"/>
            <a:ext cx="30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C4BA87D1-38CD-4E31-8AA2-AFBC5868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766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TIMER1 的 1 ms 时基推进预热、分片与 ACK</a:t>
            </a:r>
          </a:p>
        </p:txBody>
      </p:sp>
      <p:sp>
        <p:nvSpPr>
          <p:cNvPr id="49" name="直接连接符 48">
            <a:extLst xmlns:a="http://schemas.openxmlformats.org/drawingml/2006/main">
              <a:ext uri="{FF2B5EF4-FFF2-40B4-BE49-F238E27FC236}">
                <a16:creationId xmlns:a16="http://schemas.microsoft.com/office/drawing/2014/main" id="{9C3A01A1-1104-4E0B-873F-2C2DF09B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210050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BA1F7654-298B-474A-A086-4612FEDB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43400"/>
            <a:ext cx="166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SPI 与帧 RAM</a:t>
            </a:r>
          </a:p>
        </p:txBody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1B84C0DA-4A9A-4ACF-B600-3F2449C7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4340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SPI0 常开；整图搬走后关闭 PDRAM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739A4075-E1B8-454C-9630-D6C891A7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362450"/>
            <a:ext cx="30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CDFD4F97-FF2B-4F2E-B7FD-293850EE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434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帧 RAM 保持供分片读取；事务结束关 SPIM0</a:t>
            </a:r>
          </a:p>
        </p:txBody>
      </p:sp>
      <p:sp>
        <p:nvSpPr>
          <p:cNvPr id="54" name="直接连接符 53">
            <a:extLst xmlns:a="http://schemas.openxmlformats.org/drawingml/2006/main">
              <a:ext uri="{FF2B5EF4-FFF2-40B4-BE49-F238E27FC236}">
                <a16:creationId xmlns:a16="http://schemas.microsoft.com/office/drawing/2014/main" id="{5158DBC9-F16B-4B13-A9B1-3053DF69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876800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0B1697AD-0C46-4CF9-9240-296B429D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10150"/>
            <a:ext cx="1666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天线选路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414DCE8F-3315-466D-8D14-3F717C9C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01015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单次最强 RSSI，锁定一路</a:t>
            </a:r>
          </a:p>
        </p:txBody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CA37B9F2-F6B0-444B-97B1-D4C077FD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029200"/>
            <a:ext cx="3048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A7B9FABB-897C-4D2D-BEA8-4AA44A48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0101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目标 SN + CRC 过滤，均值排序，前三候选</a:t>
            </a:r>
          </a:p>
        </p:txBody>
      </p:sp>
      <p:sp>
        <p:nvSpPr>
          <p:cNvPr id="59" name="直接连接符 58">
            <a:extLst xmlns:a="http://schemas.openxmlformats.org/drawingml/2006/main">
              <a:ext uri="{FF2B5EF4-FFF2-40B4-BE49-F238E27FC236}">
                <a16:creationId xmlns:a16="http://schemas.microsoft.com/office/drawing/2014/main" id="{F769C5E5-ED94-44B8-858D-DCDE657B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543550"/>
            <a:ext cx="104775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19A810EE-EF52-443F-BE06-C8E99123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876925"/>
            <a:ext cx="1057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B36A2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6A27"/>
                </a:solidFill>
                <a:latin typeface="Arial"/>
                <a:ea typeface="Arial"/>
                <a:cs typeface="Arial"/>
              </a:rPr>
              <a:t>说明：1 ms 时基用于业务调度；芯片初始化及 CX93510 内部轮询仍有短阻塞等待。</a:t>
            </a:r>
          </a:p>
        </p:txBody>
      </p:sp>
    </p:spTree>
    <p:extLst>
      <p:ext uri="{BB962C8B-B14F-4D97-AF65-F5344CB8AC3E}">
        <p14:creationId xmlns:p14="http://schemas.microsoft.com/office/powerpoint/2010/main" val="21393862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314EB9A2-02D6-4A4F-AD0A-37EF28A5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07  开发交付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A6D39ED-6DEC-4507-B9D2-94C4F73C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个人承担工作与问题闭环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7CBB546-226B-4FC3-B762-0166B3A2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用一项具体改动展示：问题怎么发现、怎样修改、如何验证。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791AF6B-F1CB-4F33-A047-8A84E73D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244E897-CA66-424B-B622-FCA9221F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1D3BD96-2E18-4355-84E1-8B77FB6E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47875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案例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BA6730C-73DB-4895-97A8-85C4217A0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478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本人做了什么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5F12FE0-2038-4FCA-9345-85A596EB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4787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如何证明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4227A357-CBAF-41D6-AC5C-46831A03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4787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结果与复盘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73225A7D-0531-4F87-A2C4-D84BD7283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90800"/>
            <a:ext cx="1381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代码重构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C69B54FA-F524-48BC-A3F0-760413A4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590800"/>
            <a:ext cx="309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[模块 / 函数 / 关键改动]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D7895CD-32C9-41E6-8711-F78F94CB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90800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[提交 / 评审 / 静态检查]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1F752978-E022-4A34-8EBE-692403B1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90800"/>
            <a:ext cx="252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[解决的问题 / 遗留边界]</a:t>
            </a:r>
          </a:p>
        </p:txBody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D3C9FFCC-3CEF-4FF8-A4F7-8A2D6DEB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86125"/>
            <a:ext cx="10525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E32910D-4C3D-46FF-AE1A-C154BFB2A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1381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缺陷修复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632F7DFA-2844-4604-A324-DC8D74C8C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86150"/>
            <a:ext cx="309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[现象 / 根因 / 修复策略]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05419D9-D76D-45FD-AD2B-B2BECDBE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486150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[复现步骤 / 回归记录]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8F0F3C59-652E-4A0E-9953-B6DF2044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86150"/>
            <a:ext cx="252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[影响范围 / 回归结果]</a:t>
            </a:r>
          </a:p>
        </p:txBody>
      </p:sp>
      <p:sp>
        <p:nvSpPr>
          <p:cNvPr id="19" name="直接连接符 18">
            <a:extLst xmlns:a="http://schemas.openxmlformats.org/drawingml/2006/main">
              <a:ext uri="{FF2B5EF4-FFF2-40B4-BE49-F238E27FC236}">
                <a16:creationId xmlns:a16="http://schemas.microsoft.com/office/drawing/2014/main" id="{04767BD5-F5C3-466F-805B-5FC7BB46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81475"/>
            <a:ext cx="10525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9ECFDAAF-B39F-464B-B4A9-06873ADC3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1381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版本迭代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5B14FC02-5650-4535-9D5E-E90E915D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381500"/>
            <a:ext cx="30956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[需求来源 / 本人职责]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B07ED8AF-7CA1-4B3B-93A9-A260AB94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81500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[需求追踪 / 版本记录]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06BABAD6-E91E-43DF-9E4E-3AF8D551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81500"/>
            <a:ext cx="252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[交付结果 / 后续事项]</a:t>
            </a:r>
          </a:p>
        </p:txBody>
      </p:sp>
      <p:sp>
        <p:nvSpPr>
          <p:cNvPr id="24" name="直接连接符 23">
            <a:extLst xmlns:a="http://schemas.openxmlformats.org/drawingml/2006/main">
              <a:ext uri="{FF2B5EF4-FFF2-40B4-BE49-F238E27FC236}">
                <a16:creationId xmlns:a16="http://schemas.microsoft.com/office/drawing/2014/main" id="{F94AF884-7096-40D3-AD35-F53DBD59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76825"/>
            <a:ext cx="105251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7C2A4962-F487-4206-823F-242142B8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62600"/>
            <a:ext cx="10382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B36A2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36A27"/>
                </a:solidFill>
                <a:latin typeface="Arial"/>
                <a:ea typeface="Arial"/>
                <a:cs typeface="Arial"/>
              </a:rPr>
              <a:t>需本人填入真实材料：代码提交号、缺陷单、评审结论、验证记录。</a:t>
            </a:r>
          </a:p>
        </p:txBody>
      </p:sp>
    </p:spTree>
    <p:extLst>
      <p:ext uri="{BB962C8B-B14F-4D97-AF65-F5344CB8AC3E}">
        <p14:creationId xmlns:p14="http://schemas.microsoft.com/office/powerpoint/2010/main" val="8704391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E39987-7610-4520-98C1-9E7FD6A02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07  手持控制器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02F0DD-2B2A-4131-B4AF-3CB187DF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手持控制器：一键保存当前照片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66BDB9-01E3-401F-B677-8D280DCD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按键触发 STM8S103F2P6，经 HC-04S 蓝牙模块向 PC 发送保存指令。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04E30-5E64-46F6-B696-D5944AD7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61D55F-8C27-475B-8925-DC694A94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43175"/>
            <a:ext cx="1809750" cy="1362075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F3F9FA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A6BC77-4AC1-475C-A4B9-70592193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800350"/>
            <a:ext cx="1524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按键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DFC5B5-C195-4653-94F2-1439007D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34327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用户按下“保存”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3CB1EC-C317-4C82-881A-D2419B99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0289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21CF16-A9C9-42DD-AF3D-ED5424CA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543175"/>
            <a:ext cx="2476500" cy="1362075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F3F9FA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9AE428-1D69-4FF1-8A81-93EB0481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00350"/>
            <a:ext cx="2190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STM8S103F2P6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A73DC1-FB49-4551-A702-E634BE968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3432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识别按键并发出指令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D687D2-9E3D-4D8E-B00B-272C53EA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289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0854CB-C1C7-49B8-B82C-A445211F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43175"/>
            <a:ext cx="2095500" cy="1362075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F3F9FA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22BB52-9965-47DA-A895-B45E5D0C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800350"/>
            <a:ext cx="1809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HC-04S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672887-4408-47E7-9EB5-EF7C4DEC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34327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蓝牙发送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66179C-D2BE-4938-ADA2-5198A98A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028950"/>
            <a:ext cx="428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6B767E-25A8-4122-BC43-7F19E201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43175"/>
            <a:ext cx="2476500" cy="1362075"/>
          </a:xfrm>
          <a:prstGeom xmlns:a="http://schemas.openxmlformats.org/drawingml/2006/main" prst="roundRect">
            <a:avLst>
              <a:gd name="adj" fmla="val 6993"/>
            </a:avLst>
          </a:prstGeom>
          <a:solidFill xmlns:a="http://schemas.openxmlformats.org/drawingml/2006/main">
            <a:srgbClr val="E4F2F4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0978FE-B2B0-4C16-8291-A5D34964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800350"/>
            <a:ext cx="2190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PC 上位机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AC26E1-4F9C-441B-A0EA-48EB9B29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343275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保存当前显示照片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07887B-8079-42E1-9B7C-FB3790DD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33900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应用命令只有 1 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5435FE-3254-4D47-9042-0BB6BB74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533900"/>
            <a:ext cx="414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保存 PC 当前照片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0628CF-3517-4CE3-A01D-1D1ACF14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57775"/>
            <a:ext cx="1038225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27931B-1283-4082-A998-5918DE7B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276850"/>
            <a:ext cx="1038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命令码 / 报文格式：[待补]    按键消抖、蓝牙断连及 PC 应答验证：[待补]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ECBAB9-BBDF-47CD-940D-43D7FB67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856014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244607-5BCE-4C7E-BF07-7E35FFDE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08  法规合规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5511BE-2FD3-4357-83DB-80F26F7D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适用标准更新与注册依据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4DEE04-4682-4384-AB65-76DDA1C3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按通用安全、EMC、内窥镜专用要求和风险管理逐项做差距分析。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5A5AB1-C8F6-4E1A-8365-9C77591B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54A414-F8C8-4448-85DB-DFD311F4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9716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领域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3684C5-E792-4875-870B-C7C00F2F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9716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旧依据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7C50C9-4366-4F53-A199-7BC143A6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971675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当前依据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3E5360-99CC-42FC-81F5-96704CCE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71675"/>
            <a:ext cx="3276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本次关注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59F273-0952-4EAD-BF00-A1C70FF2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409825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通用安全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B6D0AA-CE22-4F89-B8C5-5A5CBBAC8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40982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GB 9706.1-2007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2B0E90-338C-4E83-8DC4-01389939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40982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GB 9706.1-2020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92328F-A7BC-41DC-B8C3-3D4F53E3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098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基本性能、绝缘与耐压复核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F1012D-6D2C-4FFE-900F-651F84F5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962275"/>
            <a:ext cx="105441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52E7FE-9BA4-464C-B2E5-0992F35F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114675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电磁兼容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997691-5D6D-4B86-B085-C0900B29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11467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YY 0505-2012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76012F-D393-44D8-AE73-1E0E0F6C4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1146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YY 9706.102-2021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57379A-24D2-4A6E-B89B-D3B9D35B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11467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发射与抗扰度影响评价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F4B976-0099-4A22-B17F-63BA45D1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67125"/>
            <a:ext cx="105441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A05927-6776-4059-9166-2DAF7614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19525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内窥镜专用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524546-C3BF-4F18-BF3F-0263F86F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81952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GB 9706.19-2000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2196DA-DF08-48BF-837C-D2C44C6F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1952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GB 9706.218-2021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7B5EC5-0AEC-4790-BD07-E83928310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8195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确认系统及附件适用条款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C9B70E-7AEB-4222-A6C3-F9507963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71975"/>
            <a:ext cx="105441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84E0C4-83AD-40D1-ADE8-9D1762BD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524375"/>
            <a:ext cx="1952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风险管理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0607C8-AB02-4DE7-B6FE-9D00C50F5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524375"/>
            <a:ext cx="257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YY/T 0316-2016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221A0C-2734-4A41-A819-5BC1E6DD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524375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GB/T 42062-2022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2CD970-1F75-4847-B42C-8FF34DBC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52437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按 YY/T 1437-2023 更新记录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4958DD-B251-4D3A-B87A-2FBE037B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76825"/>
            <a:ext cx="105441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F513DF-F05B-4130-B04F-5A2E1377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816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注册判断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0C2798-5F51-4FAA-A32B-F7DBAFAB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5381625"/>
            <a:ext cx="9048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标准更新与实物变更均需差距评价；变更注册范围由注册人结合安全有效性影响确认。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BC691C-93D6-4898-A500-507966C2C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723727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4196E5-A7E5-44B0-B80B-446B15B1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08  法规合规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0D29E6-E8D1-4BFB-81AD-30309FE4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电池与器件变更的评估重点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15A49E-EE61-4037-9DC5-D54DB631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整机型号不变，也要证明变更后的安全、有效和质量可控。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F85043-6A2E-4E4C-ACB8-867D87202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C220A-4A85-43DE-94E2-F98CF3FA9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2343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变更项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D2D38-29C2-45CB-A744-A2A4BF61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962150"/>
            <a:ext cx="3314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需核查的影响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3E586B-33B2-4CEB-9836-12493845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621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37982"/>
                </a:solidFill>
                <a:latin typeface="Arial"/>
                <a:ea typeface="Arial"/>
                <a:cs typeface="Arial"/>
              </a:rPr>
              <a:t>待补证据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4B2EEC-78AD-4C4A-94F4-A61C410E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2343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图像记录仪电池更换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C2DC72-5F43-413B-B32D-16A04613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400300"/>
            <a:ext cx="3314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供电 / 充电、保护、温升、续航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3D994C-5FF6-4D3B-9942-C5862F98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00300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[新旧电池规格对照、验证结果]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34D459-E98F-4276-A9B4-340CBB03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04298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55925F-AF22-4C3C-951E-9DE4493FA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67075"/>
            <a:ext cx="2343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手持控制器电池 A→B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5EB118-1729-438E-86BC-622D99DF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267075"/>
            <a:ext cx="3314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整机型号不变；核查电气与连接兼容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F75270-145A-4D0A-9280-AFC25E37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67075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[A/B 料号、参数、测试记录]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727372-BEF3-4141-A087-FFBF286A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71925"/>
            <a:ext cx="104298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9F704B-445E-4C9C-8842-5B4CB3DE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2343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图像记录仪器件改动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F12C8D-6445-4C0C-B13B-0133982E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133850"/>
            <a:ext cx="3314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电气安全、EMC、图像性能受影响项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F5BE4E-D3BF-4394-85AE-74FDAD20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33850"/>
            <a:ext cx="457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[器件清单、等效分析、回归记录]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369E8E-0308-41CE-A5C4-988BF4C7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38700"/>
            <a:ext cx="104298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041C39-074C-46F5-83D7-6D02CEF4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0175"/>
            <a:ext cx="1428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耐压变化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726FFA-C9B9-4C9D-9AD7-5973F5D5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10175"/>
            <a:ext cx="9001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按新版绝缘路径、试验点和判定复核；旧值→新值、样机实测：[待补]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709209-739E-47A1-95C3-D1F9BD2E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53125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资料闭环：差异表、风险管理更新、针对性验证；注册路径由注册负责人判定。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633A94-CB4C-4578-AA8B-C9CAB87D3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1649566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02B29C51-89F9-4C0C-AF79-0FC8F211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09  质量意识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6B778E6-1D3A-4691-9CBB-134D1E29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流程文件、验证与可追溯交付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4421A14F-C789-4EDF-8E2F-1921D03D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软件实现只是交付的一部分，需求、风险、测试和变更记录也要连起来。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5C81505-2449-4B59-AD42-B8F59993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AF02AF5-63F3-4113-8E01-E7AE4143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圆角矩形 5">
            <a:extLst xmlns:a="http://schemas.openxmlformats.org/drawingml/2006/main">
              <a:ext uri="{FF2B5EF4-FFF2-40B4-BE49-F238E27FC236}">
                <a16:creationId xmlns:a16="http://schemas.microsoft.com/office/drawing/2014/main" id="{29CC197C-235A-48A4-BAF2-B2107518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43175"/>
            <a:ext cx="1790700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FE06A27-E519-4BC8-92BD-833EF985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6670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需求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585252F-595F-4D52-B267-F57A1E1A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48000"/>
            <a:ext cx="1562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来源 / 编号</a:t>
            </a:r>
          </a:p>
          <a:p xmlns:a="http://schemas.openxmlformats.org/drawingml/2006/main">
            <a:pPr>
              <a:buNone/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[待补]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8C9CC111-4E02-45BD-9FE5-808D43BC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543175"/>
            <a:ext cx="1790700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A9E6A70-CD5C-4805-A911-032A1E4D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6670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设计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3BE9BA8-58C0-48F0-897C-FB4E42F7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48000"/>
            <a:ext cx="1562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接口 / 状态</a:t>
            </a:r>
          </a:p>
          <a:p xmlns:a="http://schemas.openxmlformats.org/drawingml/2006/main">
            <a:pPr>
              <a:buNone/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[待补]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C92E46B6-BEAA-4A3C-8B5E-F3498EF60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543175"/>
            <a:ext cx="1790700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DECEF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F93B145-1138-4CE5-B808-E1C49D11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6670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实现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BBB1F59-045F-4098-A254-CB365108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048000"/>
            <a:ext cx="1562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提交 / 评审</a:t>
            </a:r>
          </a:p>
          <a:p xmlns:a="http://schemas.openxmlformats.org/drawingml/2006/main">
            <a:pPr>
              <a:buNone/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[待补]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CF9F5EAE-F93F-4CE7-8FAD-D90507BD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543175"/>
            <a:ext cx="1790700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C7B6600-120F-4B4B-BEC0-32B52710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26670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验证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FC02CA1-C324-4D4E-B195-9208C993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048000"/>
            <a:ext cx="1562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用例 / 结果</a:t>
            </a:r>
          </a:p>
          <a:p xmlns:a="http://schemas.openxmlformats.org/drawingml/2006/main">
            <a:pPr>
              <a:buNone/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[待补]</a:t>
            </a: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EBDA7D52-6DBD-48A5-8B50-6710103B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543175"/>
            <a:ext cx="1790700" cy="105727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6F8F9"/>
          </a:solidFill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19B39B7-01A2-43A0-A5F4-5207B085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667000"/>
            <a:ext cx="1562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发布维护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D3A5EDB0-3937-42B3-90BE-7A61134B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048000"/>
            <a:ext cx="1562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版本 / 变更</a:t>
            </a:r>
          </a:p>
          <a:p xmlns:a="http://schemas.openxmlformats.org/drawingml/2006/main">
            <a:pPr>
              <a:buNone/>
              <a:defRPr sz="1200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[待补]</a:t>
            </a:r>
          </a:p>
        </p:txBody>
      </p:sp>
      <p:cxnSp>
        <p:nvCxnSpPr>
          <p:cNvPr id="74" name="直接箭头连接符 49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505075" y="30718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cxnSp>
        <p:nvCxnSpPr>
          <p:cNvPr id="75" name="直接箭头连接符 50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676775" y="30718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cxnSp>
        <p:nvCxnSpPr>
          <p:cNvPr id="76" name="直接箭头连接符 51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848475" y="30718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cxnSp>
        <p:nvCxnSpPr>
          <p:cNvPr id="77" name="直接箭头连接符 52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020175" y="3071813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C"/>
            </a:solidFill>
            <a:prstDash val="solid"/>
            <a:headEnd type="arrow" w="med" len="med"/>
          </a:ln>
        </p:spPr>
      </p:cxn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EB1D4BD-C673-4E78-A557-F40D62BC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已梳理资料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DBA42D21-D34D-4AF0-A4E7-E75BAE80D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40055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425">
                <a:solidFill>
                  <a:srgbClr val="132F40"/>
                </a:solidFill>
                <a:latin typeface="Arial"/>
                <a:ea typeface="Arial"/>
                <a:cs typeface="Arial"/>
              </a:rPr>
              <a:t>胶囊板和图像记录仪</a:t>
            </a:r>
            <a:r>
              <a:rPr sz="1425" b="0">
                <a:solidFill>
                  <a:srgbClr val="132F40"/>
                </a:solidFill>
                <a:latin typeface="Arial"/>
                <a:ea typeface="Arial"/>
                <a:cs typeface="Arial"/>
              </a:rPr>
              <a:t>软件框架</a:t>
            </a:r>
            <a:r>
              <a:rPr sz="1425">
                <a:solidFill>
                  <a:srgbClr val="132F40"/>
                </a:solidFill>
                <a:latin typeface="Arial"/>
                <a:ea typeface="Arial"/>
                <a:cs typeface="Arial"/>
              </a:rPr>
              <a:t>以及</a:t>
            </a:r>
            <a:r>
              <a:rPr sz="1425">
                <a:solidFill>
                  <a:srgbClr val="132F40"/>
                </a:solidFill>
                <a:latin typeface="Arial"/>
                <a:ea typeface="Arial"/>
                <a:cs typeface="Arial"/>
              </a:rPr>
              <a:t>通信协议</a:t>
            </a:r>
            <a:r>
              <a:rPr sz="1425" b="0">
                <a:solidFill>
                  <a:srgbClr val="132F40"/>
                </a:solidFill>
                <a:latin typeface="Arial"/>
                <a:ea typeface="Arial"/>
                <a:cs typeface="Arial"/>
              </a:rPr>
              <a:t>、</a:t>
            </a:r>
            <a:r>
              <a:rPr sz="1425" b="0">
                <a:solidFill>
                  <a:srgbClr val="132F40"/>
                </a:solidFill>
                <a:latin typeface="Arial"/>
                <a:ea typeface="Arial"/>
                <a:cs typeface="Arial"/>
              </a:rPr>
              <a:t>重构</a:t>
            </a:r>
            <a:r>
              <a:rPr sz="1425">
                <a:solidFill>
                  <a:srgbClr val="132F40"/>
                </a:solidFill>
                <a:latin typeface="Arial"/>
                <a:ea typeface="Arial"/>
                <a:cs typeface="Arial"/>
              </a:rPr>
              <a:t>胶囊</a:t>
            </a:r>
            <a:r>
              <a:rPr sz="1425">
                <a:solidFill>
                  <a:srgbClr val="132F40"/>
                </a:solidFill>
                <a:latin typeface="Arial"/>
                <a:ea typeface="Arial"/>
                <a:cs typeface="Arial"/>
              </a:rPr>
              <a:t>板和图像记录仪板软件框架以及协议</a:t>
            </a:r>
            <a:r>
              <a:rPr sz="1425" b="0">
                <a:solidFill>
                  <a:srgbClr val="132F40"/>
                </a:solidFill>
                <a:latin typeface="Arial"/>
                <a:ea typeface="Arial"/>
                <a:cs typeface="Arial"/>
              </a:rPr>
              <a:t>。</a:t>
            </a:r>
            <a:endParaRPr sz="1425" b="0">
              <a:solidFill>
                <a:srgbClr val="132F4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215128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A0EF07D-AC66-4FA5-B537-B0A7EEE0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10  协作与执行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6ED4EE6-0309-42C7-8A6C-F7E3DA3A0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工作方式与职业素养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BD194BDF-9E96-4767-B97F-7FFA3CC1F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10763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把五项职业素养落到具体事件，避免只做自我评价。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75AC407-77C5-4492-B6F3-84968EA0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86525"/>
            <a:ext cx="723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转正答辩  /  磁控胶囊内窥镜软件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0C48C05-5AE0-4D2F-A43A-787105C0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5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637982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982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9FC1A1EC-2204-4755-9AB7-4CF80DAE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95500"/>
            <a:ext cx="57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E29EBF1-95DE-4E8C-A5F2-A9F70AEE4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0955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工作态度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56912B9-8365-4180-9638-9DCCC145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95500"/>
            <a:ext cx="7334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[遇到复杂任务时的投入与推进例子]</a:t>
            </a:r>
          </a:p>
        </p:txBody>
      </p:sp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00F2006B-D009-4E70-AC4C-79AFDD29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24125"/>
            <a:ext cx="103346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89B7A5ED-99DA-4FFD-92A9-F6964C6D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33675"/>
            <a:ext cx="57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8FF6D19A-F50C-472E-90BD-0E2CAE80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336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责任心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36AB9A2F-3C8B-44BD-A3AF-ABF6B80D9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33675"/>
            <a:ext cx="7334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[主动发现风险并跟踪到闭环的例子]</a:t>
            </a:r>
          </a:p>
        </p:txBody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BA27C3B8-8C99-4D77-8AC0-6A97134F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62300"/>
            <a:ext cx="103346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DB06D59-C6C2-446B-9902-6AC3C896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71850"/>
            <a:ext cx="57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D772418-278F-411A-990F-E0B3FDED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718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执行力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84FF8759-A7B7-4D72-9B29-055CA94C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71850"/>
            <a:ext cx="7334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[按计划完成并反馈进度的例子]</a:t>
            </a:r>
          </a:p>
        </p:txBody>
      </p:sp>
      <p:sp>
        <p:nvSpPr>
          <p:cNvPr id="17" name="直接连接符 16">
            <a:extLst xmlns:a="http://schemas.openxmlformats.org/drawingml/2006/main">
              <a:ext uri="{FF2B5EF4-FFF2-40B4-BE49-F238E27FC236}">
                <a16:creationId xmlns:a16="http://schemas.microsoft.com/office/drawing/2014/main" id="{E80D506C-98DC-44B9-A0A9-36568FD9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00475"/>
            <a:ext cx="103346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37BE2B36-E7E0-4E67-9891-809AEBBC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10025"/>
            <a:ext cx="57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AADBCF9-C134-4646-9545-CB7C879F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1002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沟通协调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14E2E45B-BFE6-4AA2-AC1F-03A23FB3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10025"/>
            <a:ext cx="7334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[与测试 / 硬件 / 上位机协作案例]</a:t>
            </a:r>
          </a:p>
        </p:txBody>
      </p:sp>
      <p:sp>
        <p:nvSpPr>
          <p:cNvPr id="21" name="直接连接符 20">
            <a:extLst xmlns:a="http://schemas.openxmlformats.org/drawingml/2006/main">
              <a:ext uri="{FF2B5EF4-FFF2-40B4-BE49-F238E27FC236}">
                <a16:creationId xmlns:a16="http://schemas.microsoft.com/office/drawing/2014/main" id="{A1135807-5E61-4753-B2F0-FA8E5ABA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38650"/>
            <a:ext cx="103346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ADB65C7C-4871-4528-B951-ED13AE8D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48200"/>
            <a:ext cx="571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2A2127D3-962B-4BA3-B9C9-A412FEDD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482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32F4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32F40"/>
                </a:solidFill>
                <a:latin typeface="Arial"/>
                <a:ea typeface="Arial"/>
                <a:cs typeface="Arial"/>
              </a:rPr>
              <a:t>团队协作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A32DA3D1-0731-4EB4-B6F3-E194518F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48200"/>
            <a:ext cx="7334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41556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15560"/>
                </a:solidFill>
                <a:latin typeface="Arial"/>
                <a:ea typeface="Arial"/>
                <a:cs typeface="Arial"/>
              </a:rPr>
              <a:t>[分工、互相支持与共同交付案例]</a:t>
            </a:r>
          </a:p>
        </p:txBody>
      </p:sp>
      <p:sp>
        <p:nvSpPr>
          <p:cNvPr id="25" name="直接连接符 24">
            <a:extLst xmlns:a="http://schemas.openxmlformats.org/drawingml/2006/main">
              <a:ext uri="{FF2B5EF4-FFF2-40B4-BE49-F238E27FC236}">
                <a16:creationId xmlns:a16="http://schemas.microsoft.com/office/drawing/2014/main" id="{C0276361-9B24-4F2F-A43D-B4B9635C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76825"/>
            <a:ext cx="1033462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B8C8CE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C7F3C30D-F938-4256-9BAF-39BA839C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61022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B36A2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6A27"/>
                </a:solidFill>
                <a:latin typeface="Arial"/>
                <a:ea typeface="Arial"/>
                <a:cs typeface="Arial"/>
              </a:rPr>
              <a:t>专项任务：[任务背景]  /  [本人负责]  /  [交付时间]  /  [结果或复盘]</a:t>
            </a:r>
          </a:p>
        </p:txBody>
      </p:sp>
    </p:spTree>
    <p:extLst>
      <p:ext uri="{BB962C8B-B14F-4D97-AF65-F5344CB8AC3E}">
        <p14:creationId xmlns:p14="http://schemas.microsoft.com/office/powerpoint/2010/main" val="144760397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32F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AE0C359-F658-48A6-BE8B-3666E076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76275"/>
            <a:ext cx="9144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79CDD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9CDD2"/>
                </a:solidFill>
                <a:latin typeface="Arial"/>
                <a:ea typeface="Arial"/>
                <a:cs typeface="Arial"/>
              </a:rPr>
              <a:t>总结与下一阶段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5D7A45E-C1D5-4387-8485-653EB610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81150"/>
            <a:ext cx="942975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从系统理解到</a:t>
            </a:r>
          </a:p>
          <a:p xmlns:a="http://schemas.openxmlformats.org/drawingml/2006/main">
            <a:pPr>
              <a:buNone/>
              <a:defRPr sz="3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可追溯交付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03028C39-D818-4779-8300-D68BCC72D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8617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9CDD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79CDD2"/>
                </a:solidFill>
                <a:latin typeface="Arial"/>
                <a:ea typeface="Arial"/>
                <a:cs typeface="Arial"/>
              </a:rPr>
              <a:t>下一阶段重点</a:t>
            </a: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34CD136-D961-4722-B7DD-927B1DA0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1019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补齐链路与移动场景验证；完善异常恢复和回归测试；按流程沉淀需求、风险和验证记录。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854160F-4768-4400-AF50-0102DF43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864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D3E4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3E4E8"/>
                </a:solidFill>
                <a:latin typeface="Arial"/>
                <a:ea typeface="Arial"/>
                <a:cs typeface="Arial"/>
              </a:rPr>
              <a:t>申请转正  /  [本人补充一句具体承诺]</a:t>
            </a:r>
          </a:p>
        </p:txBody>
      </p:sp>
    </p:spTree>
    <p:extLst>
      <p:ext uri="{BB962C8B-B14F-4D97-AF65-F5344CB8AC3E}">
        <p14:creationId xmlns:p14="http://schemas.microsoft.com/office/powerpoint/2010/main" val="21180105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2026-09-24T08:16:23.1460000Z</dcterms:created>
  <dcterms:modified xsi:type="dcterms:W3CDTF">2026-09-24T08:16:23.1470000Z</dcterms:modified>
</coreProperties>
</file>