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1247195-0FA6-4A1D-A3F1-94D9E18FFD86}">
          <p14:sldIdLst>
            <p14:sldId id="256"/>
            <p14:sldId id="257"/>
            <p14:sldId id="258"/>
            <p14:sldId id="259"/>
            <p14:sldId id="260"/>
            <p14:sldId id="261"/>
            <p14:sldId id="268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686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补充姓名、岗位、部门、日期。开场建议先说试用期的主要职责，再说明胶囊项目是其中一个能体现系统理解和工程实践的案例。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7118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内容对应答辩表五项工作内容与五项职业素养。为避免替本人编造绩效，每一项后续页都留有具体经历、数据或文件编号的填写位置。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315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根据本人真实试用期工作填写此页。最好选择两到三个最能说明能力的案例，避免只说“参与了”“完成了”，需要讲清本人负责内容和证据。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8529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源码依据：nrf_tx/examples/peripheral/radio/TX/ov7676.c、cx93510.c、image.c；RX 的 antenna_manager/radio_link；stm32F103RET6/stm_project/Core/Src/capsule_protocol.c、sd_storage.c。箭头和流程框均为可编辑 PowerPoint 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7765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设备型号以当前源码为准：OV7676（不是 OV7766）。OV7676 经 CX93510 内部 I²C 主机配置，像素经并行 DVP 送到 CX93510；CX93510 在有限单帧模式下采集，JPEG 数据与帧块信息进入其帧 RAM；nRF52832 通过 SPI 读取帧信息并逐片读 JPEG。当前正式无线协议只发送原始图像块，不将旧版 IMG/CRC16 分块写法当作当前协议。来源：TX/ov7676.c、cx93510.c、image.c；doc/01-通信协议.md；doc/03-TX软件框架.md。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0934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TX-RX 无线协议依据 doc/01-通信协议.md；RX到STM和STM到PC依据 doc/08-STM软件框架.md 与当前 capsule_protocol.c。协议字段和校验要以这些当前文件为准。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7948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doc/06-TYGD31旧工程框架与天线扫描.md、doc/07-新旧工程对比.md、doc/03-TX软件框架.md。该页描述代码和方案差异，不宣称未验证的功耗或成像性能提升。现方案仍需按静止、移动、弱信号场景验证前三候选和扫描阈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45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对应考核表开发与缺陷修复、技术交接与版本迭代。不要将代码存在或仓库功能描述直接当成个人贡献证据。优先放一项能展示自己判断过程的缺陷闭环案例。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7839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用于答辩概述新旧标准迁移，不替代法规评估。差异表只列标准层级的变化方向，不声称逐条条款差异。GB 9706.1-2007已废止，由GB 9706.1-2020替代；YY 0505-2012由YY 9706.102-2021替代。风险管理按用户给定背景：YY/T 0316-2016为原项目采用依据，切换至GB/T 42062-2022及YY/T 1437-2023应用指南；YY/T 1437-2023直接替代的是YY/T 1437-2016。变更注册适用性、注册单元、资料清单与过渡期限须由法规/注册负责人确认；过渡期通用政策详见国家药监局2023年第14号及官方解读。产品专用标准适用性也须确认；“9706.128”未检索到，胶囊内窥镜相关专用标准检索为GB 9706.218-2021。</a:t>
            </a:r>
          </a:p>
          <a:p>
            <a:endParaRPr/>
          </a:p>
          <a:p>
            <a:r>
              <a:t>官方来源：GB 9706.1-2020 https://openstd.samr.gov.cn/bzgk/std/newGbInfo?hcno=74E8A9884B75808BF9369E2E25196F53</a:t>
            </a:r>
          </a:p>
          <a:p>
            <a:r>
              <a:t>GB 9706.1-2007 https://openstd.samr.gov.cn/bzgk/std/newGbInfo?hcno=6B3CB82E3FD260F2AF530E71D4836D49</a:t>
            </a:r>
          </a:p>
          <a:p>
            <a:r>
              <a:t>YY 9706.102-2021 https://std.samr.gov.cn/hb/search/stdHBDetailed?id=BFEAFC933D025285E05397BE0A0A7BFB</a:t>
            </a:r>
          </a:p>
          <a:p>
            <a:r>
              <a:t>GB 9706.218-2021 https://openstd.samr.gov.cn/bzgk/std/newGbInfo?hcno=963619BBF8282C5927A353D689EF4340</a:t>
            </a:r>
          </a:p>
          <a:p>
            <a:r>
              <a:t>GB/T 42062-2022 https://openstd.samr.gov.cn/bzgk/std/newGbInfo?hcno=1148CB082527B776560903948B22DAB0</a:t>
            </a:r>
          </a:p>
          <a:p>
            <a:r>
              <a:t>YY/T 1437-2023 https://std.samr.gov.cn/hb/search/stdHBDetailed?id=00D333A21F1A492AE06397BE0A0A2B32</a:t>
            </a:r>
          </a:p>
          <a:p>
            <a:r>
              <a:t>变更注册过渡政策官方解读 https://yjj.sh.gov.cn/qtgzwj/20230316/8b076216db34470bbcc7e20d6f6ea517.html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8503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项目仓库已有技术文档，但不能据此推断公司受控的法规标准清单、完整生命周期文档或正式验证已完成。把真实文件名、编号、版本和审核状态填入。软件生命周期要求可参照YY/T 0664-2020理解，系统级确认不应被代码测试替代。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4958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对应职业素养的五项评分标准和10%的专项任务权重。请使用真实事件，写明时间、协作对象、个人责任、反馈方式和可验证结果。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9360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结尾请补充你愿意承担的下一阶段具体职责和可检查目标。避免承诺尚未评估过的量化指标。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2102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66C0B3E0-60B6-4768-8A2B-E1C98363EEA8}"/>
              </a:ext>
            </a:extLst>
          </p:cNvPr>
          <p:cNvSpPr>
            <a:spLocks noGrp="1"/>
          </p:cNvSpPr>
          <p:nvPr/>
        </p:nvSpPr>
        <p:spPr>
          <a:xfrm>
            <a:off x="800100" y="485775"/>
            <a:ext cx="7620000" cy="46672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b="1" dirty="0" err="1">
                <a:solidFill>
                  <a:srgbClr val="61CBF4"/>
                </a:solidFill>
                <a:latin typeface="Arial"/>
                <a:ea typeface="Arial"/>
                <a:cs typeface="Arial"/>
              </a:rPr>
              <a:t>试用期转正答辩</a:t>
            </a:r>
            <a:endParaRPr b="1" dirty="0">
              <a:solidFill>
                <a:srgbClr val="61CBF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595A0EE-2D1F-4A4B-A2D1-3A40206EE984}"/>
              </a:ext>
            </a:extLst>
          </p:cNvPr>
          <p:cNvSpPr>
            <a:spLocks noGrp="1"/>
          </p:cNvSpPr>
          <p:nvPr/>
        </p:nvSpPr>
        <p:spPr>
          <a:xfrm>
            <a:off x="742950" y="1685925"/>
            <a:ext cx="9525000" cy="1666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工作回顾与</a:t>
            </a:r>
            <a:endParaRPr sz="4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工程重构实践</a:t>
            </a:r>
            <a:endParaRPr sz="4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7DA8FF25-E5AD-4787-97EC-45436C4C3994}"/>
              </a:ext>
            </a:extLst>
          </p:cNvPr>
          <p:cNvSpPr>
            <a:spLocks noGrp="1"/>
          </p:cNvSpPr>
          <p:nvPr/>
        </p:nvSpPr>
        <p:spPr>
          <a:xfrm>
            <a:off x="800100" y="4895851"/>
            <a:ext cx="9525000" cy="12668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575" b="0" dirty="0" smtClean="0">
                <a:solidFill>
                  <a:srgbClr val="D4E3E8"/>
                </a:solidFill>
                <a:latin typeface="Arial"/>
                <a:ea typeface="Arial"/>
                <a:cs typeface="Arial"/>
              </a:rPr>
              <a:t>嵌入式软件工程式</a:t>
            </a:r>
            <a:r>
              <a:rPr sz="1575" b="0" dirty="0" smtClean="0">
                <a:solidFill>
                  <a:srgbClr val="D4E3E8"/>
                </a:solidFill>
                <a:latin typeface="Arial"/>
                <a:ea typeface="Arial"/>
                <a:cs typeface="Arial"/>
              </a:rPr>
              <a:t>/  </a:t>
            </a:r>
            <a:r>
              <a:rPr sz="1575" b="0" dirty="0">
                <a:solidFill>
                  <a:srgbClr val="D4E3E8"/>
                </a:solidFill>
                <a:latin typeface="Arial"/>
                <a:ea typeface="Arial"/>
                <a:cs typeface="Arial"/>
              </a:rPr>
              <a:t>[</a:t>
            </a:r>
            <a:r>
              <a:rPr sz="1575" b="0" dirty="0" err="1">
                <a:solidFill>
                  <a:srgbClr val="D4E3E8"/>
                </a:solidFill>
                <a:latin typeface="Arial"/>
                <a:ea typeface="Arial"/>
                <a:cs typeface="Arial"/>
              </a:rPr>
              <a:t>姓名</a:t>
            </a:r>
            <a:r>
              <a:rPr sz="1575" b="0" dirty="0">
                <a:solidFill>
                  <a:srgbClr val="D4E3E8"/>
                </a:solidFill>
                <a:latin typeface="Arial"/>
                <a:ea typeface="Arial"/>
                <a:cs typeface="Arial"/>
              </a:rPr>
              <a:t>]  </a:t>
            </a:r>
            <a:endParaRPr lang="en-US" sz="1575" b="0" dirty="0" smtClean="0">
              <a:solidFill>
                <a:srgbClr val="D4E3E8"/>
              </a:solidFill>
              <a:latin typeface="Arial"/>
              <a:ea typeface="Arial"/>
              <a:cs typeface="Arial"/>
            </a:endParaRPr>
          </a:p>
          <a:p>
            <a:pPr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 dirty="0" smtClean="0">
                <a:solidFill>
                  <a:srgbClr val="D4E3E8"/>
                </a:solidFill>
                <a:latin typeface="Arial"/>
                <a:ea typeface="Arial"/>
                <a:cs typeface="Arial"/>
              </a:rPr>
              <a:t>  </a:t>
            </a:r>
            <a:endParaRPr lang="en-US" sz="1575" b="0" dirty="0" smtClean="0">
              <a:solidFill>
                <a:srgbClr val="D4E3E8"/>
              </a:solidFill>
              <a:latin typeface="Arial"/>
              <a:ea typeface="Arial"/>
              <a:cs typeface="Arial"/>
            </a:endParaRPr>
          </a:p>
          <a:p>
            <a:pPr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 dirty="0" smtClean="0">
                <a:solidFill>
                  <a:srgbClr val="D4E3E8"/>
                </a:solidFill>
                <a:latin typeface="Arial"/>
                <a:ea typeface="Arial"/>
                <a:cs typeface="Arial"/>
              </a:rPr>
              <a:t>[</a:t>
            </a:r>
            <a:r>
              <a:rPr lang="zh-CN" altLang="en-US" sz="1575" b="0" dirty="0" smtClean="0">
                <a:solidFill>
                  <a:srgbClr val="D4E3E8"/>
                </a:solidFill>
                <a:latin typeface="Arial"/>
                <a:ea typeface="Arial"/>
                <a:cs typeface="Arial"/>
              </a:rPr>
              <a:t>研发</a:t>
            </a:r>
            <a:r>
              <a:rPr lang="en-US" altLang="zh-CN" sz="1575" b="0" dirty="0" smtClean="0">
                <a:solidFill>
                  <a:srgbClr val="D4E3E8"/>
                </a:solidFill>
                <a:latin typeface="Arial"/>
                <a:ea typeface="Arial"/>
                <a:cs typeface="Arial"/>
              </a:rPr>
              <a:t>6</a:t>
            </a:r>
            <a:r>
              <a:rPr lang="zh-CN" altLang="en-US" sz="1575" b="0" dirty="0" smtClean="0">
                <a:solidFill>
                  <a:srgbClr val="D4E3E8"/>
                </a:solidFill>
                <a:latin typeface="Arial"/>
                <a:ea typeface="Arial"/>
                <a:cs typeface="Arial"/>
              </a:rPr>
              <a:t>部</a:t>
            </a:r>
            <a:r>
              <a:rPr sz="1575" b="0" dirty="0" smtClean="0">
                <a:solidFill>
                  <a:srgbClr val="D4E3E8"/>
                </a:solidFill>
                <a:latin typeface="Arial"/>
                <a:ea typeface="Arial"/>
                <a:cs typeface="Arial"/>
              </a:rPr>
              <a:t>  </a:t>
            </a:r>
            <a:r>
              <a:rPr sz="1575" b="0" dirty="0">
                <a:solidFill>
                  <a:srgbClr val="D4E3E8"/>
                </a:solidFill>
                <a:latin typeface="Arial"/>
                <a:ea typeface="Arial"/>
                <a:cs typeface="Arial"/>
              </a:rPr>
              <a:t>/  [</a:t>
            </a:r>
            <a:r>
              <a:rPr sz="1575" b="0" dirty="0" err="1">
                <a:solidFill>
                  <a:srgbClr val="D4E3E8"/>
                </a:solidFill>
                <a:latin typeface="Arial"/>
                <a:ea typeface="Arial"/>
                <a:cs typeface="Arial"/>
              </a:rPr>
              <a:t>日期</a:t>
            </a:r>
            <a:r>
              <a:rPr sz="1575" b="0" dirty="0">
                <a:solidFill>
                  <a:srgbClr val="D4E3E8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BE6A8C5C-5A84-4CD0-9ED7-1DBCFE7BD0A5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C1CA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A9C1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5836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72721359-C819-4761-9058-A66B63AFFDC9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  工作总览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01600D3A-7EE0-4A81-9D39-F130857895E0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试用期工作内容与考核表对应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69B38284-A8FD-41C8-81B8-FD257E87325D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答辩主线围绕“理解工作、完成任务、形成交付、持续改进”。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6031EA-5BF8-4E98-A853-B35C6473EF25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970C07CF-16FC-4D04-98E4-DEC31AF03A5C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A292F402-FA80-4760-83EB-E760DF0038AB}"/>
              </a:ext>
            </a:extLst>
          </p:cNvPr>
          <p:cNvSpPr>
            <a:spLocks noGrp="1"/>
          </p:cNvSpPr>
          <p:nvPr/>
        </p:nvSpPr>
        <p:spPr>
          <a:xfrm>
            <a:off x="790575" y="1962150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91610726-FADC-4B19-A176-FFCE22FB5B39}"/>
              </a:ext>
            </a:extLst>
          </p:cNvPr>
          <p:cNvSpPr>
            <a:spLocks noGrp="1"/>
          </p:cNvSpPr>
          <p:nvPr/>
        </p:nvSpPr>
        <p:spPr>
          <a:xfrm>
            <a:off x="1762125" y="1962150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产品与系统理解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F152D9CB-658B-4C3A-B921-62C78B66EA38}"/>
              </a:ext>
            </a:extLst>
          </p:cNvPr>
          <p:cNvSpPr>
            <a:spLocks noGrp="1"/>
          </p:cNvSpPr>
          <p:nvPr/>
        </p:nvSpPr>
        <p:spPr>
          <a:xfrm>
            <a:off x="4638675" y="1962150"/>
            <a:ext cx="6572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产品构成、主控流程、通信链路和异常路径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="" xmlns:a16="http://schemas.microsoft.com/office/drawing/2014/main" id="{930E0213-302D-470E-940D-4F35CBEE9AFF}"/>
              </a:ext>
            </a:extLst>
          </p:cNvPr>
          <p:cNvSpPr>
            <a:spLocks noGrp="1"/>
          </p:cNvSpPr>
          <p:nvPr/>
        </p:nvSpPr>
        <p:spPr>
          <a:xfrm>
            <a:off x="781050" y="2438400"/>
            <a:ext cx="1042987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22D8B94C-0DC0-4C76-A684-E5E923C9A04D}"/>
              </a:ext>
            </a:extLst>
          </p:cNvPr>
          <p:cNvSpPr>
            <a:spLocks noGrp="1"/>
          </p:cNvSpPr>
          <p:nvPr/>
        </p:nvSpPr>
        <p:spPr>
          <a:xfrm>
            <a:off x="790575" y="2647950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96C5A0DD-2B76-466B-A7F8-E47AAF4DCB32}"/>
              </a:ext>
            </a:extLst>
          </p:cNvPr>
          <p:cNvSpPr>
            <a:spLocks noGrp="1"/>
          </p:cNvSpPr>
          <p:nvPr/>
        </p:nvSpPr>
        <p:spPr>
          <a:xfrm>
            <a:off x="1762125" y="2647950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代码开发与缺陷修复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B7FE8651-B7F0-488C-BF9E-E2FFCA570265}"/>
              </a:ext>
            </a:extLst>
          </p:cNvPr>
          <p:cNvSpPr>
            <a:spLocks noGrp="1"/>
          </p:cNvSpPr>
          <p:nvPr/>
        </p:nvSpPr>
        <p:spPr>
          <a:xfrm>
            <a:off x="4638675" y="2647950"/>
            <a:ext cx="6572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415560"/>
                </a:solidFill>
                <a:latin typeface="Arial"/>
                <a:ea typeface="Arial"/>
                <a:cs typeface="Arial"/>
              </a:rPr>
              <a:t>按规范开发、定位问题、控制修改影响</a:t>
            </a:r>
            <a:endParaRPr sz="1425" b="0" dirty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="" xmlns:a16="http://schemas.microsoft.com/office/drawing/2014/main" id="{0A4D4B1D-5D9A-4621-97DD-37C827FA0327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1042987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9C250F91-519F-4BDC-9F49-4ADBFEB8D5F2}"/>
              </a:ext>
            </a:extLst>
          </p:cNvPr>
          <p:cNvSpPr>
            <a:spLocks noGrp="1"/>
          </p:cNvSpPr>
          <p:nvPr/>
        </p:nvSpPr>
        <p:spPr>
          <a:xfrm>
            <a:off x="790575" y="3333750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DE075AFB-5093-465B-8A7E-B5A65063EFF2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交接与版本迭代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2C52BBC4-FF6E-4CCB-B994-CE8E64325642}"/>
              </a:ext>
            </a:extLst>
          </p:cNvPr>
          <p:cNvSpPr>
            <a:spLocks noGrp="1"/>
          </p:cNvSpPr>
          <p:nvPr/>
        </p:nvSpPr>
        <p:spPr>
          <a:xfrm>
            <a:off x="4638675" y="3333750"/>
            <a:ext cx="6572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415560"/>
                </a:solidFill>
                <a:latin typeface="Arial"/>
                <a:ea typeface="Arial"/>
                <a:cs typeface="Arial"/>
              </a:rPr>
              <a:t>接收资料，承担功能维护与迭代，配合验证</a:t>
            </a:r>
            <a:endParaRPr sz="1425" b="0" dirty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直接连接符 16">
            <a:extLst>
              <a:ext uri="{FF2B5EF4-FFF2-40B4-BE49-F238E27FC236}">
                <a16:creationId xmlns="" xmlns:a16="http://schemas.microsoft.com/office/drawing/2014/main" id="{E18F09AC-1343-488A-844E-E59AD8CA4635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1042987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DC4E47D1-75E6-4BC3-8854-5186C5F2D974}"/>
              </a:ext>
            </a:extLst>
          </p:cNvPr>
          <p:cNvSpPr>
            <a:spLocks noGrp="1"/>
          </p:cNvSpPr>
          <p:nvPr/>
        </p:nvSpPr>
        <p:spPr>
          <a:xfrm>
            <a:off x="790575" y="4019550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2D0BC4FA-6996-487C-8B88-EC1EBB980D6A}"/>
              </a:ext>
            </a:extLst>
          </p:cNvPr>
          <p:cNvSpPr>
            <a:spLocks noGrp="1"/>
          </p:cNvSpPr>
          <p:nvPr/>
        </p:nvSpPr>
        <p:spPr>
          <a:xfrm>
            <a:off x="1762125" y="4019550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法规标准与软件文档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58879442-E15E-4661-91C4-C347B0A40EEF}"/>
              </a:ext>
            </a:extLst>
          </p:cNvPr>
          <p:cNvSpPr>
            <a:spLocks noGrp="1"/>
          </p:cNvSpPr>
          <p:nvPr/>
        </p:nvSpPr>
        <p:spPr>
          <a:xfrm>
            <a:off x="4638675" y="4019550"/>
            <a:ext cx="6572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理解适用标准，按流程输出可追溯资料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="" xmlns:a16="http://schemas.microsoft.com/office/drawing/2014/main" id="{7D687011-2148-4B70-B53C-77C710DDDDAF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1042987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E92145D0-CE78-40AF-9299-B93E6FA9DCF0}"/>
              </a:ext>
            </a:extLst>
          </p:cNvPr>
          <p:cNvSpPr>
            <a:spLocks noGrp="1"/>
          </p:cNvSpPr>
          <p:nvPr/>
        </p:nvSpPr>
        <p:spPr>
          <a:xfrm>
            <a:off x="790575" y="4705350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CAA06F65-D067-4E3A-93D1-D66C8366E98F}"/>
              </a:ext>
            </a:extLst>
          </p:cNvPr>
          <p:cNvSpPr>
            <a:spLocks noGrp="1"/>
          </p:cNvSpPr>
          <p:nvPr/>
        </p:nvSpPr>
        <p:spPr>
          <a:xfrm>
            <a:off x="1762125" y="4705350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C5A3BD81-5683-428F-85F8-88A9A4FD2494}"/>
              </a:ext>
            </a:extLst>
          </p:cNvPr>
          <p:cNvSpPr>
            <a:spLocks noGrp="1"/>
          </p:cNvSpPr>
          <p:nvPr/>
        </p:nvSpPr>
        <p:spPr>
          <a:xfrm>
            <a:off x="4638675" y="4705350"/>
            <a:ext cx="6572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按期处理临时任务，及时反馈风险和进度</a:t>
            </a:r>
            <a:endParaRPr sz="1425" b="0" dirty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直接连接符 24">
            <a:extLst>
              <a:ext uri="{FF2B5EF4-FFF2-40B4-BE49-F238E27FC236}">
                <a16:creationId xmlns="" xmlns:a16="http://schemas.microsoft.com/office/drawing/2014/main" id="{9A9307F7-3659-4BEA-AFD0-EB16EE87ACF9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1042987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B4B0E1C8-A842-41D0-9444-ECB37502D4FA}"/>
              </a:ext>
            </a:extLst>
          </p:cNvPr>
          <p:cNvSpPr>
            <a:spLocks noGrp="1"/>
          </p:cNvSpPr>
          <p:nvPr/>
        </p:nvSpPr>
        <p:spPr>
          <a:xfrm>
            <a:off x="790575" y="5581650"/>
            <a:ext cx="1952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职业素养（20%）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0F80C088-61A7-49D8-99C3-EC9AA2A9A7EA}"/>
              </a:ext>
            </a:extLst>
          </p:cNvPr>
          <p:cNvSpPr>
            <a:spLocks noGrp="1"/>
          </p:cNvSpPr>
          <p:nvPr/>
        </p:nvSpPr>
        <p:spPr>
          <a:xfrm>
            <a:off x="2819400" y="5581650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　责任心　执行力　沟通协调　团队协作</a:t>
            </a:r>
          </a:p>
        </p:txBody>
      </p:sp>
    </p:spTree>
    <p:extLst>
      <p:ext uri="{BB962C8B-B14F-4D97-AF65-F5344CB8AC3E}">
        <p14:creationId xmlns:p14="http://schemas.microsoft.com/office/powerpoint/2010/main" val="208214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71070D39-8119-4B65-ACF4-ED7E01FB5DFB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  工作回顾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24099E72-5A2B-4789-8D9D-A8C496636C57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试用期工作主线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842D730-507A-414B-AFC0-7067169C164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项目任务以外，重点呈现个人负责范围、交付证据和协作过程。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E0389D2-1AAA-413D-A6B3-655816CD4D20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0365ABE-E344-402A-9A58-F038C6408FAB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D5DFB6A9-CCC3-4AF9-8A70-D207B3B93E99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工作内容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4E5D8F6-3DAE-439F-BE66-FF9646B80D0B}"/>
              </a:ext>
            </a:extLst>
          </p:cNvPr>
          <p:cNvSpPr>
            <a:spLocks noGrp="1"/>
          </p:cNvSpPr>
          <p:nvPr/>
        </p:nvSpPr>
        <p:spPr>
          <a:xfrm>
            <a:off x="3619500" y="208597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 dirty="0" err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本人承担与交付</a:t>
            </a:r>
            <a:endParaRPr sz="135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A94DF952-3F7F-4BA5-A1E1-9C5054965F1E}"/>
              </a:ext>
            </a:extLst>
          </p:cNvPr>
          <p:cNvSpPr>
            <a:spLocks noGrp="1"/>
          </p:cNvSpPr>
          <p:nvPr/>
        </p:nvSpPr>
        <p:spPr>
          <a:xfrm>
            <a:off x="8096250" y="20764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证明材料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0E1BB2F4-5211-44AD-B2D9-9E3CCA6486F5}"/>
              </a:ext>
            </a:extLst>
          </p:cNvPr>
          <p:cNvSpPr>
            <a:spLocks noGrp="1"/>
          </p:cNvSpPr>
          <p:nvPr/>
        </p:nvSpPr>
        <p:spPr>
          <a:xfrm>
            <a:off x="762000" y="2638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熟悉产品与代码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F2EBA146-7A90-4C61-A0E8-7625C11AD9C2}"/>
              </a:ext>
            </a:extLst>
          </p:cNvPr>
          <p:cNvSpPr>
            <a:spLocks noGrp="1"/>
          </p:cNvSpPr>
          <p:nvPr/>
        </p:nvSpPr>
        <p:spPr>
          <a:xfrm>
            <a:off x="3619500" y="2638424"/>
            <a:ext cx="3697356" cy="43815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</a:t>
            </a:r>
            <a:r>
              <a:rPr lang="zh-CN" altLang="en-US"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负责</a:t>
            </a:r>
            <a:r>
              <a:rPr lang="en-US" altLang="zh-CN"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YS-III</a:t>
            </a:r>
            <a:r>
              <a:rPr lang="zh-CN" altLang="en-US"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和</a:t>
            </a:r>
            <a:r>
              <a:rPr lang="en-US" altLang="zh-CN"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YS-II</a:t>
            </a:r>
            <a:r>
              <a:rPr lang="zh-CN" altLang="en-US"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的代码重构和协议重构</a:t>
            </a:r>
            <a:r>
              <a:rPr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]</a:t>
            </a:r>
            <a:endParaRPr sz="1425" b="0" dirty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4E0788B3-EB76-4837-9EDE-0C99C0AED9C7}"/>
              </a:ext>
            </a:extLst>
          </p:cNvPr>
          <p:cNvSpPr>
            <a:spLocks noGrp="1"/>
          </p:cNvSpPr>
          <p:nvPr/>
        </p:nvSpPr>
        <p:spPr>
          <a:xfrm>
            <a:off x="8096250" y="2638425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</a:t>
            </a:r>
            <a:r>
              <a:rPr lang="en-US" sz="1350" b="0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YS-III</a:t>
            </a:r>
            <a:r>
              <a:rPr lang="zh-CN" altLang="en-US" sz="1350" b="0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和</a:t>
            </a:r>
            <a:r>
              <a:rPr lang="en-US" altLang="zh-CN" sz="1350" b="0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YS-II</a:t>
            </a:r>
            <a:r>
              <a:rPr lang="zh-CN" altLang="en-US" sz="1350" b="0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可以适配</a:t>
            </a:r>
            <a:r>
              <a:rPr lang="en-US" altLang="zh-CN" sz="1350" b="0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PC</a:t>
            </a:r>
            <a:r>
              <a:rPr lang="zh-CN" altLang="en-US" sz="1350" b="0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软件的最终版代码</a:t>
            </a:r>
            <a:r>
              <a:rPr sz="1350" b="0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]</a:t>
            </a:r>
            <a:endParaRPr sz="1350" b="0" dirty="0">
              <a:solidFill>
                <a:srgbClr val="63798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="" xmlns:a16="http://schemas.microsoft.com/office/drawing/2014/main" id="{543B51C1-43F9-4CBE-86C5-749C9BDDB839}"/>
              </a:ext>
            </a:extLst>
          </p:cNvPr>
          <p:cNvSpPr>
            <a:spLocks noGrp="1"/>
          </p:cNvSpPr>
          <p:nvPr/>
        </p:nvSpPr>
        <p:spPr>
          <a:xfrm>
            <a:off x="762000" y="3124200"/>
            <a:ext cx="10477500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B812D8E6-F006-4189-A19D-352F05ACBEF3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开发与问题闭环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041B87F6-F2E1-4F2E-8939-0991D7CC3572}"/>
              </a:ext>
            </a:extLst>
          </p:cNvPr>
          <p:cNvSpPr>
            <a:spLocks noGrp="1"/>
          </p:cNvSpPr>
          <p:nvPr/>
        </p:nvSpPr>
        <p:spPr>
          <a:xfrm>
            <a:off x="3619500" y="3343276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</a:t>
            </a:r>
            <a:r>
              <a:rPr lang="zh-CN" altLang="en-US"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胶囊产品</a:t>
            </a:r>
            <a:r>
              <a:rPr sz="1425" b="0" dirty="0" smtClean="0">
                <a:solidFill>
                  <a:srgbClr val="415560"/>
                </a:solidFill>
                <a:latin typeface="Arial"/>
                <a:ea typeface="Arial"/>
                <a:cs typeface="Arial"/>
              </a:rPr>
              <a:t>]</a:t>
            </a:r>
            <a:endParaRPr sz="1425" b="0" dirty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56D239A-E9A2-445E-8450-B042F4BE5472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[提交 / 缺陷单 / 评审]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="" xmlns:a16="http://schemas.microsoft.com/office/drawing/2014/main" id="{B010E17C-16B3-463C-93D5-17AC448BCDD4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10477500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EED4ACBB-7ABD-4186-A8B8-5F8B9DEEDD5D}"/>
              </a:ext>
            </a:extLst>
          </p:cNvPr>
          <p:cNvSpPr>
            <a:spLocks noGrp="1"/>
          </p:cNvSpPr>
          <p:nvPr/>
        </p:nvSpPr>
        <p:spPr>
          <a:xfrm>
            <a:off x="762000" y="39909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验证与跨团队配合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48828A18-4EB4-4E0D-9E73-9749411C3D6D}"/>
              </a:ext>
            </a:extLst>
          </p:cNvPr>
          <p:cNvSpPr>
            <a:spLocks noGrp="1"/>
          </p:cNvSpPr>
          <p:nvPr/>
        </p:nvSpPr>
        <p:spPr>
          <a:xfrm>
            <a:off x="3619500" y="4000501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[联调、验证支持、问题同步]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7CB8CA82-E6F7-4F1F-AD71-5D417F35519C}"/>
              </a:ext>
            </a:extLst>
          </p:cNvPr>
          <p:cNvSpPr>
            <a:spLocks noGrp="1"/>
          </p:cNvSpPr>
          <p:nvPr/>
        </p:nvSpPr>
        <p:spPr>
          <a:xfrm>
            <a:off x="8096250" y="3990975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[测试记录 / 协作案例]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="" xmlns:a16="http://schemas.microsoft.com/office/drawing/2014/main" id="{CDD91269-12FB-47E4-BFB3-4C9321876F77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77500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1DA16CB0-1ADC-4DB7-A2D0-E92EDFEABD9A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D4E084E5-33AD-4482-B1C7-6728E00ED941}"/>
              </a:ext>
            </a:extLst>
          </p:cNvPr>
          <p:cNvSpPr>
            <a:spLocks noGrp="1"/>
          </p:cNvSpPr>
          <p:nvPr/>
        </p:nvSpPr>
        <p:spPr>
          <a:xfrm>
            <a:off x="3619500" y="4653999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</a:t>
            </a:r>
            <a:r>
              <a:rPr sz="1425" b="0" dirty="0" err="1">
                <a:solidFill>
                  <a:srgbClr val="415560"/>
                </a:solidFill>
                <a:latin typeface="Arial"/>
                <a:ea typeface="Arial"/>
                <a:cs typeface="Arial"/>
              </a:rPr>
              <a:t>任务名称、时限、结果</a:t>
            </a:r>
            <a:r>
              <a:rPr sz="1425" b="0" dirty="0">
                <a:solidFill>
                  <a:srgbClr val="415560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97C4057A-E7D1-40BF-9A0F-AD98C8A6C80D}"/>
              </a:ext>
            </a:extLst>
          </p:cNvPr>
          <p:cNvSpPr>
            <a:spLocks noGrp="1"/>
          </p:cNvSpPr>
          <p:nvPr/>
        </p:nvSpPr>
        <p:spPr>
          <a:xfrm>
            <a:off x="8096250" y="4667250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[任务记录 / 汇报记录]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="" xmlns:a16="http://schemas.microsoft.com/office/drawing/2014/main" id="{EEF0EC96-1960-4E68-830E-FB2C7F469142}"/>
              </a:ext>
            </a:extLst>
          </p:cNvPr>
          <p:cNvSpPr>
            <a:spLocks noGrp="1"/>
          </p:cNvSpPr>
          <p:nvPr/>
        </p:nvSpPr>
        <p:spPr>
          <a:xfrm>
            <a:off x="762000" y="5153025"/>
            <a:ext cx="10477500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0F70D617-12AD-4A6C-A170-3100C557300B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38225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答辩建议：每件事按“背景 → 本人动作 → 验证证据 → 结果/复盘”讲清楚。</a:t>
            </a:r>
          </a:p>
        </p:txBody>
      </p:sp>
    </p:spTree>
    <p:extLst>
      <p:ext uri="{BB962C8B-B14F-4D97-AF65-F5344CB8AC3E}">
        <p14:creationId xmlns:p14="http://schemas.microsoft.com/office/powerpoint/2010/main" val="78463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39F313A9-C0B7-47D9-B3E4-FE839A625CA6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  项目理解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FB5F87AC-0E46-4F9A-A2D9-0E2B762FA382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产品系统与图像数据链路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9143BB62-2B3C-4E8A-A8DC-80CDFC8E77C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胶囊端采图与编码，接收端选天线和转发，STM32 校验后送 PC 与 SD。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008AABE7-8B24-41F8-8E77-F7A931514C14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D94B92C-6B6A-4582-B8DE-17B3C3D63979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49" y="1909100"/>
            <a:ext cx="10181501" cy="407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4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BFF64C28-BB0A-41E2-963D-BA4ECD244D8F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  采集与编码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1457A1E7-341B-4FA8-BCBC-A99D635214D7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图像怎样变成可发送的 JPEG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661645A1-6F1A-47EC-8D24-B94074C53441}"/>
              </a:ext>
            </a:extLst>
          </p:cNvPr>
          <p:cNvSpPr>
            <a:spLocks noGrp="1"/>
          </p:cNvSpPr>
          <p:nvPr/>
        </p:nvSpPr>
        <p:spPr>
          <a:xfrm>
            <a:off x="762000" y="1404937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关键边界：OV7676 输出原始像素；CX93510 </a:t>
            </a:r>
            <a:r>
              <a:rPr sz="1425" b="1" dirty="0" err="1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负责</a:t>
            </a:r>
            <a:r>
              <a:rPr lang="zh-CN" altLang="en-US" sz="1425" b="1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配置</a:t>
            </a:r>
            <a:r>
              <a:rPr lang="en-US" altLang="zh-CN" sz="1425" b="1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ov7676</a:t>
            </a:r>
            <a:r>
              <a:rPr lang="zh-CN" altLang="en-US" sz="1425" b="1" dirty="0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，图像</a:t>
            </a:r>
            <a:r>
              <a:rPr sz="1425" b="1" dirty="0" err="1" smtClean="0">
                <a:solidFill>
                  <a:srgbClr val="637982"/>
                </a:solidFill>
                <a:latin typeface="Arial"/>
                <a:ea typeface="Arial"/>
                <a:cs typeface="Arial"/>
              </a:rPr>
              <a:t>采集</a:t>
            </a:r>
            <a:r>
              <a:rPr sz="1425" b="1" dirty="0" err="1">
                <a:solidFill>
                  <a:srgbClr val="637982"/>
                </a:solidFill>
                <a:latin typeface="Arial"/>
                <a:ea typeface="Arial"/>
                <a:cs typeface="Arial"/>
              </a:rPr>
              <a:t>、压缩和缓存；nRF</a:t>
            </a:r>
            <a:r>
              <a:rPr sz="1425" b="1" dirty="0">
                <a:solidFill>
                  <a:srgbClr val="637982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637982"/>
                </a:solidFill>
                <a:latin typeface="Arial"/>
                <a:ea typeface="Arial"/>
                <a:cs typeface="Arial"/>
              </a:rPr>
              <a:t>负责读取与传输</a:t>
            </a:r>
            <a:r>
              <a:rPr sz="1425" b="1" dirty="0">
                <a:solidFill>
                  <a:srgbClr val="637982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A9E6419D-3016-4537-8030-238536B47902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E5C355E6-1C8F-4F91-8D5E-E9144C9E36CA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77" y="1781175"/>
            <a:ext cx="11736896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2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D87ACF0A-2B46-43DA-B7F3-9D52781C0EE2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  通信链路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C0F11D21-6F61-4C22-82F1-200E721694C2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无线传输、接收与 PC 转发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76EB7468-4C0E-453C-9ACC-A7EC2A30E9ED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C209540D-4B3D-4D1B-9F32-455A80FD013A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8" y="1200150"/>
            <a:ext cx="10688052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7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>
            <a:extLst>
              <a:ext uri="{FF2B5EF4-FFF2-40B4-BE49-F238E27FC236}">
                <a16:creationId xmlns:a16="http://schemas.microsoft.com/office/drawing/2014/main" xmlns="" id="{58A43211-5DBC-42AD-B68D-318A861F4119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 dirty="0" smtClean="0">
                <a:solidFill>
                  <a:srgbClr val="087F8C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125" b="1" dirty="0" smtClean="0">
                <a:solidFill>
                  <a:srgbClr val="087F8C"/>
                </a:solidFill>
                <a:latin typeface="Arial"/>
                <a:ea typeface="Arial"/>
                <a:cs typeface="Arial"/>
              </a:rPr>
              <a:t>6</a:t>
            </a:r>
            <a:r>
              <a:rPr sz="1125" b="1" dirty="0" smtClean="0">
                <a:solidFill>
                  <a:srgbClr val="087F8C"/>
                </a:solidFill>
                <a:latin typeface="Arial"/>
                <a:ea typeface="Arial"/>
                <a:cs typeface="Arial"/>
              </a:rPr>
              <a:t>  </a:t>
            </a:r>
            <a:r>
              <a:rPr sz="1125" b="1" dirty="0" err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天线选路</a:t>
            </a:r>
            <a:endParaRPr sz="1125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xmlns="" id="{201B91D5-0155-4BFF-80C9-A30FA8ED86D2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 dirty="0">
                <a:solidFill>
                  <a:srgbClr val="132F40"/>
                </a:solidFill>
                <a:latin typeface="Arial"/>
                <a:ea typeface="Arial"/>
                <a:cs typeface="Arial"/>
              </a:rPr>
              <a:t>RX </a:t>
            </a:r>
            <a:r>
              <a:rPr sz="2925" b="1" dirty="0" err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天线扫描：旧版与新版</a:t>
            </a:r>
            <a:endParaRPr sz="2925" b="1" dirty="0">
              <a:solidFill>
                <a:srgbClr val="132F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xmlns="" id="{A8AA58FA-C46F-4580-9659-91F234ADA4D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旧版独立扫描并锁定一路；新版与 TX 协商快速 SN 广播，保留三路候选。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xmlns="" id="{96ED7EF1-E275-439E-8933-08656D368365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xmlns="" id="{3A3F377F-E391-4CCC-AAB3-7802E3DF0A39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xmlns="" id="{D0B73860-4349-4F58-BBF2-A234798E6B72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旧版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xmlns="" id="{EC9AD0CF-8470-4F1F-8B43-F3A0CBFD6083}"/>
              </a:ext>
            </a:extLst>
          </p:cNvPr>
          <p:cNvSpPr>
            <a:spLocks noGrp="1"/>
          </p:cNvSpPr>
          <p:nvPr/>
        </p:nvSpPr>
        <p:spPr>
          <a:xfrm>
            <a:off x="6334125" y="19526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xmlns="" id="{FCE83F1F-B9D2-4C2B-97EE-F2172821D6F1}"/>
              </a:ext>
            </a:extLst>
          </p:cNvPr>
          <p:cNvSpPr>
            <a:spLocks noGrp="1"/>
          </p:cNvSpPr>
          <p:nvPr/>
        </p:nvSpPr>
        <p:spPr>
          <a:xfrm>
            <a:off x="781050" y="2352675"/>
            <a:ext cx="4810125" cy="723900"/>
          </a:xfrm>
          <a:prstGeom prst="roundRect">
            <a:avLst>
              <a:gd name="adj" fmla="val 10526"/>
            </a:avLst>
          </a:prstGeom>
          <a:solidFill>
            <a:srgbClr val="F6F8F9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xmlns="" id="{9F093301-83DC-4986-B514-FFF0EC6209D5}"/>
              </a:ext>
            </a:extLst>
          </p:cNvPr>
          <p:cNvSpPr>
            <a:spLocks noGrp="1"/>
          </p:cNvSpPr>
          <p:nvPr/>
        </p:nvSpPr>
        <p:spPr>
          <a:xfrm>
            <a:off x="933450" y="2438400"/>
            <a:ext cx="45053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逐路扫描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xmlns="" id="{9162188F-356B-4A8D-84B5-8B7AFDFF85F0}"/>
              </a:ext>
            </a:extLst>
          </p:cNvPr>
          <p:cNvSpPr>
            <a:spLocks noGrp="1"/>
          </p:cNvSpPr>
          <p:nvPr/>
        </p:nvSpPr>
        <p:spPr>
          <a:xfrm>
            <a:off x="933450" y="2762250"/>
            <a:ext cx="45053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路天线每 3 ms 切换一次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xmlns="" id="{BA3171E8-BDE5-40F1-BD7B-69E2046F3563}"/>
              </a:ext>
            </a:extLst>
          </p:cNvPr>
          <p:cNvSpPr>
            <a:spLocks noGrp="1"/>
          </p:cNvSpPr>
          <p:nvPr/>
        </p:nvSpPr>
        <p:spPr>
          <a:xfrm>
            <a:off x="3114675" y="3076575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xmlns="" id="{726F61D7-2673-408B-AA81-B9D2ED1D6EF7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4810125" cy="723900"/>
          </a:xfrm>
          <a:prstGeom prst="roundRect">
            <a:avLst>
              <a:gd name="adj" fmla="val 10526"/>
            </a:avLst>
          </a:prstGeom>
          <a:solidFill>
            <a:srgbClr val="F6F8F9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xmlns="" id="{403F71AF-83A0-4505-B730-C3AA9CE52487}"/>
              </a:ext>
            </a:extLst>
          </p:cNvPr>
          <p:cNvSpPr>
            <a:spLocks noGrp="1"/>
          </p:cNvSpPr>
          <p:nvPr/>
        </p:nvSpPr>
        <p:spPr>
          <a:xfrm>
            <a:off x="933450" y="3305175"/>
            <a:ext cx="45053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收集 RSSI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xmlns="" id="{8384C9B7-7306-4B32-A42E-D25D50C6C088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5053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全局累计 36 个正值，各路样本数不固定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xmlns="" id="{2F8B3C64-59C5-4D7B-8579-B465A0C14A7B}"/>
              </a:ext>
            </a:extLst>
          </p:cNvPr>
          <p:cNvSpPr>
            <a:spLocks noGrp="1"/>
          </p:cNvSpPr>
          <p:nvPr/>
        </p:nvSpPr>
        <p:spPr>
          <a:xfrm>
            <a:off x="3114675" y="3943350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90" name="圆角矩形 89">
            <a:extLst>
              <a:ext uri="{FF2B5EF4-FFF2-40B4-BE49-F238E27FC236}">
                <a16:creationId xmlns:a16="http://schemas.microsoft.com/office/drawing/2014/main" xmlns="" id="{532A6198-927C-47A8-98EB-7DC5668AF6A0}"/>
              </a:ext>
            </a:extLst>
          </p:cNvPr>
          <p:cNvSpPr>
            <a:spLocks noGrp="1"/>
          </p:cNvSpPr>
          <p:nvPr/>
        </p:nvSpPr>
        <p:spPr>
          <a:xfrm>
            <a:off x="781050" y="4086225"/>
            <a:ext cx="4810125" cy="723900"/>
          </a:xfrm>
          <a:prstGeom prst="roundRect">
            <a:avLst>
              <a:gd name="adj" fmla="val 10526"/>
            </a:avLst>
          </a:prstGeom>
          <a:solidFill>
            <a:srgbClr val="F6F8F9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xmlns="" id="{52237EF5-C8E4-4F79-BCB9-FF060D390300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45053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只选一路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xmlns="" id="{CA963EA7-9E06-461B-9FBB-8ACDA4B08FCD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45053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每路保留最强一次，选幅值最小者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xmlns="" id="{93059F0F-8370-4810-BD5A-AC1E6E63FFB4}"/>
              </a:ext>
            </a:extLst>
          </p:cNvPr>
          <p:cNvSpPr>
            <a:spLocks noGrp="1"/>
          </p:cNvSpPr>
          <p:nvPr/>
        </p:nvSpPr>
        <p:spPr>
          <a:xfrm>
            <a:off x="3114675" y="4810125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94" name="圆角矩形 93">
            <a:extLst>
              <a:ext uri="{FF2B5EF4-FFF2-40B4-BE49-F238E27FC236}">
                <a16:creationId xmlns:a16="http://schemas.microsoft.com/office/drawing/2014/main" xmlns="" id="{94E0D19D-D5B2-452A-99B1-D9E89AE6D0F0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4810125" cy="723900"/>
          </a:xfrm>
          <a:prstGeom prst="roundRect">
            <a:avLst>
              <a:gd name="adj" fmla="val 10526"/>
            </a:avLst>
          </a:prstGeom>
          <a:solidFill>
            <a:srgbClr val="F6F8F9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xmlns="" id="{9A6D94B0-927A-4D82-9247-1CBBBED11D99}"/>
              </a:ext>
            </a:extLst>
          </p:cNvPr>
          <p:cNvSpPr>
            <a:spLocks noGrp="1"/>
          </p:cNvSpPr>
          <p:nvPr/>
        </p:nvSpPr>
        <p:spPr>
          <a:xfrm>
            <a:off x="933450" y="5038725"/>
            <a:ext cx="45053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锁定并监测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xmlns="" id="{871027BB-CC87-4D16-86AC-C162568BF5C9}"/>
              </a:ext>
            </a:extLst>
          </p:cNvPr>
          <p:cNvSpPr>
            <a:spLocks noGrp="1"/>
          </p:cNvSpPr>
          <p:nvPr/>
        </p:nvSpPr>
        <p:spPr>
          <a:xfrm>
            <a:off x="933450" y="5362575"/>
            <a:ext cx="45053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1200 ms 无完整图片则重新扫描</a:t>
            </a:r>
          </a:p>
        </p:txBody>
      </p:sp>
      <p:sp>
        <p:nvSpPr>
          <p:cNvPr id="97" name="圆角矩形 96">
            <a:extLst>
              <a:ext uri="{FF2B5EF4-FFF2-40B4-BE49-F238E27FC236}">
                <a16:creationId xmlns:a16="http://schemas.microsoft.com/office/drawing/2014/main" xmlns="" id="{E602840C-2743-427B-BE56-C3A6E14C2D3E}"/>
              </a:ext>
            </a:extLst>
          </p:cNvPr>
          <p:cNvSpPr>
            <a:spLocks noGrp="1"/>
          </p:cNvSpPr>
          <p:nvPr/>
        </p:nvSpPr>
        <p:spPr>
          <a:xfrm>
            <a:off x="6286500" y="2352675"/>
            <a:ext cx="5029200" cy="723900"/>
          </a:xfrm>
          <a:prstGeom prst="roundRect">
            <a:avLst>
              <a:gd name="adj" fmla="val 10526"/>
            </a:avLst>
          </a:prstGeom>
          <a:solidFill>
            <a:srgbClr val="EAF2F4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xmlns="" id="{54588CD9-6704-449A-927D-CCFC8C628F62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47244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寻找目标 END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xmlns="" id="{C779FDAB-11D1-42A4-A3F5-E6BBB563341D}"/>
              </a:ext>
            </a:extLst>
          </p:cNvPr>
          <p:cNvSpPr>
            <a:spLocks noGrp="1"/>
          </p:cNvSpPr>
          <p:nvPr/>
        </p:nvSpPr>
        <p:spPr>
          <a:xfrm>
            <a:off x="6438900" y="2762250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绑定后每路 8 ms；RX 发 0x12 请求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xmlns="" id="{4940572E-5A16-4BCB-A627-58C3DEDB0B30}"/>
              </a:ext>
            </a:extLst>
          </p:cNvPr>
          <p:cNvSpPr>
            <a:spLocks noGrp="1"/>
          </p:cNvSpPr>
          <p:nvPr/>
        </p:nvSpPr>
        <p:spPr>
          <a:xfrm>
            <a:off x="8667750" y="3076575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01" name="圆角矩形 100">
            <a:extLst>
              <a:ext uri="{FF2B5EF4-FFF2-40B4-BE49-F238E27FC236}">
                <a16:creationId xmlns:a16="http://schemas.microsoft.com/office/drawing/2014/main" xmlns="" id="{2EE902F7-C0EF-47F4-A86A-5534904C7B88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5029200" cy="723900"/>
          </a:xfrm>
          <a:prstGeom prst="roundRect">
            <a:avLst>
              <a:gd name="adj" fmla="val 10526"/>
            </a:avLst>
          </a:prstGeom>
          <a:solidFill>
            <a:srgbClr val="EAF2F4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xmlns="" id="{50DE7277-23D0-43D6-85B5-CD5242501FC2}"/>
              </a:ext>
            </a:extLst>
          </p:cNvPr>
          <p:cNvSpPr>
            <a:spLocks noGrp="1"/>
          </p:cNvSpPr>
          <p:nvPr/>
        </p:nvSpPr>
        <p:spPr>
          <a:xfrm>
            <a:off x="6438900" y="3305175"/>
            <a:ext cx="47244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配合快速广播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xmlns="" id="{43F458FD-173C-4E4B-AD3B-040C26F4ADC3}"/>
              </a:ext>
            </a:extLst>
          </p:cNvPr>
          <p:cNvSpPr>
            <a:spLocks noGrp="1"/>
          </p:cNvSpPr>
          <p:nvPr/>
        </p:nvSpPr>
        <p:spPr>
          <a:xfrm>
            <a:off x="6438900" y="3629025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暂停图片，回 0x11；每 8 ms 播 SN，最长 1800 ms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xmlns="" id="{5BB007B8-D6ED-40BE-805C-D9DD19D01D03}"/>
              </a:ext>
            </a:extLst>
          </p:cNvPr>
          <p:cNvSpPr>
            <a:spLocks noGrp="1"/>
          </p:cNvSpPr>
          <p:nvPr/>
        </p:nvSpPr>
        <p:spPr>
          <a:xfrm>
            <a:off x="8667750" y="3943350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xmlns="" id="{7E04B48C-78E0-4683-96FD-ACD98ECD748D}"/>
              </a:ext>
            </a:extLst>
          </p:cNvPr>
          <p:cNvSpPr>
            <a:spLocks noGrp="1"/>
          </p:cNvSpPr>
          <p:nvPr/>
        </p:nvSpPr>
        <p:spPr>
          <a:xfrm>
            <a:off x="6286500" y="4086225"/>
            <a:ext cx="5029200" cy="723900"/>
          </a:xfrm>
          <a:prstGeom prst="roundRect">
            <a:avLst>
              <a:gd name="adj" fmla="val 10526"/>
            </a:avLst>
          </a:prstGeom>
          <a:solidFill>
            <a:srgbClr val="EAF2F4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xmlns="" id="{69AFCDAE-B583-4848-9666-7CC42BEB79CB}"/>
              </a:ext>
            </a:extLst>
          </p:cNvPr>
          <p:cNvSpPr>
            <a:spLocks noGrp="1"/>
          </p:cNvSpPr>
          <p:nvPr/>
        </p:nvSpPr>
        <p:spPr>
          <a:xfrm>
            <a:off x="6438900" y="4171950"/>
            <a:ext cx="47244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正式扫描 12 路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xmlns="" id="{994FC18F-C880-40D8-9880-E35C11CE58EB}"/>
              </a:ext>
            </a:extLst>
          </p:cNvPr>
          <p:cNvSpPr>
            <a:spLocks noGrp="1"/>
          </p:cNvSpPr>
          <p:nvPr/>
        </p:nvSpPr>
        <p:spPr>
          <a:xfrm>
            <a:off x="6438900" y="4495800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 32 ms × 4 轮；只计 CRC / SN 均有效的 0x05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xmlns="" id="{DDFFF704-C053-447A-BA1C-D61421148D43}"/>
              </a:ext>
            </a:extLst>
          </p:cNvPr>
          <p:cNvSpPr>
            <a:spLocks noGrp="1"/>
          </p:cNvSpPr>
          <p:nvPr/>
        </p:nvSpPr>
        <p:spPr>
          <a:xfrm>
            <a:off x="8667750" y="4810125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09" name="圆角矩形 108">
            <a:extLst>
              <a:ext uri="{FF2B5EF4-FFF2-40B4-BE49-F238E27FC236}">
                <a16:creationId xmlns:a16="http://schemas.microsoft.com/office/drawing/2014/main" xmlns="" id="{CDE6CFD5-D3A8-43BE-887C-98F51D0B4754}"/>
              </a:ext>
            </a:extLst>
          </p:cNvPr>
          <p:cNvSpPr>
            <a:spLocks noGrp="1"/>
          </p:cNvSpPr>
          <p:nvPr/>
        </p:nvSpPr>
        <p:spPr>
          <a:xfrm>
            <a:off x="6286500" y="4953000"/>
            <a:ext cx="5029200" cy="723900"/>
          </a:xfrm>
          <a:prstGeom prst="roundRect">
            <a:avLst>
              <a:gd name="adj" fmla="val 10526"/>
            </a:avLst>
          </a:prstGeom>
          <a:solidFill>
            <a:srgbClr val="DDECEF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xmlns="" id="{F35F2B57-5AAE-48CC-804E-C11B7D1A97AA}"/>
              </a:ext>
            </a:extLst>
          </p:cNvPr>
          <p:cNvSpPr>
            <a:spLocks noGrp="1"/>
          </p:cNvSpPr>
          <p:nvPr/>
        </p:nvSpPr>
        <p:spPr>
          <a:xfrm>
            <a:off x="6438900" y="5038725"/>
            <a:ext cx="47244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排序并锁定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xmlns="" id="{06877AFE-EA15-406E-9917-F68BC99A4875}"/>
              </a:ext>
            </a:extLst>
          </p:cNvPr>
          <p:cNvSpPr>
            <a:spLocks noGrp="1"/>
          </p:cNvSpPr>
          <p:nvPr/>
        </p:nvSpPr>
        <p:spPr>
          <a:xfrm>
            <a:off x="6438900" y="5362575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均值、≥2 样本优先；前三候选依次切换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xmlns="" id="{9C550741-E2E2-4DF4-BAF8-DD89BA076034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旧版失联：直接回到扫描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xmlns="" id="{9998A172-8AAA-483A-BC7F-FD046291F7E4}"/>
              </a:ext>
            </a:extLst>
          </p:cNvPr>
          <p:cNvSpPr>
            <a:spLocks noGrp="1"/>
          </p:cNvSpPr>
          <p:nvPr/>
        </p:nvSpPr>
        <p:spPr>
          <a:xfrm>
            <a:off x="6286500" y="5905500"/>
            <a:ext cx="5143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新版失联：先换候选；全部失败再寻 END</a:t>
            </a:r>
          </a:p>
        </p:txBody>
      </p:sp>
    </p:spTree>
    <p:extLst>
      <p:ext uri="{BB962C8B-B14F-4D97-AF65-F5344CB8AC3E}">
        <p14:creationId xmlns:p14="http://schemas.microsoft.com/office/powerpoint/2010/main" val="3315872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7557D337-5F09-4F02-BF0E-6674B7D4F9A7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 dirty="0" smtClean="0">
                <a:solidFill>
                  <a:srgbClr val="087F8C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125" b="1" dirty="0" smtClean="0">
                <a:solidFill>
                  <a:srgbClr val="087F8C"/>
                </a:solidFill>
                <a:latin typeface="Arial"/>
                <a:ea typeface="Arial"/>
                <a:cs typeface="Arial"/>
              </a:rPr>
              <a:t>7</a:t>
            </a:r>
            <a:r>
              <a:rPr sz="1125" b="1" dirty="0" smtClean="0">
                <a:solidFill>
                  <a:srgbClr val="087F8C"/>
                </a:solidFill>
                <a:latin typeface="Arial"/>
                <a:ea typeface="Arial"/>
                <a:cs typeface="Arial"/>
              </a:rPr>
              <a:t>  </a:t>
            </a:r>
            <a:r>
              <a:rPr sz="1125" b="1" dirty="0" err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工程重构</a:t>
            </a:r>
            <a:endParaRPr sz="1125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5E6002B-15FF-45FE-BBC1-5B0155E68CFE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/ RX 新旧工程整体对比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3D0C2AFF-712C-470E-84ED-F9B1BFB12624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围绕取图、唤醒、等待、空闲和选路，比较代码中的实际实现。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3CC703F0-5B95-4CCD-A694-CBD4891D3EE1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DCB34014-A3DA-4C08-A9AB-DBD5C96139AA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ED411FCE-8BED-4DD6-BF77-3A9F8F8934C7}"/>
              </a:ext>
            </a:extLst>
          </p:cNvPr>
          <p:cNvSpPr>
            <a:spLocks noGrp="1"/>
          </p:cNvSpPr>
          <p:nvPr/>
        </p:nvSpPr>
        <p:spPr>
          <a:xfrm>
            <a:off x="790575" y="1952625"/>
            <a:ext cx="15716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对比点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9A690AB8-F6D7-423D-B98A-B7024BFA3318}"/>
              </a:ext>
            </a:extLst>
          </p:cNvPr>
          <p:cNvSpPr>
            <a:spLocks noGrp="1"/>
          </p:cNvSpPr>
          <p:nvPr/>
        </p:nvSpPr>
        <p:spPr>
          <a:xfrm>
            <a:off x="2781300" y="1952625"/>
            <a:ext cx="34766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旧工程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xmlns="" id="{FC5E3FA8-1513-475A-BA2A-76AF6CB57298}"/>
              </a:ext>
            </a:extLst>
          </p:cNvPr>
          <p:cNvSpPr>
            <a:spLocks noGrp="1"/>
          </p:cNvSpPr>
          <p:nvPr/>
        </p:nvSpPr>
        <p:spPr>
          <a:xfrm>
            <a:off x="6553200" y="1952625"/>
            <a:ext cx="46863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A1D3BF55-552E-4C62-99AC-D2F4AEFFD0AF}"/>
              </a:ext>
            </a:extLst>
          </p:cNvPr>
          <p:cNvSpPr>
            <a:spLocks noGrp="1"/>
          </p:cNvSpPr>
          <p:nvPr/>
        </p:nvSpPr>
        <p:spPr>
          <a:xfrm>
            <a:off x="790575" y="2343150"/>
            <a:ext cx="1666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图片数据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7366BE52-ACB6-46BB-AC15-B1810FB9F862}"/>
              </a:ext>
            </a:extLst>
          </p:cNvPr>
          <p:cNvSpPr>
            <a:spLocks noGrp="1"/>
          </p:cNvSpPr>
          <p:nvPr/>
        </p:nvSpPr>
        <p:spPr>
          <a:xfrm>
            <a:off x="2781300" y="23431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整张 JPEG 先复制到 nRF RAM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xmlns="" id="{2C45B112-922A-46D7-93FB-E3FA91CD258A}"/>
              </a:ext>
            </a:extLst>
          </p:cNvPr>
          <p:cNvSpPr>
            <a:spLocks noGrp="1"/>
          </p:cNvSpPr>
          <p:nvPr/>
        </p:nvSpPr>
        <p:spPr>
          <a:xfrm>
            <a:off x="6219825" y="2362200"/>
            <a:ext cx="304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xmlns="" id="{302377F6-F467-4841-AD2B-69BD2340C8C6}"/>
              </a:ext>
            </a:extLst>
          </p:cNvPr>
          <p:cNvSpPr>
            <a:spLocks noGrp="1"/>
          </p:cNvSpPr>
          <p:nvPr/>
        </p:nvSpPr>
        <p:spPr>
          <a:xfrm>
            <a:off x="6553200" y="234315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发送 DATA 时按片读 CX93510 帧 RAM</a:t>
            </a:r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xmlns="" id="{CF6165C4-EC15-4D9D-A26F-8A0D3AB3C97A}"/>
              </a:ext>
            </a:extLst>
          </p:cNvPr>
          <p:cNvSpPr>
            <a:spLocks noGrp="1"/>
          </p:cNvSpPr>
          <p:nvPr/>
        </p:nvSpPr>
        <p:spPr>
          <a:xfrm>
            <a:off x="790575" y="2876550"/>
            <a:ext cx="10477500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A3F9BE7B-514A-4204-87BC-99398D04C195}"/>
              </a:ext>
            </a:extLst>
          </p:cNvPr>
          <p:cNvSpPr>
            <a:spLocks noGrp="1"/>
          </p:cNvSpPr>
          <p:nvPr/>
        </p:nvSpPr>
        <p:spPr>
          <a:xfrm>
            <a:off x="790575" y="3009900"/>
            <a:ext cx="1666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周期唤醒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xmlns="" id="{24FD08AB-25A0-4C21-8BAA-A87668694C25}"/>
              </a:ext>
            </a:extLst>
          </p:cNvPr>
          <p:cNvSpPr>
            <a:spLocks noGrp="1"/>
          </p:cNvSpPr>
          <p:nvPr/>
        </p:nvSpPr>
        <p:spPr>
          <a:xfrm>
            <a:off x="2781300" y="300990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TIMER2 固定周期唤醒；主循环 WFI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xmlns="" id="{905D0A8E-F403-42C7-9529-CA442DC3A42D}"/>
              </a:ext>
            </a:extLst>
          </p:cNvPr>
          <p:cNvSpPr>
            <a:spLocks noGrp="1"/>
          </p:cNvSpPr>
          <p:nvPr/>
        </p:nvSpPr>
        <p:spPr>
          <a:xfrm>
            <a:off x="6219825" y="3028950"/>
            <a:ext cx="304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xmlns="" id="{5712467D-43F8-46E0-A43E-77EAD0F35E47}"/>
              </a:ext>
            </a:extLst>
          </p:cNvPr>
          <p:cNvSpPr>
            <a:spLocks noGrp="1"/>
          </p:cNvSpPr>
          <p:nvPr/>
        </p:nvSpPr>
        <p:spPr>
          <a:xfrm>
            <a:off x="6553200" y="300990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RTC2 产生 500 ms 请求；空闲时 WFE</a:t>
            </a:r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xmlns="" id="{1C7258FA-5000-4953-8C29-B1789C623063}"/>
              </a:ext>
            </a:extLst>
          </p:cNvPr>
          <p:cNvSpPr>
            <a:spLocks noGrp="1"/>
          </p:cNvSpPr>
          <p:nvPr/>
        </p:nvSpPr>
        <p:spPr>
          <a:xfrm>
            <a:off x="790575" y="3543300"/>
            <a:ext cx="10477500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xmlns="" id="{6F0E392F-7F08-4195-A940-512113E2402A}"/>
              </a:ext>
            </a:extLst>
          </p:cNvPr>
          <p:cNvSpPr>
            <a:spLocks noGrp="1"/>
          </p:cNvSpPr>
          <p:nvPr/>
        </p:nvSpPr>
        <p:spPr>
          <a:xfrm>
            <a:off x="790575" y="3676650"/>
            <a:ext cx="1666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业务等待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xmlns="" id="{AD222CA7-044F-45B9-AA1F-96C81A2A0C22}"/>
              </a:ext>
            </a:extLst>
          </p:cNvPr>
          <p:cNvSpPr>
            <a:spLocks noGrp="1"/>
          </p:cNvSpPr>
          <p:nvPr/>
        </p:nvSpPr>
        <p:spPr>
          <a:xfrm>
            <a:off x="2781300" y="36766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拍摄预热和取图轮询使用 delay_ms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xmlns="" id="{619D9476-A8DE-4451-8E92-D7CBABE433DD}"/>
              </a:ext>
            </a:extLst>
          </p:cNvPr>
          <p:cNvSpPr>
            <a:spLocks noGrp="1"/>
          </p:cNvSpPr>
          <p:nvPr/>
        </p:nvSpPr>
        <p:spPr>
          <a:xfrm>
            <a:off x="6219825" y="3695700"/>
            <a:ext cx="304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xmlns="" id="{C4BA87D1-38CD-4E31-8AA2-AFBC58687A3A}"/>
              </a:ext>
            </a:extLst>
          </p:cNvPr>
          <p:cNvSpPr>
            <a:spLocks noGrp="1"/>
          </p:cNvSpPr>
          <p:nvPr/>
        </p:nvSpPr>
        <p:spPr>
          <a:xfrm>
            <a:off x="6553200" y="367665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TIMER1 的 1 ms 时基推进预热、分片与 ACK</a:t>
            </a:r>
          </a:p>
        </p:txBody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xmlns="" id="{9C3A01A1-1104-4E0B-873F-2C2DF09B21B9}"/>
              </a:ext>
            </a:extLst>
          </p:cNvPr>
          <p:cNvSpPr>
            <a:spLocks noGrp="1"/>
          </p:cNvSpPr>
          <p:nvPr/>
        </p:nvSpPr>
        <p:spPr>
          <a:xfrm>
            <a:off x="790575" y="4210050"/>
            <a:ext cx="10477500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xmlns="" id="{BA1F7654-298B-474A-A086-4612FEDBAC37}"/>
              </a:ext>
            </a:extLst>
          </p:cNvPr>
          <p:cNvSpPr>
            <a:spLocks noGrp="1"/>
          </p:cNvSpPr>
          <p:nvPr/>
        </p:nvSpPr>
        <p:spPr>
          <a:xfrm>
            <a:off x="790575" y="4343400"/>
            <a:ext cx="1666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SPI 与帧 RAM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xmlns="" id="{1B84C0DA-4A9A-4ACF-B600-3F2449C7EAB8}"/>
              </a:ext>
            </a:extLst>
          </p:cNvPr>
          <p:cNvSpPr>
            <a:spLocks noGrp="1"/>
          </p:cNvSpPr>
          <p:nvPr/>
        </p:nvSpPr>
        <p:spPr>
          <a:xfrm>
            <a:off x="2781300" y="434340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SPI0 常开；整图搬走后关闭 PDRAM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xmlns="" id="{739A4075-E1B8-454C-9630-D6C891A7D8BB}"/>
              </a:ext>
            </a:extLst>
          </p:cNvPr>
          <p:cNvSpPr>
            <a:spLocks noGrp="1"/>
          </p:cNvSpPr>
          <p:nvPr/>
        </p:nvSpPr>
        <p:spPr>
          <a:xfrm>
            <a:off x="6219825" y="4362450"/>
            <a:ext cx="304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xmlns="" id="{CDFD4F97-FF2B-4F2E-B7FD-293850EEB124}"/>
              </a:ext>
            </a:extLst>
          </p:cNvPr>
          <p:cNvSpPr>
            <a:spLocks noGrp="1"/>
          </p:cNvSpPr>
          <p:nvPr/>
        </p:nvSpPr>
        <p:spPr>
          <a:xfrm>
            <a:off x="6553200" y="434340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帧 RAM 保持供分片读取；事务结束关 SPIM0</a:t>
            </a:r>
          </a:p>
        </p:txBody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xmlns="" id="{5158DBC9-F16B-4B13-A9B1-3053DF69E8BB}"/>
              </a:ext>
            </a:extLst>
          </p:cNvPr>
          <p:cNvSpPr>
            <a:spLocks noGrp="1"/>
          </p:cNvSpPr>
          <p:nvPr/>
        </p:nvSpPr>
        <p:spPr>
          <a:xfrm>
            <a:off x="790575" y="4876800"/>
            <a:ext cx="10477500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xmlns="" id="{0B1697AD-0C46-4CF9-9240-296B429D24E8}"/>
              </a:ext>
            </a:extLst>
          </p:cNvPr>
          <p:cNvSpPr>
            <a:spLocks noGrp="1"/>
          </p:cNvSpPr>
          <p:nvPr/>
        </p:nvSpPr>
        <p:spPr>
          <a:xfrm>
            <a:off x="790575" y="5010150"/>
            <a:ext cx="1666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天线选路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xmlns="" id="{414DCE8F-3315-466D-8D14-3F717C9C7985}"/>
              </a:ext>
            </a:extLst>
          </p:cNvPr>
          <p:cNvSpPr>
            <a:spLocks noGrp="1"/>
          </p:cNvSpPr>
          <p:nvPr/>
        </p:nvSpPr>
        <p:spPr>
          <a:xfrm>
            <a:off x="2781300" y="50101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单次最强 RSSI，锁定一路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xmlns="" id="{CA37B9F2-F6B0-444B-97B1-D4C077FD0635}"/>
              </a:ext>
            </a:extLst>
          </p:cNvPr>
          <p:cNvSpPr>
            <a:spLocks noGrp="1"/>
          </p:cNvSpPr>
          <p:nvPr/>
        </p:nvSpPr>
        <p:spPr>
          <a:xfrm>
            <a:off x="6219825" y="5029200"/>
            <a:ext cx="304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xmlns="" id="{A7B9FABB-897C-4D2D-BEA8-4AA44A481566}"/>
              </a:ext>
            </a:extLst>
          </p:cNvPr>
          <p:cNvSpPr>
            <a:spLocks noGrp="1"/>
          </p:cNvSpPr>
          <p:nvPr/>
        </p:nvSpPr>
        <p:spPr>
          <a:xfrm>
            <a:off x="6553200" y="501015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目标 SN + CRC 过滤，均值排序，前三候选</a:t>
            </a:r>
          </a:p>
        </p:txBody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xmlns="" id="{F769C5E5-ED94-44B8-858D-DCDE657B09BA}"/>
              </a:ext>
            </a:extLst>
          </p:cNvPr>
          <p:cNvSpPr>
            <a:spLocks noGrp="1"/>
          </p:cNvSpPr>
          <p:nvPr/>
        </p:nvSpPr>
        <p:spPr>
          <a:xfrm>
            <a:off x="790575" y="5543550"/>
            <a:ext cx="10477500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xmlns="" id="{19A810EE-EF52-443F-BE06-C8E991239207}"/>
              </a:ext>
            </a:extLst>
          </p:cNvPr>
          <p:cNvSpPr>
            <a:spLocks noGrp="1"/>
          </p:cNvSpPr>
          <p:nvPr/>
        </p:nvSpPr>
        <p:spPr>
          <a:xfrm>
            <a:off x="790575" y="587692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说明：1 ms 时基用于业务调度；芯片初始化及 CX93510 内部轮询仍有短阻塞等待。</a:t>
            </a:r>
          </a:p>
        </p:txBody>
      </p:sp>
    </p:spTree>
    <p:extLst>
      <p:ext uri="{BB962C8B-B14F-4D97-AF65-F5344CB8AC3E}">
        <p14:creationId xmlns:p14="http://schemas.microsoft.com/office/powerpoint/2010/main" val="213938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314EB9A2-02D6-4A4F-AD0A-37EF28A5016F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 开发交付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1A6D39ED-6DEC-4507-B9D2-94C4F73C305E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个人承担工作与问题闭环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7CBB546-226B-4FC3-B762-0166B3A20DDC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用一项具体改动展示：问题怎么发现、怎样修改、如何验证。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3791AF6B-F1CB-4F33-A047-8A84E73DF724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244E897-CA66-424B-B622-FCA9221FED8A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A1D3BD96-2E18-4355-84E1-8B77FB6E1434}"/>
              </a:ext>
            </a:extLst>
          </p:cNvPr>
          <p:cNvSpPr>
            <a:spLocks noGrp="1"/>
          </p:cNvSpPr>
          <p:nvPr/>
        </p:nvSpPr>
        <p:spPr>
          <a:xfrm>
            <a:off x="800100" y="2047875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案例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BA6730C-73DB-4895-97A8-85C4217A091D}"/>
              </a:ext>
            </a:extLst>
          </p:cNvPr>
          <p:cNvSpPr>
            <a:spLocks noGrp="1"/>
          </p:cNvSpPr>
          <p:nvPr/>
        </p:nvSpPr>
        <p:spPr>
          <a:xfrm>
            <a:off x="2381250" y="204787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本人做了什么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55F12FE0-2038-4FCA-9345-85A596EB52CA}"/>
              </a:ext>
            </a:extLst>
          </p:cNvPr>
          <p:cNvSpPr>
            <a:spLocks noGrp="1"/>
          </p:cNvSpPr>
          <p:nvPr/>
        </p:nvSpPr>
        <p:spPr>
          <a:xfrm>
            <a:off x="5905500" y="204787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如何证明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4227A357-CBAF-41D6-AC5C-46831A03AF15}"/>
              </a:ext>
            </a:extLst>
          </p:cNvPr>
          <p:cNvSpPr>
            <a:spLocks noGrp="1"/>
          </p:cNvSpPr>
          <p:nvPr/>
        </p:nvSpPr>
        <p:spPr>
          <a:xfrm>
            <a:off x="8858250" y="20478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结果与复盘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3225A7D-0531-4F87-A2C4-D84BD72833AD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138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代码重构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C69B54FA-F524-48BC-A3F0-760413A4449E}"/>
              </a:ext>
            </a:extLst>
          </p:cNvPr>
          <p:cNvSpPr>
            <a:spLocks noGrp="1"/>
          </p:cNvSpPr>
          <p:nvPr/>
        </p:nvSpPr>
        <p:spPr>
          <a:xfrm>
            <a:off x="2381250" y="259080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[模块 / 函数 / 关键改动]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D7895CD-32C9-41E6-8711-F78F94CB0AC0}"/>
              </a:ext>
            </a:extLst>
          </p:cNvPr>
          <p:cNvSpPr>
            <a:spLocks noGrp="1"/>
          </p:cNvSpPr>
          <p:nvPr/>
        </p:nvSpPr>
        <p:spPr>
          <a:xfrm>
            <a:off x="5905500" y="259080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[提交 / 评审 / 静态检查]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1F752978-E022-4A34-8EBE-692403B18338}"/>
              </a:ext>
            </a:extLst>
          </p:cNvPr>
          <p:cNvSpPr>
            <a:spLocks noGrp="1"/>
          </p:cNvSpPr>
          <p:nvPr/>
        </p:nvSpPr>
        <p:spPr>
          <a:xfrm>
            <a:off x="8858250" y="2590800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[解决的问题 / 遗留边界]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="" xmlns:a16="http://schemas.microsoft.com/office/drawing/2014/main" id="{D3C9FFCC-3CEF-4FF8-A4F7-8A2D6DEB87B1}"/>
              </a:ext>
            </a:extLst>
          </p:cNvPr>
          <p:cNvSpPr>
            <a:spLocks noGrp="1"/>
          </p:cNvSpPr>
          <p:nvPr/>
        </p:nvSpPr>
        <p:spPr>
          <a:xfrm>
            <a:off x="800100" y="3286125"/>
            <a:ext cx="105251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FE32910D-4C3D-46FF-AE1A-C154BFB2A2BD}"/>
              </a:ext>
            </a:extLst>
          </p:cNvPr>
          <p:cNvSpPr>
            <a:spLocks noGrp="1"/>
          </p:cNvSpPr>
          <p:nvPr/>
        </p:nvSpPr>
        <p:spPr>
          <a:xfrm>
            <a:off x="800100" y="3486150"/>
            <a:ext cx="138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缺陷修复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632F7DFA-2844-4604-A324-DC8D74C8CFF8}"/>
              </a:ext>
            </a:extLst>
          </p:cNvPr>
          <p:cNvSpPr>
            <a:spLocks noGrp="1"/>
          </p:cNvSpPr>
          <p:nvPr/>
        </p:nvSpPr>
        <p:spPr>
          <a:xfrm>
            <a:off x="2381250" y="348615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[现象 / 根因 / 修复策略]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E05419D9-D76D-45FD-AD2B-B2BECDBEC713}"/>
              </a:ext>
            </a:extLst>
          </p:cNvPr>
          <p:cNvSpPr>
            <a:spLocks noGrp="1"/>
          </p:cNvSpPr>
          <p:nvPr/>
        </p:nvSpPr>
        <p:spPr>
          <a:xfrm>
            <a:off x="5905500" y="348615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[复现步骤 / 回归记录]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8F0F3C59-652E-4A0E-9953-B6DF20443DFE}"/>
              </a:ext>
            </a:extLst>
          </p:cNvPr>
          <p:cNvSpPr>
            <a:spLocks noGrp="1"/>
          </p:cNvSpPr>
          <p:nvPr/>
        </p:nvSpPr>
        <p:spPr>
          <a:xfrm>
            <a:off x="8858250" y="3486150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[影响范围 / 回归结果]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="" xmlns:a16="http://schemas.microsoft.com/office/drawing/2014/main" id="{04767BD5-F5C3-466F-805B-5FC7BB461DC5}"/>
              </a:ext>
            </a:extLst>
          </p:cNvPr>
          <p:cNvSpPr>
            <a:spLocks noGrp="1"/>
          </p:cNvSpPr>
          <p:nvPr/>
        </p:nvSpPr>
        <p:spPr>
          <a:xfrm>
            <a:off x="800100" y="4181475"/>
            <a:ext cx="105251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9ECFDAAF-B39F-464B-B4A9-06873ADC386E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138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版本迭代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5B14FC02-5650-4535-9D5E-E90E915D1168}"/>
              </a:ext>
            </a:extLst>
          </p:cNvPr>
          <p:cNvSpPr>
            <a:spLocks noGrp="1"/>
          </p:cNvSpPr>
          <p:nvPr/>
        </p:nvSpPr>
        <p:spPr>
          <a:xfrm>
            <a:off x="2381250" y="4381500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[需求来源 / 本人职责]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B07ED8AF-7CA1-4B3B-93A9-A260AB94CB93}"/>
              </a:ext>
            </a:extLst>
          </p:cNvPr>
          <p:cNvSpPr>
            <a:spLocks noGrp="1"/>
          </p:cNvSpPr>
          <p:nvPr/>
        </p:nvSpPr>
        <p:spPr>
          <a:xfrm>
            <a:off x="5905500" y="438150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[需求追踪 / 版本记录]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06BABAD6-E91E-43DF-9E4E-3AF8D55176BC}"/>
              </a:ext>
            </a:extLst>
          </p:cNvPr>
          <p:cNvSpPr>
            <a:spLocks noGrp="1"/>
          </p:cNvSpPr>
          <p:nvPr/>
        </p:nvSpPr>
        <p:spPr>
          <a:xfrm>
            <a:off x="8858250" y="4381500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[交付结果 / 后续事项]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="" xmlns:a16="http://schemas.microsoft.com/office/drawing/2014/main" id="{F94AF884-7096-40D3-AD35-F53DBD59A41B}"/>
              </a:ext>
            </a:extLst>
          </p:cNvPr>
          <p:cNvSpPr>
            <a:spLocks noGrp="1"/>
          </p:cNvSpPr>
          <p:nvPr/>
        </p:nvSpPr>
        <p:spPr>
          <a:xfrm>
            <a:off x="800100" y="5076825"/>
            <a:ext cx="105251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7C2A4962-F487-4206-823F-242142B89847}"/>
              </a:ext>
            </a:extLst>
          </p:cNvPr>
          <p:cNvSpPr>
            <a:spLocks noGrp="1"/>
          </p:cNvSpPr>
          <p:nvPr/>
        </p:nvSpPr>
        <p:spPr>
          <a:xfrm>
            <a:off x="800100" y="5562600"/>
            <a:ext cx="103822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需本人填入真实材料：代码提交号、缺陷单、评审结论、验证记录。</a:t>
            </a:r>
          </a:p>
        </p:txBody>
      </p:sp>
    </p:spTree>
    <p:extLst>
      <p:ext uri="{BB962C8B-B14F-4D97-AF65-F5344CB8AC3E}">
        <p14:creationId xmlns:p14="http://schemas.microsoft.com/office/powerpoint/2010/main" val="87043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6476B1FB-31B2-4CF1-8981-0D2FAA86B337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  法规合规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56B9A994-90A9-4697-83E6-F7DC3D885D2E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新旧标准差异与变更注册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C79D60B6-3856-4226-95B1-407401C8524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关键变化：安全与性能要求升级，注册资料需按新标准重新评估。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58A92626-C997-4879-AC34-9CA7237A2236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1DBBD4AF-E718-4E19-BD74-712A0A9DCE1A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6FB85C62-260C-43D2-AF16-F18AA6755E18}"/>
              </a:ext>
            </a:extLst>
          </p:cNvPr>
          <p:cNvSpPr>
            <a:spLocks noGrp="1"/>
          </p:cNvSpPr>
          <p:nvPr/>
        </p:nvSpPr>
        <p:spPr>
          <a:xfrm>
            <a:off x="781050" y="1981200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标准更新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8DD58109-C499-4063-83E2-54C8AEA59526}"/>
              </a:ext>
            </a:extLst>
          </p:cNvPr>
          <p:cNvSpPr>
            <a:spLocks noGrp="1"/>
          </p:cNvSpPr>
          <p:nvPr/>
        </p:nvSpPr>
        <p:spPr>
          <a:xfrm>
            <a:off x="3143250" y="19812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05C1571D-1995-47FB-863D-0D7DF8A7FF75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新版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F6178E60-5A38-44D0-8FD7-868993281DCE}"/>
              </a:ext>
            </a:extLst>
          </p:cNvPr>
          <p:cNvSpPr>
            <a:spLocks noGrp="1"/>
          </p:cNvSpPr>
          <p:nvPr/>
        </p:nvSpPr>
        <p:spPr>
          <a:xfrm>
            <a:off x="8486775" y="1966913"/>
            <a:ext cx="2095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变化重点</a:t>
            </a:r>
            <a:endParaRPr sz="1125" b="1" dirty="0">
              <a:solidFill>
                <a:srgbClr val="63798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19C4287-8354-429E-94BC-6060DFBA453D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1952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通用安全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245BD34E-9AB9-4C13-9163-5029F4372F43}"/>
              </a:ext>
            </a:extLst>
          </p:cNvPr>
          <p:cNvSpPr>
            <a:spLocks noGrp="1"/>
          </p:cNvSpPr>
          <p:nvPr/>
        </p:nvSpPr>
        <p:spPr>
          <a:xfrm>
            <a:off x="3143250" y="240030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GB 9706.1-2007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8B0686B7-7610-4C1D-A7CE-BE4398B49291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 9706.1-2020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4845B79C-9451-47AF-9776-F1E97F6253AF}"/>
              </a:ext>
            </a:extLst>
          </p:cNvPr>
          <p:cNvSpPr>
            <a:spLocks noGrp="1"/>
          </p:cNvSpPr>
          <p:nvPr/>
        </p:nvSpPr>
        <p:spPr>
          <a:xfrm>
            <a:off x="8486775" y="2352676"/>
            <a:ext cx="300037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5560"/>
                </a:solidFill>
                <a:latin typeface="Arial"/>
                <a:ea typeface="Arial"/>
                <a:cs typeface="Arial"/>
              </a:rPr>
              <a:t>从基本安全扩展到基本安全＋基本性能</a:t>
            </a:r>
            <a:endParaRPr sz="1200" b="0" dirty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直接连接符 13">
            <a:extLst>
              <a:ext uri="{FF2B5EF4-FFF2-40B4-BE49-F238E27FC236}">
                <a16:creationId xmlns="" xmlns:a16="http://schemas.microsoft.com/office/drawing/2014/main" id="{43EFBDB1-4E47-4691-AF59-597C541750A7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05251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6E05EE74-C973-44E6-830D-F53DA03C293C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1952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电磁兼容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A8FF0192-E933-4097-8AB3-8BD5657F0FCB}"/>
              </a:ext>
            </a:extLst>
          </p:cNvPr>
          <p:cNvSpPr>
            <a:spLocks noGrp="1"/>
          </p:cNvSpPr>
          <p:nvPr/>
        </p:nvSpPr>
        <p:spPr>
          <a:xfrm>
            <a:off x="3143250" y="310515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 0505-2012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3D7D7CF2-E73D-421F-9BE0-2C8608D34DB6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 9706.102-2021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C6A397A6-4D11-40AE-9F09-33C9E67C4454}"/>
              </a:ext>
            </a:extLst>
          </p:cNvPr>
          <p:cNvSpPr>
            <a:spLocks noGrp="1"/>
          </p:cNvSpPr>
          <p:nvPr/>
        </p:nvSpPr>
        <p:spPr>
          <a:xfrm>
            <a:off x="8486775" y="3076575"/>
            <a:ext cx="27241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按新版</a:t>
            </a:r>
            <a:r>
              <a:rPr sz="1200" b="0" dirty="0">
                <a:solidFill>
                  <a:srgbClr val="415560"/>
                </a:solidFill>
                <a:latin typeface="Arial"/>
                <a:ea typeface="Arial"/>
                <a:cs typeface="Arial"/>
              </a:rPr>
              <a:t> EMC </a:t>
            </a:r>
            <a:r>
              <a:rPr sz="1200" b="0" dirty="0" err="1">
                <a:solidFill>
                  <a:srgbClr val="415560"/>
                </a:solidFill>
                <a:latin typeface="Arial"/>
                <a:ea typeface="Arial"/>
                <a:cs typeface="Arial"/>
              </a:rPr>
              <a:t>要求重新评估与验证</a:t>
            </a:r>
            <a:endParaRPr sz="1200" b="0" dirty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直接连接符 18">
            <a:extLst>
              <a:ext uri="{FF2B5EF4-FFF2-40B4-BE49-F238E27FC236}">
                <a16:creationId xmlns="" xmlns:a16="http://schemas.microsoft.com/office/drawing/2014/main" id="{552E08F5-081C-43BE-B51A-7D43AADA0D08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105251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957DC761-E229-4008-A48A-AAF0FC488379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1952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风险管理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CEFD1D24-3C62-44C7-AD8B-C12E39CA3F40}"/>
              </a:ext>
            </a:extLst>
          </p:cNvPr>
          <p:cNvSpPr>
            <a:spLocks noGrp="1"/>
          </p:cNvSpPr>
          <p:nvPr/>
        </p:nvSpPr>
        <p:spPr>
          <a:xfrm>
            <a:off x="3143250" y="381000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YY/T 0316-2016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947C7846-50E7-4CC2-80B1-BD381D29DA8C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GB/T 42062-2022</a:t>
            </a:r>
          </a:p>
          <a:p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YY/T 1437-2023 指南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BA0E4C41-C87D-4CE0-B203-603A7A25DC5D}"/>
              </a:ext>
            </a:extLst>
          </p:cNvPr>
          <p:cNvSpPr>
            <a:spLocks noGrp="1"/>
          </p:cNvSpPr>
          <p:nvPr/>
        </p:nvSpPr>
        <p:spPr>
          <a:xfrm>
            <a:off x="8486774" y="3771900"/>
            <a:ext cx="296227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5560"/>
                </a:solidFill>
                <a:latin typeface="Arial"/>
                <a:ea typeface="Arial"/>
                <a:cs typeface="Arial"/>
              </a:rPr>
              <a:t>更新风险管理依据及过程</a:t>
            </a:r>
            <a:r>
              <a:rPr sz="1200" b="0" dirty="0">
                <a:solidFill>
                  <a:srgbClr val="415560"/>
                </a:solidFill>
                <a:latin typeface="Arial"/>
                <a:ea typeface="Arial"/>
                <a:cs typeface="Arial"/>
              </a:rPr>
              <a:t>/</a:t>
            </a:r>
            <a:r>
              <a:rPr sz="1200" b="0" dirty="0" err="1">
                <a:solidFill>
                  <a:srgbClr val="415560"/>
                </a:solidFill>
                <a:latin typeface="Arial"/>
                <a:ea typeface="Arial"/>
                <a:cs typeface="Arial"/>
              </a:rPr>
              <a:t>记录</a:t>
            </a:r>
            <a:endParaRPr sz="1200" b="0" dirty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直接连接符 23">
            <a:extLst>
              <a:ext uri="{FF2B5EF4-FFF2-40B4-BE49-F238E27FC236}">
                <a16:creationId xmlns="" xmlns:a16="http://schemas.microsoft.com/office/drawing/2014/main" id="{FB7F6050-CCEE-421E-8C56-C1E6BFCCA1EA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05251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986C4E93-A145-4F67-92C0-BCE770971322}"/>
              </a:ext>
            </a:extLst>
          </p:cNvPr>
          <p:cNvSpPr>
            <a:spLocks noGrp="1"/>
          </p:cNvSpPr>
          <p:nvPr/>
        </p:nvSpPr>
        <p:spPr>
          <a:xfrm>
            <a:off x="781050" y="4714875"/>
            <a:ext cx="1714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变更注册主线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3E37846B-0320-4956-843F-B756984357F3}"/>
              </a:ext>
            </a:extLst>
          </p:cNvPr>
          <p:cNvSpPr>
            <a:spLocks noGrp="1"/>
          </p:cNvSpPr>
          <p:nvPr/>
        </p:nvSpPr>
        <p:spPr>
          <a:xfrm>
            <a:off x="2686050" y="4695825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差距分析  →  风险 / 设计更新  →  检验与资料更新  →  变更注册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31394CF1-76A5-443C-B55F-711AFD7ADCD5}"/>
              </a:ext>
            </a:extLst>
          </p:cNvPr>
          <p:cNvSpPr>
            <a:spLocks noGrp="1"/>
          </p:cNvSpPr>
          <p:nvPr/>
        </p:nvSpPr>
        <p:spPr>
          <a:xfrm>
            <a:off x="781050" y="5210175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另核对专用标准：GB 9706.218-2021（内窥镜设备）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8DE873BD-4A89-4788-880F-4DA80C6C6E0A}"/>
              </a:ext>
            </a:extLst>
          </p:cNvPr>
          <p:cNvSpPr>
            <a:spLocks noGrp="1"/>
          </p:cNvSpPr>
          <p:nvPr/>
        </p:nvSpPr>
        <p:spPr>
          <a:xfrm>
            <a:off x="781050" y="5667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注：具体适用条款、资料范围与期限由法规/注册负责人结合注册单元确认。</a:t>
            </a:r>
          </a:p>
        </p:txBody>
      </p:sp>
    </p:spTree>
    <p:extLst>
      <p:ext uri="{BB962C8B-B14F-4D97-AF65-F5344CB8AC3E}">
        <p14:creationId xmlns:p14="http://schemas.microsoft.com/office/powerpoint/2010/main" val="872372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02B29C51-89F9-4C0C-AF79-0FC8F2117F2F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09  质量意识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D6B778E6-1D3A-4691-9CBB-134D1E290D71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流程文件、验证与可追溯交付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4421A14F-C789-4EDF-8E2F-1921D03DF82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软件实现只是交付的一部分，需求、风险、测试和变更记录也要连起来。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D5C81505-2449-4B59-AD42-B8F59993EF28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7AF02AF5-63F3-4113-8E01-E7AE414357DB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="" xmlns:a16="http://schemas.microsoft.com/office/drawing/2014/main" id="{29CC197C-235A-48A4-BAF2-B2107518376D}"/>
              </a:ext>
            </a:extLst>
          </p:cNvPr>
          <p:cNvSpPr>
            <a:spLocks noGrp="1"/>
          </p:cNvSpPr>
          <p:nvPr/>
        </p:nvSpPr>
        <p:spPr>
          <a:xfrm>
            <a:off x="714375" y="2543175"/>
            <a:ext cx="1790700" cy="1057275"/>
          </a:xfrm>
          <a:prstGeom prst="roundRect">
            <a:avLst>
              <a:gd name="adj" fmla="val 10811"/>
            </a:avLst>
          </a:prstGeom>
          <a:solidFill>
            <a:srgbClr val="F6F8F9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7FE06A27-E519-4BC8-92BD-833EF9853C36}"/>
              </a:ext>
            </a:extLst>
          </p:cNvPr>
          <p:cNvSpPr>
            <a:spLocks noGrp="1"/>
          </p:cNvSpPr>
          <p:nvPr/>
        </p:nvSpPr>
        <p:spPr>
          <a:xfrm>
            <a:off x="828675" y="2667000"/>
            <a:ext cx="15621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需求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585252F-595F-4D52-B267-F57A1E1A2BBE}"/>
              </a:ext>
            </a:extLst>
          </p:cNvPr>
          <p:cNvSpPr>
            <a:spLocks noGrp="1"/>
          </p:cNvSpPr>
          <p:nvPr/>
        </p:nvSpPr>
        <p:spPr>
          <a:xfrm>
            <a:off x="828675" y="3048000"/>
            <a:ext cx="15621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来源 / 编号</a:t>
            </a:r>
          </a:p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="" xmlns:a16="http://schemas.microsoft.com/office/drawing/2014/main" id="{8C9CC111-4E02-45BD-9FE5-808D43BC6383}"/>
              </a:ext>
            </a:extLst>
          </p:cNvPr>
          <p:cNvSpPr>
            <a:spLocks noGrp="1"/>
          </p:cNvSpPr>
          <p:nvPr/>
        </p:nvSpPr>
        <p:spPr>
          <a:xfrm>
            <a:off x="2886075" y="2543175"/>
            <a:ext cx="1790700" cy="1057275"/>
          </a:xfrm>
          <a:prstGeom prst="roundRect">
            <a:avLst>
              <a:gd name="adj" fmla="val 10811"/>
            </a:avLst>
          </a:prstGeom>
          <a:solidFill>
            <a:srgbClr val="F6F8F9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CA9E6A70-CD5C-4805-A911-032A1E4D1BBF}"/>
              </a:ext>
            </a:extLst>
          </p:cNvPr>
          <p:cNvSpPr>
            <a:spLocks noGrp="1"/>
          </p:cNvSpPr>
          <p:nvPr/>
        </p:nvSpPr>
        <p:spPr>
          <a:xfrm>
            <a:off x="3000375" y="2667000"/>
            <a:ext cx="15621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设计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53BE9BA8-58C0-48F0-897C-FB4E42F7423D}"/>
              </a:ext>
            </a:extLst>
          </p:cNvPr>
          <p:cNvSpPr>
            <a:spLocks noGrp="1"/>
          </p:cNvSpPr>
          <p:nvPr/>
        </p:nvSpPr>
        <p:spPr>
          <a:xfrm>
            <a:off x="3000375" y="3048000"/>
            <a:ext cx="15621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接口 / 状态</a:t>
            </a:r>
          </a:p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="" xmlns:a16="http://schemas.microsoft.com/office/drawing/2014/main" id="{C92E46B6-BEAA-4A3C-8B5E-F3498EF603F5}"/>
              </a:ext>
            </a:extLst>
          </p:cNvPr>
          <p:cNvSpPr>
            <a:spLocks noGrp="1"/>
          </p:cNvSpPr>
          <p:nvPr/>
        </p:nvSpPr>
        <p:spPr>
          <a:xfrm>
            <a:off x="5057775" y="2543175"/>
            <a:ext cx="1790700" cy="1057275"/>
          </a:xfrm>
          <a:prstGeom prst="roundRect">
            <a:avLst>
              <a:gd name="adj" fmla="val 10811"/>
            </a:avLst>
          </a:prstGeom>
          <a:solidFill>
            <a:srgbClr val="DDECEF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BF93B145-1138-4CE5-B808-E1C49D11A9A3}"/>
              </a:ext>
            </a:extLst>
          </p:cNvPr>
          <p:cNvSpPr>
            <a:spLocks noGrp="1"/>
          </p:cNvSpPr>
          <p:nvPr/>
        </p:nvSpPr>
        <p:spPr>
          <a:xfrm>
            <a:off x="5172075" y="2667000"/>
            <a:ext cx="15621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实现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3BBB1F59-045F-4098-A254-CB365108A4DC}"/>
              </a:ext>
            </a:extLst>
          </p:cNvPr>
          <p:cNvSpPr>
            <a:spLocks noGrp="1"/>
          </p:cNvSpPr>
          <p:nvPr/>
        </p:nvSpPr>
        <p:spPr>
          <a:xfrm>
            <a:off x="5172075" y="3048000"/>
            <a:ext cx="15621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提交 / 评审</a:t>
            </a:r>
          </a:p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="" xmlns:a16="http://schemas.microsoft.com/office/drawing/2014/main" id="{CF9F5EAE-F93F-4CE7-8FAD-D90507BD60AD}"/>
              </a:ext>
            </a:extLst>
          </p:cNvPr>
          <p:cNvSpPr>
            <a:spLocks noGrp="1"/>
          </p:cNvSpPr>
          <p:nvPr/>
        </p:nvSpPr>
        <p:spPr>
          <a:xfrm>
            <a:off x="7229475" y="2543175"/>
            <a:ext cx="1790700" cy="1057275"/>
          </a:xfrm>
          <a:prstGeom prst="roundRect">
            <a:avLst>
              <a:gd name="adj" fmla="val 10811"/>
            </a:avLst>
          </a:prstGeom>
          <a:solidFill>
            <a:srgbClr val="F6F8F9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FC7B6600-120F-4B4B-BEC0-32B52710DAA8}"/>
              </a:ext>
            </a:extLst>
          </p:cNvPr>
          <p:cNvSpPr>
            <a:spLocks noGrp="1"/>
          </p:cNvSpPr>
          <p:nvPr/>
        </p:nvSpPr>
        <p:spPr>
          <a:xfrm>
            <a:off x="7343775" y="2667000"/>
            <a:ext cx="15621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3FC02CA1-C324-4D4E-B195-9208C993CBB6}"/>
              </a:ext>
            </a:extLst>
          </p:cNvPr>
          <p:cNvSpPr>
            <a:spLocks noGrp="1"/>
          </p:cNvSpPr>
          <p:nvPr/>
        </p:nvSpPr>
        <p:spPr>
          <a:xfrm>
            <a:off x="7343775" y="3048000"/>
            <a:ext cx="15621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用例 / 结果</a:t>
            </a:r>
          </a:p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="" xmlns:a16="http://schemas.microsoft.com/office/drawing/2014/main" id="{EBDA7D52-6DBD-48A5-8B50-6710103BD193}"/>
              </a:ext>
            </a:extLst>
          </p:cNvPr>
          <p:cNvSpPr>
            <a:spLocks noGrp="1"/>
          </p:cNvSpPr>
          <p:nvPr/>
        </p:nvSpPr>
        <p:spPr>
          <a:xfrm>
            <a:off x="9401175" y="2543175"/>
            <a:ext cx="1790700" cy="1057275"/>
          </a:xfrm>
          <a:prstGeom prst="roundRect">
            <a:avLst>
              <a:gd name="adj" fmla="val 10811"/>
            </a:avLst>
          </a:prstGeom>
          <a:solidFill>
            <a:srgbClr val="F6F8F9"/>
          </a:solidFill>
          <a:ln w="9525">
            <a:solidFill>
              <a:srgbClr val="B8C8C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819B39B7-01A2-43A0-A5F4-5207B085F025}"/>
              </a:ext>
            </a:extLst>
          </p:cNvPr>
          <p:cNvSpPr>
            <a:spLocks noGrp="1"/>
          </p:cNvSpPr>
          <p:nvPr/>
        </p:nvSpPr>
        <p:spPr>
          <a:xfrm>
            <a:off x="9515475" y="2667000"/>
            <a:ext cx="15621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发布维护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D3A5EDB0-3937-42B3-90BE-7A61134B0A2B}"/>
              </a:ext>
            </a:extLst>
          </p:cNvPr>
          <p:cNvSpPr>
            <a:spLocks noGrp="1"/>
          </p:cNvSpPr>
          <p:nvPr/>
        </p:nvSpPr>
        <p:spPr>
          <a:xfrm>
            <a:off x="9515475" y="3048000"/>
            <a:ext cx="15621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版本 / 变更</a:t>
            </a:r>
          </a:p>
          <a:p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cxnSp>
        <p:nvCxnSpPr>
          <p:cNvPr id="50" name="直接箭头连接符 49"/>
          <p:cNvCxnSpPr>
            <a:stCxn id="6" idx="3"/>
            <a:endCxn id="9" idx="1"/>
          </p:cNvCxnSpPr>
          <p:nvPr/>
        </p:nvCxnSpPr>
        <p:spPr>
          <a:xfrm>
            <a:off x="2505075" y="3071813"/>
            <a:ext cx="3810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1" name="直接箭头连接符 50"/>
          <p:cNvCxnSpPr>
            <a:stCxn id="9" idx="3"/>
            <a:endCxn id="12" idx="1"/>
          </p:cNvCxnSpPr>
          <p:nvPr/>
        </p:nvCxnSpPr>
        <p:spPr>
          <a:xfrm>
            <a:off x="4676775" y="3071813"/>
            <a:ext cx="3810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2" name="直接箭头连接符 51"/>
          <p:cNvCxnSpPr>
            <a:stCxn id="12" idx="3"/>
            <a:endCxn id="15" idx="1"/>
          </p:cNvCxnSpPr>
          <p:nvPr/>
        </p:nvCxnSpPr>
        <p:spPr>
          <a:xfrm>
            <a:off x="6848475" y="3071813"/>
            <a:ext cx="3810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3" name="直接箭头连接符 52"/>
          <p:cNvCxnSpPr>
            <a:stCxn id="15" idx="3"/>
            <a:endCxn id="18" idx="1"/>
          </p:cNvCxnSpPr>
          <p:nvPr/>
        </p:nvCxnSpPr>
        <p:spPr>
          <a:xfrm>
            <a:off x="9020175" y="3071813"/>
            <a:ext cx="381000" cy="0"/>
          </a:xfrm>
          <a:prstGeom prst="straightConnector1">
            <a:avLst/>
          </a:prstGeom>
          <a:ln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9EB1D4BD-C673-4E78-A557-F40D62BC4F79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已梳理资料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DBA42D21-D34D-4AF0-A4E7-E75BAE80D470}"/>
              </a:ext>
            </a:extLst>
          </p:cNvPr>
          <p:cNvSpPr>
            <a:spLocks noGrp="1"/>
          </p:cNvSpPr>
          <p:nvPr/>
        </p:nvSpPr>
        <p:spPr>
          <a:xfrm>
            <a:off x="2533650" y="4400550"/>
            <a:ext cx="8572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425" dirty="0" smtClean="0">
                <a:solidFill>
                  <a:srgbClr val="132F40"/>
                </a:solidFill>
                <a:latin typeface="Arial"/>
                <a:ea typeface="Arial"/>
                <a:cs typeface="Arial"/>
              </a:rPr>
              <a:t>胶囊板和图像记录仪</a:t>
            </a:r>
            <a:r>
              <a:rPr sz="1425" b="0" dirty="0" err="1" smtClean="0">
                <a:solidFill>
                  <a:srgbClr val="132F40"/>
                </a:solidFill>
                <a:latin typeface="Arial"/>
                <a:ea typeface="Arial"/>
                <a:cs typeface="Arial"/>
              </a:rPr>
              <a:t>软件框架</a:t>
            </a:r>
            <a:r>
              <a:rPr lang="zh-CN" altLang="en-US" sz="1425" dirty="0">
                <a:solidFill>
                  <a:srgbClr val="132F40"/>
                </a:solidFill>
                <a:latin typeface="Arial"/>
                <a:ea typeface="Arial"/>
                <a:cs typeface="Arial"/>
              </a:rPr>
              <a:t>以及</a:t>
            </a:r>
            <a:r>
              <a:rPr lang="zh-CN" altLang="en-US" sz="1425" dirty="0" smtClean="0">
                <a:solidFill>
                  <a:srgbClr val="132F40"/>
                </a:solidFill>
                <a:latin typeface="Arial"/>
                <a:ea typeface="Arial"/>
                <a:cs typeface="Arial"/>
              </a:rPr>
              <a:t>通信协议</a:t>
            </a:r>
            <a:r>
              <a:rPr sz="1425" b="0" dirty="0" smtClean="0">
                <a:solidFill>
                  <a:srgbClr val="132F40"/>
                </a:solidFill>
                <a:latin typeface="Arial"/>
                <a:ea typeface="Arial"/>
                <a:cs typeface="Arial"/>
              </a:rPr>
              <a:t>、</a:t>
            </a:r>
            <a:r>
              <a:rPr lang="zh-CN" altLang="en-US" sz="1425" b="0" dirty="0" smtClean="0">
                <a:solidFill>
                  <a:srgbClr val="132F40"/>
                </a:solidFill>
                <a:latin typeface="Arial"/>
                <a:ea typeface="Arial"/>
                <a:cs typeface="Arial"/>
              </a:rPr>
              <a:t>重构</a:t>
            </a:r>
            <a:r>
              <a:rPr lang="zh-CN" altLang="en-US" sz="1425" dirty="0">
                <a:solidFill>
                  <a:srgbClr val="132F40"/>
                </a:solidFill>
                <a:latin typeface="Arial"/>
                <a:ea typeface="Arial"/>
                <a:cs typeface="Arial"/>
              </a:rPr>
              <a:t>胶囊</a:t>
            </a:r>
            <a:r>
              <a:rPr lang="zh-CN" altLang="en-US" sz="1425" dirty="0" smtClean="0">
                <a:solidFill>
                  <a:srgbClr val="132F40"/>
                </a:solidFill>
                <a:latin typeface="Arial"/>
                <a:ea typeface="Arial"/>
                <a:cs typeface="Arial"/>
              </a:rPr>
              <a:t>板和图像记录仪板软件框架以及协议</a:t>
            </a:r>
            <a:r>
              <a:rPr sz="1425" b="0" dirty="0" smtClean="0">
                <a:solidFill>
                  <a:srgbClr val="132F40"/>
                </a:solidFill>
                <a:latin typeface="Arial"/>
                <a:ea typeface="Arial"/>
                <a:cs typeface="Arial"/>
              </a:rPr>
              <a:t>。</a:t>
            </a:r>
            <a:endParaRPr sz="1425" b="0" dirty="0">
              <a:solidFill>
                <a:srgbClr val="132F4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1512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4A0EF07D-AC66-4FA5-B537-B0A7EEE0FCFE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  协作与执行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D6ED4EE6-0309-42C7-8A6C-F7E3DA3A029D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工作方式与职业素养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D194BDF-9E96-4767-B97F-7FFA3CC1F26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把五项职业素养落到具体事件，避免只做自我评价。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A75AC407-77C5-4492-B6F3-84968EA0840F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72390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E0C48C05-5AE0-4D2F-A43A-787105C089DA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9FC1A1EC-2204-4755-9AB7-4CF80DAE7A55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571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9E29EBF1-95DE-4E8C-A5F2-A9F70AEE4787}"/>
              </a:ext>
            </a:extLst>
          </p:cNvPr>
          <p:cNvSpPr>
            <a:spLocks noGrp="1"/>
          </p:cNvSpPr>
          <p:nvPr/>
        </p:nvSpPr>
        <p:spPr>
          <a:xfrm>
            <a:off x="1543050" y="20955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F56912B9-8365-4180-9638-9DCCC145FA8A}"/>
              </a:ext>
            </a:extLst>
          </p:cNvPr>
          <p:cNvSpPr>
            <a:spLocks noGrp="1"/>
          </p:cNvSpPr>
          <p:nvPr/>
        </p:nvSpPr>
        <p:spPr>
          <a:xfrm>
            <a:off x="3733800" y="2095500"/>
            <a:ext cx="73342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[遇到复杂任务时的投入与推进例子]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="" xmlns:a16="http://schemas.microsoft.com/office/drawing/2014/main" id="{00F2006B-D009-4E70-AC4C-79AFDD2960E2}"/>
              </a:ext>
            </a:extLst>
          </p:cNvPr>
          <p:cNvSpPr>
            <a:spLocks noGrp="1"/>
          </p:cNvSpPr>
          <p:nvPr/>
        </p:nvSpPr>
        <p:spPr>
          <a:xfrm>
            <a:off x="809625" y="2524125"/>
            <a:ext cx="103346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89B7A5ED-99DA-4FFD-92A9-F6964C6D5426}"/>
              </a:ext>
            </a:extLst>
          </p:cNvPr>
          <p:cNvSpPr>
            <a:spLocks noGrp="1"/>
          </p:cNvSpPr>
          <p:nvPr/>
        </p:nvSpPr>
        <p:spPr>
          <a:xfrm>
            <a:off x="809625" y="2733675"/>
            <a:ext cx="571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FF6D19A-F50C-472E-90BD-0E2CAE80975A}"/>
              </a:ext>
            </a:extLst>
          </p:cNvPr>
          <p:cNvSpPr>
            <a:spLocks noGrp="1"/>
          </p:cNvSpPr>
          <p:nvPr/>
        </p:nvSpPr>
        <p:spPr>
          <a:xfrm>
            <a:off x="1543050" y="273367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责任心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36AB9A2F-3C8B-44BD-A3AF-ABF6B80D9CD5}"/>
              </a:ext>
            </a:extLst>
          </p:cNvPr>
          <p:cNvSpPr>
            <a:spLocks noGrp="1"/>
          </p:cNvSpPr>
          <p:nvPr/>
        </p:nvSpPr>
        <p:spPr>
          <a:xfrm>
            <a:off x="3733800" y="2733675"/>
            <a:ext cx="73342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[主动发现风险并跟踪到闭环的例子]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="" xmlns:a16="http://schemas.microsoft.com/office/drawing/2014/main" id="{BA27C3B8-8C99-4D77-8AC0-6A97134F9321}"/>
              </a:ext>
            </a:extLst>
          </p:cNvPr>
          <p:cNvSpPr>
            <a:spLocks noGrp="1"/>
          </p:cNvSpPr>
          <p:nvPr/>
        </p:nvSpPr>
        <p:spPr>
          <a:xfrm>
            <a:off x="809625" y="3162300"/>
            <a:ext cx="103346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CDB06D59-C6C2-446B-9902-6AC3C896280D}"/>
              </a:ext>
            </a:extLst>
          </p:cNvPr>
          <p:cNvSpPr>
            <a:spLocks noGrp="1"/>
          </p:cNvSpPr>
          <p:nvPr/>
        </p:nvSpPr>
        <p:spPr>
          <a:xfrm>
            <a:off x="809625" y="3371850"/>
            <a:ext cx="571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2D772418-278F-411A-990F-E0B3FDED422B}"/>
              </a:ext>
            </a:extLst>
          </p:cNvPr>
          <p:cNvSpPr>
            <a:spLocks noGrp="1"/>
          </p:cNvSpPr>
          <p:nvPr/>
        </p:nvSpPr>
        <p:spPr>
          <a:xfrm>
            <a:off x="1543050" y="33718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执行力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84FF8759-A7B7-4D72-9B29-055CA94C8131}"/>
              </a:ext>
            </a:extLst>
          </p:cNvPr>
          <p:cNvSpPr>
            <a:spLocks noGrp="1"/>
          </p:cNvSpPr>
          <p:nvPr/>
        </p:nvSpPr>
        <p:spPr>
          <a:xfrm>
            <a:off x="3733800" y="3371850"/>
            <a:ext cx="73342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[按计划完成并反馈进度的例子]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="" xmlns:a16="http://schemas.microsoft.com/office/drawing/2014/main" id="{E80D506C-98DC-44B9-A0A9-36568FD9D4EF}"/>
              </a:ext>
            </a:extLst>
          </p:cNvPr>
          <p:cNvSpPr>
            <a:spLocks noGrp="1"/>
          </p:cNvSpPr>
          <p:nvPr/>
        </p:nvSpPr>
        <p:spPr>
          <a:xfrm>
            <a:off x="809625" y="3800475"/>
            <a:ext cx="103346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37BE2B36-E7E0-4E67-9891-809AEBBCE0FF}"/>
              </a:ext>
            </a:extLst>
          </p:cNvPr>
          <p:cNvSpPr>
            <a:spLocks noGrp="1"/>
          </p:cNvSpPr>
          <p:nvPr/>
        </p:nvSpPr>
        <p:spPr>
          <a:xfrm>
            <a:off x="809625" y="4010025"/>
            <a:ext cx="571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FAADBCF9-C134-4646-9545-CB7C879F8C26}"/>
              </a:ext>
            </a:extLst>
          </p:cNvPr>
          <p:cNvSpPr>
            <a:spLocks noGrp="1"/>
          </p:cNvSpPr>
          <p:nvPr/>
        </p:nvSpPr>
        <p:spPr>
          <a:xfrm>
            <a:off x="1543050" y="401002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沟通协调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14E2E45B-BFE6-4AA2-AC1F-03A23FB350D4}"/>
              </a:ext>
            </a:extLst>
          </p:cNvPr>
          <p:cNvSpPr>
            <a:spLocks noGrp="1"/>
          </p:cNvSpPr>
          <p:nvPr/>
        </p:nvSpPr>
        <p:spPr>
          <a:xfrm>
            <a:off x="3733800" y="4010025"/>
            <a:ext cx="73342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[与测试 / 硬件 / 上位机协作案例]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="" xmlns:a16="http://schemas.microsoft.com/office/drawing/2014/main" id="{A1135807-5E61-4753-B2F0-FA8E5ABA7C97}"/>
              </a:ext>
            </a:extLst>
          </p:cNvPr>
          <p:cNvSpPr>
            <a:spLocks noGrp="1"/>
          </p:cNvSpPr>
          <p:nvPr/>
        </p:nvSpPr>
        <p:spPr>
          <a:xfrm>
            <a:off x="809625" y="4438650"/>
            <a:ext cx="103346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ADB65C7C-4871-4528-B951-ED13AE8D1E89}"/>
              </a:ext>
            </a:extLst>
          </p:cNvPr>
          <p:cNvSpPr>
            <a:spLocks noGrp="1"/>
          </p:cNvSpPr>
          <p:nvPr/>
        </p:nvSpPr>
        <p:spPr>
          <a:xfrm>
            <a:off x="809625" y="4648200"/>
            <a:ext cx="571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2A2127D3-962B-4BA3-B9C9-A412FEDD44B6}"/>
              </a:ext>
            </a:extLst>
          </p:cNvPr>
          <p:cNvSpPr>
            <a:spLocks noGrp="1"/>
          </p:cNvSpPr>
          <p:nvPr/>
        </p:nvSpPr>
        <p:spPr>
          <a:xfrm>
            <a:off x="1543050" y="46482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团队协作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A32DA3D1-0731-4EB4-B6F3-E194518FCC4E}"/>
              </a:ext>
            </a:extLst>
          </p:cNvPr>
          <p:cNvSpPr>
            <a:spLocks noGrp="1"/>
          </p:cNvSpPr>
          <p:nvPr/>
        </p:nvSpPr>
        <p:spPr>
          <a:xfrm>
            <a:off x="3733800" y="4648200"/>
            <a:ext cx="73342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[分工、互相支持与共同交付案例]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="" xmlns:a16="http://schemas.microsoft.com/office/drawing/2014/main" id="{C0276361-9B24-4F2F-A43D-B4B9635C7B2F}"/>
              </a:ext>
            </a:extLst>
          </p:cNvPr>
          <p:cNvSpPr>
            <a:spLocks noGrp="1"/>
          </p:cNvSpPr>
          <p:nvPr/>
        </p:nvSpPr>
        <p:spPr>
          <a:xfrm>
            <a:off x="809625" y="5076825"/>
            <a:ext cx="10334625" cy="0"/>
          </a:xfrm>
          <a:prstGeom prst="line">
            <a:avLst/>
          </a:prstGeom>
          <a:ln w="9525">
            <a:solidFill>
              <a:srgbClr val="B8C8CE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C7F3C30D-F938-4256-9BAF-39BA839C4DBB}"/>
              </a:ext>
            </a:extLst>
          </p:cNvPr>
          <p:cNvSpPr>
            <a:spLocks noGrp="1"/>
          </p:cNvSpPr>
          <p:nvPr/>
        </p:nvSpPr>
        <p:spPr>
          <a:xfrm>
            <a:off x="809625" y="5610225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专项任务：[任务背景]  /  [本人负责]  /  [交付时间]  /  [结果或复盘]</a:t>
            </a:r>
          </a:p>
        </p:txBody>
      </p:sp>
    </p:spTree>
    <p:extLst>
      <p:ext uri="{BB962C8B-B14F-4D97-AF65-F5344CB8AC3E}">
        <p14:creationId xmlns:p14="http://schemas.microsoft.com/office/powerpoint/2010/main" val="1447603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AE0C359-F658-48A6-BE8B-3666E076434E}"/>
              </a:ext>
            </a:extLst>
          </p:cNvPr>
          <p:cNvSpPr>
            <a:spLocks noGrp="1"/>
          </p:cNvSpPr>
          <p:nvPr/>
        </p:nvSpPr>
        <p:spPr>
          <a:xfrm>
            <a:off x="742950" y="676275"/>
            <a:ext cx="9144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总结与下一阶段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95D7A45E-C1D5-4387-8485-653EB6100026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9429750" cy="1400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从系统理解到</a:t>
            </a:r>
          </a:p>
          <a:p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可追溯交付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03028C39-D818-4779-8300-D68BCC72DED6}"/>
              </a:ext>
            </a:extLst>
          </p:cNvPr>
          <p:cNvSpPr>
            <a:spLocks noGrp="1"/>
          </p:cNvSpPr>
          <p:nvPr/>
        </p:nvSpPr>
        <p:spPr>
          <a:xfrm>
            <a:off x="800100" y="368617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下一阶段重点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34CD136-D961-4722-B7DD-927B1DA069D8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0191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补齐链路与移动场景验证；完善异常恢复和回归测试；按流程沉淀需求、风险和验证记录。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6854160F-4768-4400-AF50-0102DF43DFB8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D3E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E4E8"/>
                </a:solidFill>
                <a:latin typeface="Arial"/>
                <a:ea typeface="Arial"/>
                <a:cs typeface="Arial"/>
              </a:rPr>
              <a:t>申请转正  /  [本人补充一句具体承诺]</a:t>
            </a:r>
          </a:p>
        </p:txBody>
      </p:sp>
    </p:spTree>
    <p:extLst>
      <p:ext uri="{BB962C8B-B14F-4D97-AF65-F5344CB8AC3E}">
        <p14:creationId xmlns:p14="http://schemas.microsoft.com/office/powerpoint/2010/main" val="21180105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C0241C70B5A169830D660F2275F93DBFE8CD04C06319674EC38537FD0125B996" val="[{&quot;GradientColorId&quot;:&quot;&quot;,&quot;IsFree&quot;:true,&quot;IsGradient&quot;:false,&quot;ImagePath&quot;:&quot;&quot;,&quot;GradientColor&quot;:null,&quot;SimpleColor&quot;:&quot;#61CBF4&quot;},{&quot;GradientColorId&quot;:&quot;&quot;,&quot;IsFree&quot;:true,&quot;IsGradient&quot;:false,&quot;ImagePath&quot;:&quot;&quot;,&quot;GradientColor&quot;:null,&quot;SimpleColor&quot;:&quot;#47D45A&quot;},{&quot;GradientColorId&quot;:&quot;&quot;,&quot;IsFree&quot;:true,&quot;IsGradient&quot;:false,&quot;ImagePath&quot;:&quot;&quot;,&quot;GradientColor&quot;:null,&quot;SimpleColor&quot;:&quot;#595959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1023</Words>
  <Application>Microsoft Office PowerPoint</Application>
  <DocSecurity>0</DocSecurity>
  <PresentationFormat>宽屏</PresentationFormat>
  <Paragraphs>240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dell</cp:lastModifiedBy>
  <cp:revision>11</cp:revision>
  <dcterms:created xsi:type="dcterms:W3CDTF">2026-09-24T07:05:14Z</dcterms:created>
  <dcterms:modified xsi:type="dcterms:W3CDTF">2026-09-24T08:00:46Z</dcterms:modified>
</cp:coreProperties>
</file>