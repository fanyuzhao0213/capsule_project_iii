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02fdfccc3499a" /><Relationship Type="http://schemas.openxmlformats.org/officeDocument/2006/relationships/extended-properties" Target="/docProps/app.xml" Id="R64a53d01de2446ab" /><Relationship Type="http://schemas.openxmlformats.org/officeDocument/2006/relationships/officeDocument" Target="/ppt/presentation.xml" Id="Rafc64ba940aa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d4945c60a4e32"/>
  </p:sldMasterIdLst>
  <p:notesMasterIdLst>
    <p:notesMasterId xmlns:r="http://schemas.openxmlformats.org/officeDocument/2006/relationships" r:id="R8e7f5d9117d340ab"/>
  </p:notesMasterIdLst>
  <p:sldIdLst>
    <p:sldId xmlns:r="http://schemas.openxmlformats.org/officeDocument/2006/relationships" id="256" r:id="Rd8f82e42be5a48f3"/>
    <p:sldId xmlns:r="http://schemas.openxmlformats.org/officeDocument/2006/relationships" id="257" r:id="Rc3b7b4efbb1548bd"/>
    <p:sldId xmlns:r="http://schemas.openxmlformats.org/officeDocument/2006/relationships" id="258" r:id="Rd171cf34ac33420d"/>
    <p:sldId xmlns:r="http://schemas.openxmlformats.org/officeDocument/2006/relationships" id="259" r:id="Rb9c50eca83814b01"/>
    <p:sldId xmlns:r="http://schemas.openxmlformats.org/officeDocument/2006/relationships" id="260" r:id="R2ab43b77cabc4e64"/>
    <p:sldId xmlns:r="http://schemas.openxmlformats.org/officeDocument/2006/relationships" id="261" r:id="Rb22fd12587a04e98"/>
    <p:sldId xmlns:r="http://schemas.openxmlformats.org/officeDocument/2006/relationships" id="262" r:id="R36cb6a0d411a4f00"/>
    <p:sldId xmlns:r="http://schemas.openxmlformats.org/officeDocument/2006/relationships" id="263" r:id="Rf5e34850abd14e51"/>
    <p:sldId xmlns:r="http://schemas.openxmlformats.org/officeDocument/2006/relationships" id="264" r:id="R5952b45fe24141bf"/>
    <p:sldId xmlns:r="http://schemas.openxmlformats.org/officeDocument/2006/relationships" id="265" r:id="R4f0d4726a8b249cb"/>
    <p:sldId xmlns:r="http://schemas.openxmlformats.org/officeDocument/2006/relationships" id="266" r:id="R10ebb06643e9420a"/>
    <p:sldId xmlns:r="http://schemas.openxmlformats.org/officeDocument/2006/relationships" id="267" r:id="Ra77915b673e8456a"/>
    <p:sldId xmlns:r="http://schemas.openxmlformats.org/officeDocument/2006/relationships" id="268" r:id="R642f151d933c47d5"/>
    <p:sldId xmlns:r="http://schemas.openxmlformats.org/officeDocument/2006/relationships" id="269" r:id="R462cdfc907ca48a2"/>
    <p:sldId xmlns:r="http://schemas.openxmlformats.org/officeDocument/2006/relationships" id="270" r:id="Rb7ebb8f14cad41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7dddd5ba2442b9" /><Relationship Type="http://schemas.openxmlformats.org/officeDocument/2006/relationships/slideMaster" Target="/ppt/slideMasters/slideMaster1.xml" Id="Rf5dd4945c60a4e32" /><Relationship Type="http://schemas.openxmlformats.org/officeDocument/2006/relationships/notesMaster" Target="/ppt/notesMasters/notesMaster1.xml" Id="R8e7f5d9117d340ab" /><Relationship Type="http://schemas.openxmlformats.org/officeDocument/2006/relationships/presProps" Target="/ppt/presProps.xml" Id="R4db6bb3189b84e5d" /><Relationship Type="http://schemas.openxmlformats.org/officeDocument/2006/relationships/viewProps" Target="/ppt/viewProps.xml" Id="R6d77b0c16aa04996" /><Relationship Type="http://schemas.openxmlformats.org/officeDocument/2006/relationships/tableStyles" Target="/ppt/tableStyles.xml" Id="R1e53b7b0f58e4dd0" /><Relationship Type="http://schemas.openxmlformats.org/officeDocument/2006/relationships/slide" Target="/ppt/slides/slide1.xml" Id="Rd8f82e42be5a48f3" /><Relationship Type="http://schemas.openxmlformats.org/officeDocument/2006/relationships/slide" Target="/ppt/slides/slide2.xml" Id="Rc3b7b4efbb1548bd" /><Relationship Type="http://schemas.openxmlformats.org/officeDocument/2006/relationships/slide" Target="/ppt/slides/slide3.xml" Id="Rd171cf34ac33420d" /><Relationship Type="http://schemas.openxmlformats.org/officeDocument/2006/relationships/slide" Target="/ppt/slides/slide4.xml" Id="Rb9c50eca83814b01" /><Relationship Type="http://schemas.openxmlformats.org/officeDocument/2006/relationships/slide" Target="/ppt/slides/slide5.xml" Id="R2ab43b77cabc4e64" /><Relationship Type="http://schemas.openxmlformats.org/officeDocument/2006/relationships/slide" Target="/ppt/slides/slide6.xml" Id="Rb22fd12587a04e98" /><Relationship Type="http://schemas.openxmlformats.org/officeDocument/2006/relationships/slide" Target="/ppt/slides/slide7.xml" Id="R36cb6a0d411a4f00" /><Relationship Type="http://schemas.openxmlformats.org/officeDocument/2006/relationships/slide" Target="/ppt/slides/slide8.xml" Id="Rf5e34850abd14e51" /><Relationship Type="http://schemas.openxmlformats.org/officeDocument/2006/relationships/slide" Target="/ppt/slides/slide9.xml" Id="R5952b45fe24141bf" /><Relationship Type="http://schemas.openxmlformats.org/officeDocument/2006/relationships/slide" Target="/ppt/slides/slide10.xml" Id="R4f0d4726a8b249cb" /><Relationship Type="http://schemas.openxmlformats.org/officeDocument/2006/relationships/slide" Target="/ppt/slides/slide11.xml" Id="R10ebb06643e9420a" /><Relationship Type="http://schemas.openxmlformats.org/officeDocument/2006/relationships/slide" Target="/ppt/slides/slide12.xml" Id="Ra77915b673e8456a" /><Relationship Type="http://schemas.openxmlformats.org/officeDocument/2006/relationships/slide" Target="/ppt/slides/slide13.xml" Id="R642f151d933c47d5" /><Relationship Type="http://schemas.openxmlformats.org/officeDocument/2006/relationships/slide" Target="/ppt/slides/slide14.xml" Id="R462cdfc907ca48a2" /><Relationship Type="http://schemas.openxmlformats.org/officeDocument/2006/relationships/slide" Target="/ppt/slides/slide15.xml" Id="Rb7ebb8f14cad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dc75793aa48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1710b411e4e93" /><Relationship Type="http://schemas.openxmlformats.org/officeDocument/2006/relationships/notesMaster" Target="/ppt/notesMasters/notesMaster1.xml" Id="R8b093d5195bb4c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afa802280242ef" /><Relationship Type="http://schemas.openxmlformats.org/officeDocument/2006/relationships/notesMaster" Target="/ppt/notesMasters/notesMaster1.xml" Id="R97c14a520664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ed52b7a7c84cb1" /><Relationship Type="http://schemas.openxmlformats.org/officeDocument/2006/relationships/notesMaster" Target="/ppt/notesMasters/notesMaster1.xml" Id="R95cb6f33b91c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2b204a7654572" /><Relationship Type="http://schemas.openxmlformats.org/officeDocument/2006/relationships/notesMaster" Target="/ppt/notesMasters/notesMaster1.xml" Id="R5c91ddc3586f44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139951365e494c" /><Relationship Type="http://schemas.openxmlformats.org/officeDocument/2006/relationships/notesMaster" Target="/ppt/notesMasters/notesMaster1.xml" Id="R7b2d5d28d09f4c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401addf4e4900" /><Relationship Type="http://schemas.openxmlformats.org/officeDocument/2006/relationships/notesMaster" Target="/ppt/notesMasters/notesMaster1.xml" Id="Red9e50c2fc2f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7f5f47b7474479" /><Relationship Type="http://schemas.openxmlformats.org/officeDocument/2006/relationships/notesMaster" Target="/ppt/notesMasters/notesMaster1.xml" Id="Rcc78786c0a2c48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18a98d7754c90" /><Relationship Type="http://schemas.openxmlformats.org/officeDocument/2006/relationships/notesMaster" Target="/ppt/notesMasters/notesMaster1.xml" Id="Rde6c33c588ce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3ad31af2f646ba" /><Relationship Type="http://schemas.openxmlformats.org/officeDocument/2006/relationships/notesMaster" Target="/ppt/notesMasters/notesMaster1.xml" Id="R7e2228879e3940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4eecc98a0d4a4d" /><Relationship Type="http://schemas.openxmlformats.org/officeDocument/2006/relationships/notesMaster" Target="/ppt/notesMasters/notesMaster1.xml" Id="R76a45dc41cd2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de2ced96b4dc5" /><Relationship Type="http://schemas.openxmlformats.org/officeDocument/2006/relationships/notesMaster" Target="/ppt/notesMasters/notesMaster1.xml" Id="Rdaabcf1ae66443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945076bad24e18" /><Relationship Type="http://schemas.openxmlformats.org/officeDocument/2006/relationships/notesMaster" Target="/ppt/notesMasters/notesMaster1.xml" Id="Rb7ef8718dd7f4b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a32b01d5574f86" /><Relationship Type="http://schemas.openxmlformats.org/officeDocument/2006/relationships/notesMaster" Target="/ppt/notesMasters/notesMaster1.xml" Id="Rd1b17cee5cb04d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644b0bdab24966" /><Relationship Type="http://schemas.openxmlformats.org/officeDocument/2006/relationships/notesMaster" Target="/ppt/notesMasters/notesMaster1.xml" Id="R4a0519fe2c3b47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6d0a28f0104d34" /><Relationship Type="http://schemas.openxmlformats.org/officeDocument/2006/relationships/notesMaster" Target="/ppt/notesMasters/notesMaster1.xml" Id="Rd3c7b540207d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根据本人真实试用期工作填写此页。最好选择两到三个最能说明能力的案例，避免只说“参与了”“完成了”，需要讲清本人负责内容和证据。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/06-TYGD31旧工程框架与天线扫描.md、doc/07-新旧工程对比.md、doc/03-TX软件框架.md。该页描述代码和方案差异，不宣称未验证的功耗或成像性能提升。现方案仍需按静止、移动、弱信号场景验证前三候选和扫描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对应考核表开发与缺陷修复、技术交接与版本迭代。不要将代码存在或仓库功能描述直接当成个人贡献证据。优先放一项能展示自己判断过程的缺陷闭环案例。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手持控制器信息由用户提供：主控 STM8S103F2P6，控制 HC-04S，应用协议仅一条，用于通过蓝牙控制 PC 保存当前照片。具体按键电路、串口参数、命令码及报文格式未提供，留待本人补充。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标准来源（全国标准信息公共服务平台）：</a:t>
            </a:r>
          </a:p>
          <a:p xmlns:a="http://schemas.openxmlformats.org/drawingml/2006/main">
            <a:r>
              <a:t>GB 9706.1-2020 https://openstd.samr.gov.cn/bzgk/std/newGbInfo?hcno=74E8A9884B75808BF9369E2E25196F53</a:t>
            </a:r>
            <a:endParaRPr/>
          </a:p>
          <a:p xmlns:a="http://schemas.openxmlformats.org/drawingml/2006/main">
            <a:r>
              <a:t>YY 9706.102-2021 https://std.samr.gov.cn/hb/search/stdHBDetailed?id=BFEAFC933D025285E05397BE0A0A7BFB</a:t>
            </a:r>
          </a:p>
          <a:p xmlns:a="http://schemas.openxmlformats.org/drawingml/2006/main">
            <a:r>
              <a:t>GB 9706.218-2021 https://std.samr.gov.cn/gb/search/gbDetailed?id=D275887A544B7721E05397BE0A0AFB27</a:t>
            </a:r>
          </a:p>
          <a:p xmlns:a="http://schemas.openxmlformats.org/drawingml/2006/main">
            <a:r>
              <a:t>GB/T 42062-2022 https://std.samr.gov.cn/gb/search/gbDetailed?id=EB58F4DA9167B2A2E05397BE0A0A7D33</a:t>
            </a:r>
          </a:p>
          <a:p xmlns:a="http://schemas.openxmlformats.org/drawingml/2006/main">
            <a:r>
              <a:t>YY/T 1437-2023 https://std.samr.gov.cn/hb/search/stdHBDetailed?id=00D333A21F1A492AE06397BE0A0A2B32</a:t>
            </a:r>
          </a:p>
          <a:p xmlns:a="http://schemas.openxmlformats.org/drawingml/2006/main">
            <a:r>
              <a:t>本页“本次关注”为结合用户变更事项推导的评估方向，非标准逐条引用；GB 9706.218 的产品适用性仍由注册人确认。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用户提供的变更事实：图像记录仪板子电池更换；手持设备控制器电池由 A 换到 B，整机型号不变；图像记录仪器件改动；产品涉及耐压变化。未提供具体料号、工作电压、旧版/新版耐压值与检验结果，故在页内留空。</a:t>
            </a:r>
          </a:p>
          <a:p xmlns:a="http://schemas.openxmlformats.org/drawingml/2006/main">
            <a:r>
              <a:t>注册依据：国家药监局《医疗器械注册与备案管理办法》第79、80条，实质性变化可能影响安全有效时办理变更注册，技术审评重点针对变化部分。https://english.nmpa.gov.cn/2024-06/05/c_993242.htm</a:t>
            </a:r>
          </a:p>
          <a:p xmlns:a="http://schemas.openxmlformats.org/drawingml/2006/main">
            <a:r>
              <a:t>通用安全标准 GB 9706.1-2020：https://openstd.samr.gov.cn/bzgk/std/newGbInfo?hcno=74E8A9884B75808BF9369E2E25196F53</a:t>
            </a:r>
          </a:p>
          <a:p xmlns:a="http://schemas.openxmlformats.org/drawingml/2006/main">
            <a:r>
              <a:t>耐压试验点、数值与判定须结合产品结构及标准适用条款由测试/注册团队确定；本页不预设具体数值。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2ea90b92749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a38f45e64240c2" /><Relationship Type="http://schemas.openxmlformats.org/officeDocument/2006/relationships/slideLayout" Target="/ppt/slideLayouts/slideLayout1.xml" Id="Rd379fef0c32b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9fef0c32b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dd35fadec4fd5" /><Relationship Type="http://schemas.openxmlformats.org/officeDocument/2006/relationships/notesSlide" Target="/ppt/notesSlides/notesSlide1.xml" Id="R6b678b41355144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46a1816944a24" /><Relationship Type="http://schemas.openxmlformats.org/officeDocument/2006/relationships/notesSlide" Target="/ppt/notesSlides/notesSlide2.xml" Id="R4627eee3eff24e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834b214e4db4" /><Relationship Type="http://schemas.openxmlformats.org/officeDocument/2006/relationships/notesSlide" Target="/ppt/notesSlides/notesSlide3.xml" Id="R418cccabfe494e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e577855ef45f2" /><Relationship Type="http://schemas.openxmlformats.org/officeDocument/2006/relationships/image" Target="/ppt/media/image.png" Id="R03170364bf6c4b43" /><Relationship Type="http://schemas.openxmlformats.org/officeDocument/2006/relationships/notesSlide" Target="/ppt/notesSlides/notesSlide4.xml" Id="Rdc13b5733eff40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232dc8b3f4aea" /><Relationship Type="http://schemas.openxmlformats.org/officeDocument/2006/relationships/image" Target="/ppt/media/image2.png" Id="Rcb30290cd83c44c5" /><Relationship Type="http://schemas.openxmlformats.org/officeDocument/2006/relationships/notesSlide" Target="/ppt/notesSlides/notesSlide5.xml" Id="R43a3ab8db0ce46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e9fc111dd4006" /><Relationship Type="http://schemas.openxmlformats.org/officeDocument/2006/relationships/image" Target="/ppt/media/image3.png" Id="R30876ed5ee3948d5" /><Relationship Type="http://schemas.openxmlformats.org/officeDocument/2006/relationships/notesSlide" Target="/ppt/notesSlides/notesSlide6.xml" Id="R693744bba37a4d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e274f3d044338" /><Relationship Type="http://schemas.openxmlformats.org/officeDocument/2006/relationships/notesSlide" Target="/ppt/notesSlides/notesSlide7.xml" Id="Rd1aff5ec692249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993b837c14086" /><Relationship Type="http://schemas.openxmlformats.org/officeDocument/2006/relationships/notesSlide" Target="/ppt/notesSlides/notesSlide8.xml" Id="Rfb3aa3ab7505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6e45e73354755" /><Relationship Type="http://schemas.openxmlformats.org/officeDocument/2006/relationships/notesSlide" Target="/ppt/notesSlides/notesSlide9.xml" Id="R2e00a3d30c3941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439d99b445e2" /><Relationship Type="http://schemas.openxmlformats.org/officeDocument/2006/relationships/notesSlide" Target="/ppt/notesSlides/notesSlide10.xml" Id="R237b7be3c67644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ea0edd3c047d1" /><Relationship Type="http://schemas.openxmlformats.org/officeDocument/2006/relationships/notesSlide" Target="/ppt/notesSlides/notesSlide11.xml" Id="R79c942089ee5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62423b07b48e2" /><Relationship Type="http://schemas.openxmlformats.org/officeDocument/2006/relationships/notesSlide" Target="/ppt/notesSlides/notesSlide12.xml" Id="R357ae65f61084f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e6ad67e5f4950" /><Relationship Type="http://schemas.openxmlformats.org/officeDocument/2006/relationships/notesSlide" Target="/ppt/notesSlides/notesSlide13.xml" Id="R4ca3f00059a249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6badc078d4580" /><Relationship Type="http://schemas.openxmlformats.org/officeDocument/2006/relationships/notesSlide" Target="/ppt/notesSlides/notesSlide14.xml" Id="R5138bdbde8e44d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425415e2b4351" /><Relationship Type="http://schemas.openxmlformats.org/officeDocument/2006/relationships/notesSlide" Target="/ppt/notesSlides/notesSlide15.xml" Id="Re92c29d424fe4a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C0B3E0-60B6-4768-8A2B-E1C9836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"/>
            <a:ext cx="7620000" cy="46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61CBF4"/>
                </a:solidFill>
                <a:latin typeface="Arial"/>
                <a:ea typeface="Arial"/>
                <a:cs typeface="Arial"/>
              </a:rPr>
              <a:t>试用期转正答辩</a:t>
            </a:r>
            <a:endParaRPr b="1">
              <a:solidFill>
                <a:srgbClr val="61CB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95A0EE-2D1F-4A4B-A2D1-3A40206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  <a:endParaRPr sz="4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  <a:endParaRPr sz="4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A8FF25-E5AD-4787-97EC-45436C4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1"/>
            <a:ext cx="9525000" cy="1266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嵌入式软件工程式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/  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[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姓名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]  </a:t>
            </a:r>
            <a:endParaRPr sz="1575" b="0">
              <a:solidFill>
                <a:srgbClr val="D4E3E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  </a:t>
            </a:r>
            <a:endParaRPr sz="1575" b="0">
              <a:solidFill>
                <a:srgbClr val="D4E3E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[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研发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6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部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  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/  [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日期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6A8C5C-5A84-4CD0-9ED7-1DBCFE7B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endParaRPr sz="1275" b="0">
              <a:solidFill>
                <a:srgbClr val="A9C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5836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2721359-C819-4761-9058-A66B63A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600D3A-7EE0-4A81-9D39-F130857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9B38284-A8FD-41C8-81B8-FD257E87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6031EA-5BF8-4E98-A853-B35C6473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70C07CF-16FC-4D04-98E4-DEC31AF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292F402-FA80-4760-83EB-E760DF00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62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1610726-FADC-4B19-A176-FFCE22F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152D9CB-658B-4C3A-B921-62C78B6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930E0213-302D-470E-940D-4F35CBE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D8B94C-0DC0-4C76-A684-E5E923C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6C5A0DD-2B76-466B-A7F8-E47AAF4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FE8651-B7F0-488C-BF9E-E2FFCA57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A4D4B1D-5D9A-4621-97DD-37C827FA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C250F91-519F-4BDC-9F49-4ADBFEB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E075AFB-5093-465B-8A7E-B5A6506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C52BBC4-FF6E-4CCB-B994-CE8E643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E18F09AC-1343-488A-844E-E59AD8C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C4E47D1-75E6-4BC3-8854-5186C5F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0BC4FA-6996-487C-8B88-EC1EBB9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8879442-E15E-4661-91C4-C347B0A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7D687011-2148-4B70-B53C-77C710D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2145D0-CE78-40AF-9299-B93E6FA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AA06F65-D067-4E3A-93D1-D66C8366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5A3BD81-5683-428F-85F8-88A9A4F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9A9307F7-3659-4BEA-AFD0-EB16EE8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4B0E1C8-A842-41D0-9444-ECB3750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F80C088-61A7-49D8-99C3-EC9AA2A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208214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1070D39-8119-4B65-ACF4-ED7E01F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工作回顾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099E72-5A2B-4789-8D9D-A8C4966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42D730-507A-414B-AFC0-7067169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0389D2-1AAA-413D-A6B3-655816CD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65ABE-E344-402A-9A58-F038C64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5DFB6A9-CCC3-4AF9-8A70-D207B3B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4E5D8F6-3DAE-439F-BE66-FF9646B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859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  <a:endParaRPr sz="135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4DF952-3F7F-4BA5-A1E1-9C50549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1BB2F4-5211-44AD-B2D9-9E3CCA6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2EBA146-7A90-4C61-A0E8-7625C11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38424"/>
            <a:ext cx="3697356" cy="438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负责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YS-III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和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YS-II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的代码重构和协议重构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E0788B3-EB76-4837-9EDE-0C99C0AE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YS-III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和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YS-II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可以适配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PC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软件的最终版代码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]</a:t>
            </a:r>
            <a:endParaRPr sz="1350" b="0">
              <a:solidFill>
                <a:srgbClr val="63798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543B51C1-43F9-4CBE-86C5-749C9BD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812D8E6-F006-4189-A19D-352F05A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41B87F6-F2E1-4F2E-8939-0991D7C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43276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胶囊产品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56D239A-E9A2-445E-8450-B042F4BE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B010E17C-16B3-463C-93D5-17AC448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ED4ACBB-7ABD-4186-A8B8-5F8B9DE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828A18-4EB4-4E0D-9E73-9749411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1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B8CA82-E6F7-4F1F-AD71-5D417F35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CDD91269-12FB-47E4-BFB3-4C93218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DA16CB0-1ADC-4DB7-A2D0-E92EDFE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4E084E5-33AD-4482-B1C7-6728E00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3999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任务名称、时限、结果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C4057A-E7D1-40BF-9A0F-AD98C8A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EEF0EC96-1960-4E68-830E-FB2C7F4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70D617-12AD-4A6C-A170-3100C55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784635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9F313A9-C0B7-47D9-B3E4-FE839A6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项目理解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B5F87AC-0E46-4F9A-A2D9-0E2B762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43BB62-2B3C-4E8A-A8DC-80CDFC8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08AABE7-8B24-41F8-8E77-F7A93151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D94B92C-6B6A-4582-B8DE-17B3C3D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7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70364bf6c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549" y="1909100"/>
            <a:ext cx="10181501" cy="407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46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FF64C28-BB0A-41E2-963D-BA4ECD2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采集与编码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457A1E7-341B-4FA8-BCBC-A99D635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61645A1-6F1A-47EC-8D24-B94074C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4937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负责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配置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ov7676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，图像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采集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、压缩和缓存；nRF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负责读取与传输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E6419D-3016-4537-8030-238536B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C355E6-1C8F-4F91-8D5E-E9144C9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0290cd83c44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377" y="1781175"/>
            <a:ext cx="11736896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27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87ACF0A-2B46-43DA-B7F3-9D52781C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通信链路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F11D21-6F61-4C22-82F1-200E721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EB7468-4C0E-453C-9ACC-A7EC2A30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09540D-4B3D-4D1B-9F32-455A80F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5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76ed5ee3948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248" y="1200150"/>
            <a:ext cx="10688052" cy="5076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61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58A43211-5DBC-42AD-B68D-318A861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6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 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天线选路</a:t>
            </a:r>
            <a:endParaRPr sz="1125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201B91D5-0155-4BFF-80C9-A30FA8E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RX </a:t>
            </a: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天线扫描：旧版与新版</a:t>
            </a:r>
            <a:endParaRPr sz="2925" b="1">
              <a:solidFill>
                <a:srgbClr val="132F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8AA58FA-C46F-4580-9659-91F234A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旧版独立扫描并锁定一路；新版与 TX 协商快速 SN 广播，保留三路候选。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96ED7EF1-E275-439E-8933-08656D3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3A3F377F-E391-4CCC-AAB3-7802E3D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0B73860-4349-4F58-BBF2-A234798E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旧版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EC9AD0CF-8470-4F1F-8B43-F3A0CBF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FCE83F1F-B9D2-4C2B-97EE-F217282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9F093301-83DC-4986-B514-FFF0EC6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逐路扫描</a:t>
            </a: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9162188F-356B-4A8D-84B5-8B7AFDFF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路天线每 3 ms 切换一次</a:t>
            </a: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BA3171E8-BDE5-40F1-BD7B-69E2046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726F61D7-2673-408B-AA81-B9D2ED1D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403F71AF-83A0-4505-B730-C3AA9CE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收集 RSSI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8384C9B7-7306-4B32-A42E-D25D50C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全局累计 36 个正值，各路样本数不固定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F8B3C64-59C5-4D7B-8579-B465A0C1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90" name="圆角矩形 89">
            <a:extLst xmlns:a="http://schemas.openxmlformats.org/drawingml/2006/main">
              <a:ext uri="{FF2B5EF4-FFF2-40B4-BE49-F238E27FC236}">
                <a16:creationId xmlns:a16="http://schemas.microsoft.com/office/drawing/2014/main" id="{532A6198-927C-47A8-98EB-7DC5668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2237EF5-C8E4-4F79-BCB9-FF060D3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只选一路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CA963EA7-9E06-461B-9FBB-8ACDA4B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每路保留最强一次，选幅值最小者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3059F0F-8370-4810-BD5A-AC1E6E6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94E0D19D-D5B2-452A-99B1-D9E89AE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9A6D94B0-927A-4D82-9247-1CBBBED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锁定并监测</a:t>
            </a: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871027BB-CC87-4D16-86AC-C162568B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1200 ms 无完整图片则重新扫描</a:t>
            </a:r>
          </a:p>
        </p:txBody>
      </p:sp>
      <p:sp>
        <p:nvSpPr>
          <p:cNvPr id="97" name="圆角矩形 96">
            <a:extLst xmlns:a="http://schemas.openxmlformats.org/drawingml/2006/main">
              <a:ext uri="{FF2B5EF4-FFF2-40B4-BE49-F238E27FC236}">
                <a16:creationId xmlns:a16="http://schemas.microsoft.com/office/drawing/2014/main" id="{E602840C-2743-427B-BE56-C3A6E14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54588CD9-6704-449A-927D-CCFC8C6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寻找目标 END</a:t>
            </a: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C779FDAB-11D1-42A4-A3F5-E6BBB56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绑定后每路 8 ms；RX 发 0x12 请求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4940572E-5A16-4BCB-A627-58C3DED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2EE902F7-C0EF-47F4-A86A-5534904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50DE7277-23D0-43D6-85B5-CD524250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配合快速广播</a:t>
            </a: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43F458FD-173C-4E4B-AD3B-040C26F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暂停图片，回 0x11；每 8 ms 播 SN，最长 1800 ms</a:t>
            </a: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5BB007B8-D6ED-40BE-805C-D9DD19D0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5" name="圆角矩形 104">
            <a:extLst xmlns:a="http://schemas.openxmlformats.org/drawingml/2006/main">
              <a:ext uri="{FF2B5EF4-FFF2-40B4-BE49-F238E27FC236}">
                <a16:creationId xmlns:a16="http://schemas.microsoft.com/office/drawing/2014/main" id="{7E04B48C-78E0-4683-96FD-ACD98EC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69AFCDAE-B583-4848-9666-7CC42BE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正式扫描 12 路</a:t>
            </a: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994FC18F-C880-40D8-9880-E35C11C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 32 ms × 4 轮；只计 CRC / SN 均有效的 0x05</a:t>
            </a: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DDFFF704-C053-447A-BA1C-D614211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9" name="圆角矩形 108">
            <a:extLst xmlns:a="http://schemas.openxmlformats.org/drawingml/2006/main">
              <a:ext uri="{FF2B5EF4-FFF2-40B4-BE49-F238E27FC236}">
                <a16:creationId xmlns:a16="http://schemas.microsoft.com/office/drawing/2014/main" id="{CDE6CFD5-D3A8-43BE-887C-98F51D0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F35F2B57-5AAE-48CC-804E-C11B7D1A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3872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排序并锁定</a:t>
            </a: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06877AFE-EA15-406E-9917-F68BC99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625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均值、≥2 样本优先；前三候选依次切换</a:t>
            </a:r>
          </a:p>
        </p:txBody>
      </p:sp>
      <p:sp>
        <p:nvSpPr>
          <p:cNvPr id="112" name="矩形 111">
            <a:extLst xmlns:a="http://schemas.openxmlformats.org/drawingml/2006/main">
              <a:ext uri="{FF2B5EF4-FFF2-40B4-BE49-F238E27FC236}">
                <a16:creationId xmlns:a16="http://schemas.microsoft.com/office/drawing/2014/main" id="{9C550741-E2E2-4DF4-BAF8-DD89BA0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旧版失联：直接回到扫描</a:t>
            </a:r>
          </a:p>
        </p:txBody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9998A172-8AAA-483A-BC7F-FD046291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新版失联：先换候选；全部失败再寻 END</a:t>
            </a:r>
          </a:p>
        </p:txBody>
      </p:sp>
    </p:spTree>
    <p:extLst>
      <p:ext uri="{BB962C8B-B14F-4D97-AF65-F5344CB8AC3E}">
        <p14:creationId xmlns:p14="http://schemas.microsoft.com/office/powerpoint/2010/main" val="3315872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557D337-5F09-4F02-BF0E-6674B7D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7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 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工程重构</a:t>
            </a:r>
            <a:endParaRPr sz="1125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5E6002B-15FF-45FE-BBC1-5B0155E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/ RX 新旧工程整体对比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D0C2AFF-712C-470E-84ED-F9B1BFB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围绕取图、唤醒、等待、空闲和选路，比较代码中的实际实现。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CC703F0-5B95-4CCD-A694-CBD4891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CB34014-A3DA-4C08-A9AB-DBD5C961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D411FCE-8BED-4DD6-BF77-3A9F8F8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对比点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A690AB8-F6D7-423D-B98A-B7024BF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旧工程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C5E3FA8-1513-475A-BA2A-76AF6CB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1D3BF55-552E-4C62-99AC-D2F4AEF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图片数据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366BE52-ACB6-46BB-AC15-B1810FB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整张 JPEG 先复制到 nRF RAM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C45B112-922A-46D7-93FB-E3FA91CD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2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02377F6-F467-4841-AD2B-69BD234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发送 DATA 时按片读 CX93510 帧 RAM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CF6165C4-EC15-4D9D-A26F-8A0D3AB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3F9BE7B-514A-4204-87BC-99398D0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周期唤醒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4FD08AB-25A0-4C21-8BAA-A876686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TIMER2 固定周期唤醒；主循环 WFI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05D0A8E-F403-42C7-9529-CA442DC3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712467D-43F8-46E0-A43E-77EAD0F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RTC2 产生 500 ms 请求；空闲时 WFE</a:t>
            </a: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1C7258FA-5000-4953-8C29-B1789C6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F0E392F-7F08-4195-A940-512113E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业务等待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D222CA7-044F-45B9-AA1F-96C81A2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拍摄预热和取图轮询使用 delay_ms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19D9476-A8DE-4451-8E92-D7CBABE4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957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4BA87D1-38CD-4E31-8AA2-AFBC586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TIMER1 的 1 ms 时基推进预热、分片与 ACK</a:t>
            </a:r>
          </a:p>
        </p:txBody>
      </p:sp>
      <p:sp>
        <p:nvSpPr>
          <p:cNvPr id="49" name="直接连接符 48">
            <a:extLst xmlns:a="http://schemas.openxmlformats.org/drawingml/2006/main">
              <a:ext uri="{FF2B5EF4-FFF2-40B4-BE49-F238E27FC236}">
                <a16:creationId xmlns:a16="http://schemas.microsoft.com/office/drawing/2014/main" id="{9C3A01A1-1104-4E0B-873F-2C2DF09B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100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A1F7654-298B-474A-A086-4612FEDB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SPI 与帧 RAM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84C0DA-4A9A-4ACF-B600-3F2449C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SPI0 常开；整图搬走后关闭 PDRAM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39A4075-E1B8-454C-9630-D6C891A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624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DFD4F97-FF2B-4F2E-B7FD-293850EE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帧 RAM 保持供分片读取；事务结束关 SPIM0</a:t>
            </a: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5158DBC9-F16B-4B13-A9B1-3053DF69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B1697AD-0C46-4CF9-9240-296B429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天线选路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14DCE8F-3315-466D-8D14-3F717C9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单次最强 RSSI，锁定一路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CA37B9F2-F6B0-444B-97B1-D4C077FD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9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7B9FABB-897C-4D2D-BEA8-4AA44A4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目标 SN + CRC 过滤，均值排序，前三候选</a:t>
            </a:r>
          </a:p>
        </p:txBody>
      </p:sp>
      <p:sp>
        <p:nvSpPr>
          <p:cNvPr id="59" name="直接连接符 58">
            <a:extLst xmlns:a="http://schemas.openxmlformats.org/drawingml/2006/main">
              <a:ext uri="{FF2B5EF4-FFF2-40B4-BE49-F238E27FC236}">
                <a16:creationId xmlns:a16="http://schemas.microsoft.com/office/drawing/2014/main" id="{F769C5E5-ED94-44B8-858D-DCDE657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43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9A810EE-EF52-443F-BE06-C8E9912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76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说明：1 ms 时基用于业务调度；芯片初始化及 CX93510 内部轮询仍有短阻塞等待。</a:t>
            </a:r>
          </a:p>
        </p:txBody>
      </p:sp>
    </p:spTree>
    <p:extLst>
      <p:ext uri="{BB962C8B-B14F-4D97-AF65-F5344CB8AC3E}">
        <p14:creationId xmlns:p14="http://schemas.microsoft.com/office/powerpoint/2010/main" val="213938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14EB9A2-02D6-4A4F-AD0A-37EF28A5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开发交付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A6D39ED-6DEC-4507-B9D2-94C4F73C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个人承担工作与问题闭环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CBB546-226B-4FC3-B762-0166B3A2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用一项具体改动展示：问题怎么发现、怎样修改、如何验证。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91AF6B-F1CB-4F33-A047-8A84E73D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244E897-CA66-424B-B622-FCA9221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1D3BD96-2E18-4355-84E1-8B77FB6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案例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BA6730C-73DB-4895-97A8-85C4217A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本人做了什么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F12FE0-2038-4FCA-9345-85A596E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如何证明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27A357-CBAF-41D6-AC5C-46831A03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结果与复盘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3225A7D-0531-4F87-A2C4-D84BD72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代码重构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9B54FA-F524-48BC-A3F0-760413A4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[模块 / 函数 / 关键改动]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7895CD-32C9-41E6-8711-F78F94C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[提交 / 评审 / 静态检查]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F752978-E022-4A34-8EBE-692403B1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[解决的问题 / 遗留边界]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D3C9FFCC-3CEF-4FF8-A4F7-8A2D6DE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E32910D-4C3D-46FF-AE1A-C154BFB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缺陷修复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32F7DFA-2844-4604-A324-DC8D74C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[现象 / 根因 / 修复策略]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5419D9-D76D-45FD-AD2B-B2BECDBE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[复现步骤 / 回归记录]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F0F3C59-652E-4A0E-9953-B6DF204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[影响范围 / 回归结果]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04767BD5-F5C3-466F-805B-5FC7BB4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CFDAAF-B39F-464B-B4A9-06873AD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版本迭代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B14FC02-5650-4535-9D5E-E90E915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[需求来源 / 本人职责]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07ED8AF-7CA1-4B3B-93A9-A260AB9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[需求追踪 / 版本记录]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6BABAD6-E91E-43DF-9E4E-3AF8D55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[交付结果 / 后续事项]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F94AF884-7096-40D3-AD35-F53DBD5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C2A4962-F487-4206-823F-242142B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需本人填入真实材料：代码提交号、缺陷单、评审结论、验证记录。</a:t>
            </a:r>
          </a:p>
        </p:txBody>
      </p:sp>
    </p:spTree>
    <p:extLst>
      <p:ext uri="{BB962C8B-B14F-4D97-AF65-F5344CB8AC3E}">
        <p14:creationId xmlns:p14="http://schemas.microsoft.com/office/powerpoint/2010/main" val="870439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3E00D-7D89-4C64-AF36-4294F3B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手持控制器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555A-450C-4DBC-9158-8647A0DA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手持控制器：一键保存当前照片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75737-B0C5-49B4-AE3E-00A88821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按键触发 STM8S103F2P6，经 HC-04S 蓝牙模块向 PC 发送保存指令。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90EC6-D74E-47EF-9623-E7525A70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ADAE-80A1-4459-A61D-275F4C21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80975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3F9FA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8ED4D-AB9F-41EF-9194-21B9224E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00350"/>
            <a:ext cx="152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按键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69438-56D9-4B44-8482-9C71205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432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用户按下“保存”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2F052-AF56-4213-A424-669A6AE9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0289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B10E1-57E4-4164-9DDB-7C9743B8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43175"/>
            <a:ext cx="247650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3F9FA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57B31-F88B-4179-A6B7-199B390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STM8S103F2P6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58BBE-A01B-40D1-A180-11CE1D5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3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识别按键并发出指令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DE30D-8576-40A8-93CB-5ACD620F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763" y="30289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82958-59AE-4AEB-80DA-CCF8B3A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43175"/>
            <a:ext cx="209550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3F9FA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679B1-42CB-4777-B7D4-3EB6C62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00350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HC-04S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407D0-B2EF-47B4-9D7D-6BDD3ED6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432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蓝牙发送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DE0DD-0C40-4FAC-9F0A-766D790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C5BC3-9D65-49FE-952A-3046B78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43175"/>
            <a:ext cx="247650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E4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AF3F8-9C67-489A-8414-85B22D82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00350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 上位机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6B0B8-0A06-4BCE-A741-378C0D01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43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保存当前显示照片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885FB-6DE6-44AC-8D5C-DED272B7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339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应用命令只有 1 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8BF22-E51F-41E3-81BF-8B66F61B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保存 PC 当前照片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937AA-18DE-4C1C-81F9-C0A3F27C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57775"/>
            <a:ext cx="1038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94F3C-AE4A-456F-BD44-B5C9629F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7685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命令码 / 报文格式：[待补]    按键消抖、蓝牙断连及 PC 应答验证：[待补]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F937D-175A-47E9-8146-3856960B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62315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2EDD37-5576-4395-B5B3-351AE46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8C66E-02CF-48EE-9218-07DC8577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适用标准更新与注册依据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003CD-8976-447B-A55A-C73DFEA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按通用安全、EMC、内窥镜专用要求和风险管理逐项做差距分析。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BC5C9-5EFB-484C-AB24-B63E660B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E4445-BFA2-4D64-90D6-C2CC08E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领域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796C1-203B-4140-A258-8238D0B1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71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7B049-A000-4FFE-86D6-B07314C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716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当前依据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B16FB-D4DD-47B7-920A-4E80F8F6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本次关注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C49E7-CC3E-4C1A-AFA1-CAC0A45D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75352-D528-4E83-AC9F-ABAC292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098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BAE9E-B9D2-422E-8A01-AEEF27CF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09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1DADD-862F-410A-9606-47DBF78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9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基本性能、绝缘与耐压复核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B27D5-C3EF-4850-826B-9EBB7146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F082B-150F-4E65-9DFB-D7EF52C1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146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EBA93-D505-42B2-83BE-194D1E65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146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87038-7679-4EF4-B3BD-B6A9DBF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14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D85CC-A0BC-4BE0-9F7D-585DFB58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146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发射与抗扰度影响评价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274DC-410C-40CC-8409-D72246A9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3E9BA-AE65-4B47-979D-569E82B3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95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内窥镜专用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0C887-FC05-4B1B-988F-1304497B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195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9706.19-2000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EEBDA-7290-4ABE-A97A-E5D3487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195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9706.218-2021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98A69-27C5-4EA1-9F34-6B01B67A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确认系统及附件适用条款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F275B-C234-42E1-AF76-EE442AAB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7197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D5EC8-B8FE-4294-99C0-7DCFFE9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243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D1F2C-1A25-4DD6-A35D-D540B288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243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61E43-FE0C-422C-9ACF-3F99CB8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24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44A62-CD22-4D56-9F91-05F2C02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 YY/T 1437-2023 更新记录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3CF2E-40A5-417F-AFFE-806CEF04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DC348-C1B1-4B8E-8BF0-32A23B5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注册判断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7C724-8C1D-481C-92A2-E46121A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381625"/>
            <a:ext cx="904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标准更新与实物变更均需差距评价；变更注册范围由注册人结合安全有效性影响确认。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72301-A53B-4DD3-9BAA-8698391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2372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3DB2C-4753-473B-9B0F-4E94F17D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85AB-52AF-405E-B213-4E7E06E0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电池与器件变更的评估重点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DE740-1D9B-4ACE-B50A-FD863D54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手持控制器整机型号不变；各项变更仍需证明安全、有效和质量可控。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6444A-38A1-498F-A7AA-2575C38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F0C76-ECC5-432E-BFE0-D00A250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A62FC-E934-4B84-9183-04AD533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621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需核查的影响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2650-8B51-470E-9E08-06D1FC1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待补证据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D3CD4-4EC3-483E-B1C3-9394AFDB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图像记录仪电池更换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8D44A-D230-4601-AB25-65A09DF0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00300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供电 / 充电、保护、温升、续航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0686E-E310-4D0E-A0A9-0173F1A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[新旧电池规格对照、验证结果]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D9A36-2029-4468-B65F-1A4C8E0B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164A7-26C9-468F-9DD6-2FBA36F4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手持控制器电池 A→B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24B95-00AF-4F50-B292-FC959BA3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67075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整机型号不变；核查电气与连接兼容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5FB3D-4C7B-4EFC-821B-1CBC4B85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6707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[A/B 料号、参数、测试记录]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4ADF3-5627-4454-92F0-28364EF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924A6-8A2C-4547-857B-CA2F4E09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图像记录仪器件改动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25FB5-9AFB-4BEC-894F-5F4D348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33850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电气安全、EMC、图像性能受影响项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72C74-9390-419B-91C8-7C60BCD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[器件清单、等效分析、回归记录]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CE594-304B-4718-857B-0299321C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282E1-3B1A-47BD-A553-4BF128B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耐压变化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EF3D1-EF64-4182-8BD9-8F3CD4C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0175"/>
            <a:ext cx="900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按新版绝缘路径、试验点和判定复核；旧值→新值、样机实测：[待补]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96EAD-E060-4AF5-A333-08281A49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资料闭环：差异表、风险管理更新、针对性验证；注册路径由注册负责人判定。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869E6-D572-4EDD-BA3F-8C3412B9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307008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2B29C51-89F9-4C0C-AF79-0FC8F21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质量意识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B778E6-1D3A-4691-9CBB-134D1E2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21A14F-C789-4EDF-8E2F-1921D03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5C81505-2449-4B59-AD42-B8F5999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AF02AF5-63F3-4113-8E01-E7AE4143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29CC197C-235A-48A4-BAF2-B210751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FE06A27-E519-4BC8-92BD-833EF98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85252F-595F-4D52-B267-F57A1E1A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8C9CC111-4E02-45BD-9FE5-808D43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9E6A70-CD5C-4805-A911-032A1E4D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BE9BA8-58C0-48F0-897C-FB4E42F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92E46B6-BEAA-4A3C-8B5E-F3498EF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F93B145-1138-4CE5-B808-E1C49D11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BBB1F59-045F-4098-A254-CB36510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CF9F5EAE-F93F-4CE7-8FAD-D90507B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C7B6600-120F-4B4B-BEC0-32B5271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FC02CA1-C324-4D4E-B195-9208C993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EBDA7D52-6DBD-48A5-8B50-6710103B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9B39B7-01A2-43A0-A5F4-5207B08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3A5EDB0-3937-42B3-90BE-7A61134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74" name="直接箭头连接符 49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050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75" name="直接箭头连接符 50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767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76" name="直接箭头连接符 51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484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77" name="直接箭头连接符 52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EB1D4BD-C673-4E78-A557-F40D62B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BA42D21-D34D-4AF0-A4E7-E75BAE8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胶囊板和图像记录仪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软件框架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以及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、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重构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胶囊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板和图像记录仪板软件框架以及协议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。</a:t>
            </a:r>
            <a:endParaRPr sz="1425" b="0">
              <a:solidFill>
                <a:srgbClr val="132F4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15128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A0EF07D-AC66-4FA5-B537-B0A7EEE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协作与执行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ED4EE6-0309-42C7-8A6C-F7E3DA3A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D194BDF-9E96-4767-B97F-7FFA3CC1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75AC407-77C5-4492-B6F3-84968EA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C48C05-5AE0-4D2F-A43A-787105C0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FC1A1EC-2204-4755-9AB7-4CF80DA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E29EBF1-95DE-4E8C-A5F2-A9F70AE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56912B9-8365-4180-9638-9DCCC14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00F2006B-D009-4E70-AC4C-79AFDD29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9B7A5ED-99DA-4FFD-92A9-F6964C6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FF6D19A-F50C-472E-90BD-0E2CAE8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6AB9A2F-3C8B-44BD-A3AF-ABF6B80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BA27C3B8-8C99-4D77-8AC0-6A97134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DB06D59-C6C2-446B-9902-6AC3C89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772418-278F-411A-990F-E0B3FDED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4FF8759-A7B7-4D72-9B29-055CA94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E80D506C-98DC-44B9-A0A9-36568FD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7BE2B36-E7E0-4E67-9891-809AEBB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ADBCF9-C134-4646-9545-CB7C879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4E2E45B-BFE6-4AA2-AC1F-03A23FB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A1135807-5E61-4753-B2F0-FA8E5AB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DB65C7C-4871-4528-B951-ED13AE8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A2127D3-962B-4BA3-B9C9-A412FEDD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32DA3D1-0731-4EB4-B6F3-E194518F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C0276361-9B24-4F2F-A43D-B4B9635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7F3C30D-F938-4256-9BAF-39BA839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0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1447603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AE0C359-F658-48A6-BE8B-3666E07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D7A45E-C1D5-4387-8485-653EB61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429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3028C39-D818-4779-8300-D68BCC72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4CD136-D961-4722-B7DD-927B1DA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54160F-4768-4400-AF50-0102DF4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2118010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2026-09-24T08:20:31.2920000Z</dcterms:created>
  <dcterms:modified xsi:type="dcterms:W3CDTF">2026-09-24T08:20:31.2920000Z</dcterms:modified>
</coreProperties>
</file>