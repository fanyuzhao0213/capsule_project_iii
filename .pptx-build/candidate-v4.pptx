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7f6cc7668e4c4c" /><Relationship Type="http://schemas.openxmlformats.org/officeDocument/2006/relationships/extended-properties" Target="/docProps/app.xml" Id="R113197a23c4d46c5" /><Relationship Type="http://schemas.openxmlformats.org/officeDocument/2006/relationships/officeDocument" Target="/ppt/presentation.xml" Id="R3a5180768af54a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09fd2c30ce4326"/>
  </p:sldMasterIdLst>
  <p:notesMasterIdLst>
    <p:notesMasterId xmlns:r="http://schemas.openxmlformats.org/officeDocument/2006/relationships" r:id="Rf53bf17c59504dd8"/>
  </p:notesMasterIdLst>
  <p:sldIdLst>
    <p:sldId xmlns:r="http://schemas.openxmlformats.org/officeDocument/2006/relationships" id="256" r:id="Re07ded9138614335"/>
    <p:sldId xmlns:r="http://schemas.openxmlformats.org/officeDocument/2006/relationships" id="257" r:id="R32e584a77dae409b"/>
    <p:sldId xmlns:r="http://schemas.openxmlformats.org/officeDocument/2006/relationships" id="258" r:id="R8098cef0244e49d4"/>
    <p:sldId xmlns:r="http://schemas.openxmlformats.org/officeDocument/2006/relationships" id="259" r:id="R3a6c71a6e6fa439e"/>
    <p:sldId xmlns:r="http://schemas.openxmlformats.org/officeDocument/2006/relationships" id="260" r:id="Rc920b502cdd04dab"/>
    <p:sldId xmlns:r="http://schemas.openxmlformats.org/officeDocument/2006/relationships" id="261" r:id="R0c168bd76a304679"/>
    <p:sldId xmlns:r="http://schemas.openxmlformats.org/officeDocument/2006/relationships" id="262" r:id="Re6c856fb1f3b4e97"/>
    <p:sldId xmlns:r="http://schemas.openxmlformats.org/officeDocument/2006/relationships" id="263" r:id="R5c075dff92f84232"/>
    <p:sldId xmlns:r="http://schemas.openxmlformats.org/officeDocument/2006/relationships" id="264" r:id="R1b3aa27e3c2d4f39"/>
    <p:sldId xmlns:r="http://schemas.openxmlformats.org/officeDocument/2006/relationships" id="265" r:id="Re3411e1eb4f44921"/>
    <p:sldId xmlns:r="http://schemas.openxmlformats.org/officeDocument/2006/relationships" id="266" r:id="Rba33a1f2a2e94be8"/>
    <p:sldId xmlns:r="http://schemas.openxmlformats.org/officeDocument/2006/relationships" id="267" r:id="R33132c409dc84a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ac4c73b0474ab8" /><Relationship Type="http://schemas.openxmlformats.org/officeDocument/2006/relationships/slideMaster" Target="/ppt/slideMasters/slideMaster1.xml" Id="R2809fd2c30ce4326" /><Relationship Type="http://schemas.openxmlformats.org/officeDocument/2006/relationships/notesMaster" Target="/ppt/notesMasters/notesMaster1.xml" Id="Rf53bf17c59504dd8" /><Relationship Type="http://schemas.openxmlformats.org/officeDocument/2006/relationships/presProps" Target="/ppt/presProps.xml" Id="R3061318f4a7447f3" /><Relationship Type="http://schemas.openxmlformats.org/officeDocument/2006/relationships/tableStyles" Target="/ppt/tableStyles.xml" Id="Rf416869e02504ba5" /><Relationship Type="http://schemas.openxmlformats.org/officeDocument/2006/relationships/slide" Target="/ppt/slides/slide1.xml" Id="Re07ded9138614335" /><Relationship Type="http://schemas.openxmlformats.org/officeDocument/2006/relationships/slide" Target="/ppt/slides/slide2.xml" Id="R32e584a77dae409b" /><Relationship Type="http://schemas.openxmlformats.org/officeDocument/2006/relationships/slide" Target="/ppt/slides/slide3.xml" Id="R8098cef0244e49d4" /><Relationship Type="http://schemas.openxmlformats.org/officeDocument/2006/relationships/slide" Target="/ppt/slides/slide4.xml" Id="R3a6c71a6e6fa439e" /><Relationship Type="http://schemas.openxmlformats.org/officeDocument/2006/relationships/slide" Target="/ppt/slides/slide5.xml" Id="Rc920b502cdd04dab" /><Relationship Type="http://schemas.openxmlformats.org/officeDocument/2006/relationships/slide" Target="/ppt/slides/slide6.xml" Id="R0c168bd76a304679" /><Relationship Type="http://schemas.openxmlformats.org/officeDocument/2006/relationships/slide" Target="/ppt/slides/slide7.xml" Id="Re6c856fb1f3b4e97" /><Relationship Type="http://schemas.openxmlformats.org/officeDocument/2006/relationships/slide" Target="/ppt/slides/slide8.xml" Id="R5c075dff92f84232" /><Relationship Type="http://schemas.openxmlformats.org/officeDocument/2006/relationships/slide" Target="/ppt/slides/slide9.xml" Id="R1b3aa27e3c2d4f39" /><Relationship Type="http://schemas.openxmlformats.org/officeDocument/2006/relationships/slide" Target="/ppt/slides/slide10.xml" Id="Re3411e1eb4f44921" /><Relationship Type="http://schemas.openxmlformats.org/officeDocument/2006/relationships/slide" Target="/ppt/slides/slide11.xml" Id="Rba33a1f2a2e94be8" /><Relationship Type="http://schemas.openxmlformats.org/officeDocument/2006/relationships/slide" Target="/ppt/slides/slide12.xml" Id="R33132c409dc84a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ca81fdc52849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0477c8dd974784" /><Relationship Type="http://schemas.openxmlformats.org/officeDocument/2006/relationships/notesMaster" Target="/ppt/notesMasters/notesMaster1.xml" Id="R74027279ac2048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ef488c82284d56" /><Relationship Type="http://schemas.openxmlformats.org/officeDocument/2006/relationships/notesMaster" Target="/ppt/notesMasters/notesMaster1.xml" Id="Rf2569330ad154f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0c4eb8cdb64d73" /><Relationship Type="http://schemas.openxmlformats.org/officeDocument/2006/relationships/notesMaster" Target="/ppt/notesMasters/notesMaster1.xml" Id="Ref2d80173db643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76c34bcb3244c0" /><Relationship Type="http://schemas.openxmlformats.org/officeDocument/2006/relationships/notesMaster" Target="/ppt/notesMasters/notesMaster1.xml" Id="Rad9bd907e81d42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606153b2b54c0c" /><Relationship Type="http://schemas.openxmlformats.org/officeDocument/2006/relationships/notesMaster" Target="/ppt/notesMasters/notesMaster1.xml" Id="R4ac9682f194944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655dc53ded4828" /><Relationship Type="http://schemas.openxmlformats.org/officeDocument/2006/relationships/notesMaster" Target="/ppt/notesMasters/notesMaster1.xml" Id="R44445aaf25c84f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aee7e0b3324de4" /><Relationship Type="http://schemas.openxmlformats.org/officeDocument/2006/relationships/notesMaster" Target="/ppt/notesMasters/notesMaster1.xml" Id="R62b1378424864d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c3a3ca8a0b4ec7" /><Relationship Type="http://schemas.openxmlformats.org/officeDocument/2006/relationships/notesMaster" Target="/ppt/notesMasters/notesMaster1.xml" Id="R9cf1da30a63f4a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e5a3d35e01490d" /><Relationship Type="http://schemas.openxmlformats.org/officeDocument/2006/relationships/notesMaster" Target="/ppt/notesMasters/notesMaster1.xml" Id="R04f769bcde8d4f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e2d32aaf734f94" /><Relationship Type="http://schemas.openxmlformats.org/officeDocument/2006/relationships/notesMaster" Target="/ppt/notesMasters/notesMaster1.xml" Id="R47f7ec7dde3c45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bbda708bdc4a00" /><Relationship Type="http://schemas.openxmlformats.org/officeDocument/2006/relationships/notesMaster" Target="/ppt/notesMasters/notesMaster1.xml" Id="Ra6b69c12fd0742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794d45326d447c" /><Relationship Type="http://schemas.openxmlformats.org/officeDocument/2006/relationships/notesMaster" Target="/ppt/notesMasters/notesMaster1.xml" Id="R4f9a9513395a4e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补充姓名、岗位、部门、日期。开场建议先说试用期的主要职责，再说明胶囊项目是其中一个能体现系统理解和工程实践的案例。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内容对应答辩表五项工作内容与五项职业素养。为避免替本人编造绩效，每一项后续页都留有具体经历、数据或文件编号的填写位置。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源码依据：nrf_tx/examples/peripheral/radio/TX/ov7676.c、cx93510.c、image.c；RX 的 antenna_manager/radio_link；stm32F103RET6/stm_project/Core/Src/capsule_protocol.c、sd_storage.c。箭头和流程框均为可编辑 PowerPoint 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设备型号以当前源码为准：OV7676（不是 OV7766）。OV7676 经 CX93510 内部 I²C 主机配置，像素经并行 DVP 送到 CX93510；CX93510 在有限单帧模式下采集，JPEG 数据与帧块信息进入其帧 RAM；nRF52832 通过 SPI 读取帧信息并逐片读 JPEG。当前正式无线协议只发送原始图像块，不将旧版 IMG/CRC16 分块写法当作当前协议。来源：TX/ov7676.c、cx93510.c、image.c；doc/01-通信协议.md；doc/03-TX软件框架.md。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TX-RX 无线协议依据 doc/01-通信协议.md；RX到STM和STM到PC依据 doc/08-STM软件框架.md 与当前 capsule_protocol.c。协议字段和校验要以这些当前文件为准。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旧版源码：TYGD31-2.4GHZ/TYGD_RX/Application/antenna.c。ANTENNA_STATUS_SCAN 每3ms轮换12路，扫描函数读 radio_rssi_value&gt;0，36为全局累计样本数；每路记录最小RSSI幅值，选择单一路；ANTENNA_STATUS_DETECT每1200ms无完整图片时回到扫描。新版源码：nrf_rx/examples/peripheral/radio/receiver/antenna_manager.c 与 config.h、nrf_tx/examples/peripheral/radio/TX/image.c 与 config.h。绑定后SEEK_END每路8ms寻找目标END，在TX应答窗口发0x12；TX收到后发0x11并最多1800ms每8ms广播SN；RX正式FAST_SCAN每路32ms、4轮，总1536ms，只统计CRC正确、SN匹配的0x05包；以至少2个样本优先，再比较平均RSSI，保留前三候选。LOCKED中若目标包超时1500ms、完整图超时4000ms或连续3帧失败，先切下一候选，耗尽再SEEK_END。实际无线与移动性能仍需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依据：TYGD31-2.4GHZ/TYGD_TX/Application/domain.c、image.c、Application/antenna.c，以及当前 nrf_tx/examples/peripheral/radio/TX/main.c、image.c、cx93510.c，nrf_rx/examples/peripheral/radio/receiver/antenna_manager.c，doc/03-TX软件框架.md、doc/07-新旧工程对比.md。旧TX domain在初始化timer2后使用WFI，image_read有delay_ms(1)轮询，旧CX采集前等待25ms；SPI0正常空闲没有禁用，整幅JPEG读入image_buff后可拉低旧板PDRAM。新版RTC2负责低功耗500ms唤醒，TIMER1 1ms活动时基用于预热、分片和ACK的时间戳，主循环WFE；需要逐片读JPEG时保持CX帧RAM供电，图片事务结束关闭nRF SPIM0。不能概括为新版完全没有delay：CX93510初始化和单帧采集轮询仍使用短阻塞nrf_delay_ms。选路差异见上一页。该页只陈述实现差异，不宣称尚未测得的功耗或链路性能改进。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用于答辩概述新旧标准迁移，不替代法规评估。差异表只列标准层级的变化方向，不声称逐条条款差异。GB 9706.1-2007已废止，由GB 9706.1-2020替代；YY 0505-2012由YY 9706.102-2021替代。风险管理按用户给定背景：YY/T 0316-2016为原项目采用依据，切换至GB/T 42062-2022及YY/T 1437-2023应用指南；YY/T 1437-2023直接替代的是YY/T 1437-2016。变更注册适用性、注册单元、资料清单与过渡期限须由法规/注册负责人确认；过渡期通用政策详见国家药监局2023年第14号及官方解读。产品专用标准适用性也须确认；“9706.128”未检索到，胶囊内窥镜相关专用标准检索为GB 9706.218-2021。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官方来源：GB 9706.1-2020 https://openstd.samr.gov.cn/bzgk/std/newGbInfo?hcno=74E8A9884B75808BF9369E2E25196F53</a:t>
            </a:r>
          </a:p>
          <a:p xmlns:a="http://schemas.openxmlformats.org/drawingml/2006/main">
            <a:r>
              <a:t>GB 9706.1-2007 https://openstd.samr.gov.cn/bzgk/std/newGbInfo?hcno=6B3CB82E3FD260F2AF530E71D4836D49</a:t>
            </a:r>
          </a:p>
          <a:p xmlns:a="http://schemas.openxmlformats.org/drawingml/2006/main">
            <a:r>
              <a:t>YY 9706.102-2021 https://std.samr.gov.cn/hb/search/stdHBDetailed?id=BFEAFC933D025285E05397BE0A0A7BFB</a:t>
            </a:r>
          </a:p>
          <a:p xmlns:a="http://schemas.openxmlformats.org/drawingml/2006/main">
            <a:r>
              <a:t>GB 9706.218-2021 https://openstd.samr.gov.cn/bzgk/std/newGbInfo?hcno=963619BBF8282C5927A353D689EF4340</a:t>
            </a:r>
          </a:p>
          <a:p xmlns:a="http://schemas.openxmlformats.org/drawingml/2006/main">
            <a:r>
              <a:t>GB/T 42062-2022 https://openstd.samr.gov.cn/bzgk/std/newGbInfo?hcno=1148CB082527B776560903948B22DAB0</a:t>
            </a:r>
          </a:p>
          <a:p xmlns:a="http://schemas.openxmlformats.org/drawingml/2006/main">
            <a:r>
              <a:t>YY/T 1437-2023 https://std.samr.gov.cn/hb/search/stdHBDetailed?id=00D333A21F1A492AE06397BE0A0A2B32</a:t>
            </a:r>
          </a:p>
          <a:p xmlns:a="http://schemas.openxmlformats.org/drawingml/2006/main">
            <a:r>
              <a:t>变更注册过渡政策官方解读 https://yjj.sh.gov.cn/qtgzwj/20230316/8b076216db34470bbcc7e20d6f6ea517.html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项目仓库已有技术文档，但不能据此推断公司受控的法规标准清单、完整生命周期文档或正式验证已完成。把真实文件名、编号、版本和审核状态填入。软件生命周期要求可参照YY/T 0664-2020理解，系统级确认不应被代码测试替代。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对应职业素养的五项评分标准和10%的专项任务权重。请使用真实事件，写明时间、协作对象、个人责任、反馈方式和可验证结果。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根据本人真实试用期工作填写此页。最好选择两到三个最能说明能力的案例，避免只说“参与了”“完成了”，需要讲清本人负责内容和证据。此页已从第3页移至总结前，作为答辩内容的最后一页。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结尾请补充你愿意承担的下一阶段具体职责和可检查目标。避免承诺尚未评估过的量化指标。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dbd72781c44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c4a810681f4cdf" /><Relationship Type="http://schemas.openxmlformats.org/officeDocument/2006/relationships/slideLayout" Target="/ppt/slideLayouts/slideLayout1.xml" Id="Rd640239505fe44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40239505fe44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e6ba338754e74" /><Relationship Type="http://schemas.openxmlformats.org/officeDocument/2006/relationships/notesSlide" Target="/ppt/notesSlides/notesSlide1.xml" Id="R59df99acf2da4d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9111312db4ccc" /><Relationship Type="http://schemas.openxmlformats.org/officeDocument/2006/relationships/notesSlide" Target="/ppt/notesSlides/notesSlide2.xml" Id="Rbbcbdff5272741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a0204cd9042dd" /><Relationship Type="http://schemas.openxmlformats.org/officeDocument/2006/relationships/notesSlide" Target="/ppt/notesSlides/notesSlide3.xml" Id="Re9b1067760984d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e6c634de54541" /><Relationship Type="http://schemas.openxmlformats.org/officeDocument/2006/relationships/notesSlide" Target="/ppt/notesSlides/notesSlide4.xml" Id="R1bf5aa6065784c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eb967bdf241fe" /><Relationship Type="http://schemas.openxmlformats.org/officeDocument/2006/relationships/notesSlide" Target="/ppt/notesSlides/notesSlide5.xml" Id="R52dab0cc0b6540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f1a44c8654e1e" /><Relationship Type="http://schemas.openxmlformats.org/officeDocument/2006/relationships/notesSlide" Target="/ppt/notesSlides/notesSlide6.xml" Id="R5bf8aa6acbe840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9f3d46bc34943" /><Relationship Type="http://schemas.openxmlformats.org/officeDocument/2006/relationships/notesSlide" Target="/ppt/notesSlides/notesSlide7.xml" Id="R211d26f034024e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41dca31504ae7" /><Relationship Type="http://schemas.openxmlformats.org/officeDocument/2006/relationships/notesSlide" Target="/ppt/notesSlides/notesSlide8.xml" Id="Red74e7ffe53a4d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21589b80f4efa" /><Relationship Type="http://schemas.openxmlformats.org/officeDocument/2006/relationships/notesSlide" Target="/ppt/notesSlides/notesSlide9.xml" Id="R1938178f838246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94c0f79fa4521" /><Relationship Type="http://schemas.openxmlformats.org/officeDocument/2006/relationships/notesSlide" Target="/ppt/notesSlides/notesSlide10.xml" Id="R7aaf99ff2c2543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45c285a3d4663" /><Relationship Type="http://schemas.openxmlformats.org/officeDocument/2006/relationships/notesSlide" Target="/ppt/notesSlides/notesSlide11.xml" Id="R3065c645acce48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d1c68ebf9480c" /><Relationship Type="http://schemas.openxmlformats.org/officeDocument/2006/relationships/notesSlide" Target="/ppt/notesSlides/notesSlide12.xml" Id="Rdf1c3ad1004143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B33E2-3ECC-4F91-B583-D4952DE1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CDD2"/>
                </a:solidFill>
                <a:latin typeface="Arial"/>
                <a:ea typeface="Arial"/>
                <a:cs typeface="Arial"/>
              </a:rPr>
              <a:t>试用期转正答辩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2C26E-4EAF-4247-9459-5675C6E8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9525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工作回顾与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工程重构实践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DFED5-6AE5-458E-9669-9F80DBC8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4E3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软件开发岗位  /  [姓名]  /  [部门]  /  [日期]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1F3AD-AEC4-4E79-8CF7-E7B0C4CE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C1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C1CA"/>
                </a:solidFill>
                <a:latin typeface="Arial"/>
                <a:ea typeface="Arial"/>
                <a:cs typeface="Arial"/>
              </a:rPr>
              <a:t>磁控胶囊项目是工作案例之一，重点说明技术理解、改造思路与交付方式</a:t>
            </a:r>
          </a:p>
        </p:txBody>
      </p:sp>
    </p:spTree>
    <p:extLst>
      <p:ext uri="{BB962C8B-B14F-4D97-AF65-F5344CB8AC3E}">
        <p14:creationId xmlns:p14="http://schemas.microsoft.com/office/powerpoint/2010/main" val="8743230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96E8AD-6F42-42E1-8C6A-B0FE5B56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  工作总览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1CA53-DFD5-46FF-A48C-4DD06F63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试用期工作内容与考核表对应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0C638-DDF6-463D-A0E9-D8F66F85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答辩主线围绕“理解工作、完成任务、形成交付、持续改进”。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21002-E19F-417B-AE9D-136D4429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D083A-FEC2-4499-96BC-E36BAEC7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BC581-99F3-47AA-A251-4F37A0CD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621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5C8D2-27F9-4EC2-9DDC-472C667C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621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产品与系统理解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40468-61B8-4F4C-BA9A-B77EAFD1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621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产品构成、主控流程、通信链路和异常路径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04EB1-B355-4F60-8155-9F0CC70C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5CAC3-4B06-4F57-B8E6-3FF9F0C8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479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944EB-E55C-45B4-A9E3-CB5AF31C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479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代码开发与缺陷修复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0F8ABD-CDF3-4E5A-902F-D7E5EC45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479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按规范开发、定位问题、控制修改影响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85765-DD2C-47AF-BDEA-A787777E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D00B6-98FD-466F-BCB8-8D0599B4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337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325E5-2F98-47DE-96A5-8B192E3C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337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交接与版本迭代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D25DF2-2717-401C-B0D9-CA713D6F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3337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接收资料，承担功能维护与迭代，配合验证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56951-40E3-4013-91F6-BCFF82DF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68BA39-F64C-4269-9880-96DF29D6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195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C5A2E8-A507-4151-B286-622E3F38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195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法规标准与软件文档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22D20-D0AD-431D-B5BD-97C99D7D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195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理解适用标准，按流程输出可追溯资料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B18CA3-210C-49FA-8234-6FB3B25F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D7D92F-5BEA-4E82-ABB3-14BB4C43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053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4EA066-390A-4D8D-9544-4227F9A4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053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专项任务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F581F5-AE71-4877-AC5B-4FEA128F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053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按期处理临时任务，及时反馈风险和进度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B327A4-7597-4660-AB96-BE83583B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AECE87-EDD4-4844-8888-5EB55B1C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816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职业素养（20%）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F86142-F6D2-4B8F-BAFB-F7A62A6F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816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工作态度　责任心　执行力　沟通协调　团队协作</a:t>
            </a:r>
          </a:p>
        </p:txBody>
      </p:sp>
    </p:spTree>
    <p:extLst>
      <p:ext uri="{BB962C8B-B14F-4D97-AF65-F5344CB8AC3E}">
        <p14:creationId xmlns:p14="http://schemas.microsoft.com/office/powerpoint/2010/main" val="6619715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32850A-6560-4C1E-811A-0B485764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  项目理解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A0B55-D607-44BA-A00B-88733E62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产品系统与图像数据链路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EBD27-B46D-4EA0-AF04-6EBBBD24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胶囊端采图与编码，接收端选天线和转发，STM32 校验后送 PC 与 SD。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A89A0-03F5-45C2-9074-368FBF5C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F934C-1E1C-4686-BE11-4571AB67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AEC36-4EE5-4977-8080-2103D421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5E27E-D396-45D4-9C85-6F075115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OV7676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84FC2-246F-4DDD-BFF4-BB8BE2B6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图像传感器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480×480 YUV422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C4074-6F4E-41F0-AD95-059FF1CC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95D7F-EA8E-4CDC-9C91-C67C7D4A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CX93510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F8A68-9D69-4F00-A6A3-06AE83FD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采集同步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JPEG 压缩 / 帧 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F1C6B-B5A8-468D-B5F5-492CABAC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932CF-50D3-4DD8-8B65-163CDAB3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nRF TX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48160-8F57-436C-8749-6F24CE2C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SPI 读帧 RAM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分片无线发送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24395-FB89-4C85-86BC-8E2D1C7D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712A4-DA53-433A-B68F-0D5FAFBC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nRF RX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390E1-ABC1-4753-B126-DE0353D5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12 路天线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选路 / 收包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25470-67D1-4827-9415-CDD80FB6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B434E-390D-4C07-BB0F-AA47EF87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STM32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78637C-87F0-4CCA-91E9-B5401A2C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USART2 解析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校验 / 转发 / SD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A35636-FEAB-435A-971A-74ABA127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64FA7B-B2DD-4C94-A716-EB467F9E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PC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3EAD6B-CE60-4F0E-8E20-9A243A04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图像显示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设备信息 / 文件</a:t>
            </a:r>
          </a:p>
        </p:txBody>
      </p:sp>
      <p:cxnSp>
        <p:nvCxnSpPr>
          <p:cNvPr id="63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152650" y="31146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D28B73-C5CA-4309-A2D5-88822B94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9337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DVP 并行</a:t>
            </a:r>
          </a:p>
        </p:txBody>
      </p:sp>
      <p:cxnSp>
        <p:nvCxnSpPr>
          <p:cNvPr id="65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67175" y="31146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69852E-8CC2-4C6A-883C-40A92C1F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337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主机 SPI</a:t>
            </a:r>
          </a:p>
        </p:txBody>
      </p:sp>
      <p:cxnSp>
        <p:nvCxnSpPr>
          <p:cNvPr id="67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981700" y="31146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FCA7F9-D3FD-4E48-B1F4-BCF76CF2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337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2.4 GHz Radio</a:t>
            </a:r>
          </a:p>
        </p:txBody>
      </p:sp>
      <p:cxnSp>
        <p:nvCxnSpPr>
          <p:cNvPr id="69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896225" y="31146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96DC35-8FEA-4DD0-8813-AA571200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337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USART2</a:t>
            </a:r>
          </a:p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 Mbit/s</a:t>
            </a:r>
          </a:p>
        </p:txBody>
      </p:sp>
      <p:cxnSp>
        <p:nvCxnSpPr>
          <p:cNvPr id="71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810750" y="31146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F7AC72-1FFA-4B25-B587-54646F2F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337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USART3</a:t>
            </a:r>
          </a:p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921600 bit/s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1623D3-7E15-4F65-B296-2592D6D3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数据归属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5E181D-6BAE-4058-A887-EDDCF3CC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005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像素流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5C280E-A1C3-4FC1-8EA5-84724B69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00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JPEG 帧数据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5DA5E6-48A4-40C9-B417-EF95F133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4005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固定长度无线包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B5C714-6FF5-4EC5-AC88-5C9EAD48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4005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校验后的图片帧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31C0DC-CB78-4AB5-9ABA-6C1D725D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SD 卡保存固定长度 .YS 记录，PC 可接收实时图像并查看历史记录。</a:t>
            </a:r>
          </a:p>
        </p:txBody>
      </p:sp>
    </p:spTree>
    <p:extLst>
      <p:ext uri="{BB962C8B-B14F-4D97-AF65-F5344CB8AC3E}">
        <p14:creationId xmlns:p14="http://schemas.microsoft.com/office/powerpoint/2010/main" val="21461037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0DAE4C-EAD7-48BA-B8C8-6A42AB4E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  采集与编码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DDD36-A8DB-4B22-AA1C-37083316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图像怎样变成可发送的 JPEG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63646-3580-4607-A6BA-5696FDAC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关键边界：OV7676 输出原始像素；CX93510 负责采集、压缩和缓存；nRF 负责读取与传输。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E69B0-1908-49BD-830E-C9C1698B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3B74E-93C2-45C2-88EF-A9DBE2A7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918A8-0E56-4A7F-8A74-D8E5A1B5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05075"/>
            <a:ext cx="2428875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8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B430C-F05F-4AAF-B41D-652EA295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628900"/>
            <a:ext cx="2200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OV7676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4B45F-B217-4820-AFE3-ECF992B0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09900"/>
            <a:ext cx="22002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曝光成像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并行 DVP 输出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YUV422：Y0/U/Y1/V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9EFFD-E35C-46BD-A567-1661E418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05075"/>
            <a:ext cx="2762250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DDECEF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B111C-358F-4ED8-8B69-2C3218C9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2890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CX93510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9AD3C-EFB4-4D95-ADE4-8BB52646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09900"/>
            <a:ext cx="25336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DVP 同步采集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JPEG 编码器处理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结果写入帧 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68137-451B-4A11-898A-35749223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05075"/>
            <a:ext cx="2714625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8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FE59F-5880-4A7F-A041-B1562CCC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2486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nRF52832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72129-D2E2-43B1-AD2A-634BA0FB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24860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通过 SPI 访问 CX93510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读取帧块状态、地址和长度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每个 DATA 分片按需取数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38500" y="337661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56782-A76F-49B3-9C3D-374FFC93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575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DVP 像素流</a:t>
            </a:r>
          </a:p>
        </p:txBody>
      </p: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524750" y="3376613"/>
            <a:ext cx="1219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6ED15B-65D3-4AB3-AC60-4E62F495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575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SPI 读帧 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933D04-0B15-4391-9FD6-631628D1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控制路径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DE9D27-92C0-40C4-A200-C1CF0E43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8120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nRF 通过 CX93510 的 I²C 代理配置 OV7676，读回关键寄存器确认输出格式。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F8B3A-9255-414B-97B0-939943C0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910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采集顺序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2FFDC9-4587-4EE1-8075-2E15E893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91075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唤醒摄像头并预热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ED500D-549E-4F65-B3D6-A290C3BF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910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启动单帧采集与 JPEG 压缩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46799-63A2-40AF-AAA0-D0C2C5CA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91075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JPEG 留在帧 RAM，nRF 分片读取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37D51-C8FC-46EE-9935-AAA8C55A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34025"/>
            <a:ext cx="10525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当前 TX 不把整张 JPEG 复制到 nRF 的 image_buff[]；发送 DATA 时从 CX93510 帧 RAM 读取对应区间。</a:t>
            </a:r>
          </a:p>
        </p:txBody>
      </p:sp>
    </p:spTree>
    <p:extLst>
      <p:ext uri="{BB962C8B-B14F-4D97-AF65-F5344CB8AC3E}">
        <p14:creationId xmlns:p14="http://schemas.microsoft.com/office/powerpoint/2010/main" val="12277637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29228F-DF4C-4EC4-BD5B-F0C7F4A1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  通信链路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FDF73-4CEA-4FE8-8607-EC380E4E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无线传输、接收与 PC 转发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18C78-D79E-4790-BFC8-03B22614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各段使用不同帧格式，排查问题时先确认数据停在哪条链路。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3A53B-DAB5-461D-8139-827A0D7D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034A4-9115-480A-92D2-D5021729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8DDC8-ACA7-4E38-8C21-39AE9C5B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B364A-B142-47C3-A641-1C86F609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nRF TX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33A46-486B-4317-B7B3-423D0C44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22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BEGIN / DATA / END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每包 254 B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DATA 最多 242 B 图像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ED6E6-236D-4942-8516-0ACC3318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574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78038-331C-4555-8A88-65A3D74D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812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nRF RX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45E4F-7898-47C3-AEFB-ADCD282B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622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CRC 与 SN 匹配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12 路天线选路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无线包经 UART 转发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829BE-3681-4EBF-B3BC-07DAF0EC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5CDFF-5AC6-4301-8640-4E02673C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812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STM32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6FC23-4BCC-4A9E-A330-6C6549A8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622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USART2 流式解析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长度 / Checksum 校验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补 DeviceInfo / JPEG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A37AD-5F78-49E2-8F76-F8688EE9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4574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F58C5-D53A-49CB-8025-358EED02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812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PC + SD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5F19C7-B35C-40B6-9FAB-5D0FEC25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622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USART3 DMA 发 PC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SD 写入 20064 B 记录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 10 次成功写入同步</a:t>
            </a:r>
          </a:p>
        </p:txBody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30861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FF5A63-B39C-41BF-B75B-71165A92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95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Radio</a:t>
            </a:r>
          </a:p>
        </p:txBody>
      </p:sp>
      <p:cxnSp>
        <p:nvCxnSpPr>
          <p:cNvPr id="4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67375" y="30861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7DD5A8-7433-4ABB-B9C5-BC3D996D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95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USART2</a:t>
            </a:r>
          </a:p>
        </p:txBody>
      </p: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62950" y="30861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AAD941-C1C8-47D7-A6E0-2CCA0C91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956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USART3 / SDIO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2DD540-1EE2-41CF-9A77-C712B48A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RX → STM 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999606-DBB3-4CCA-97DD-38AB3EDE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19600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F40"/>
                </a:solidFill>
                <a:latin typeface="Arial"/>
                <a:ea typeface="Arial"/>
                <a:cs typeface="Arial"/>
              </a:rPr>
              <a:t>FF 55 12 34 81 + 长度 + 128 B DeviceInfo + JPEG + 校验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828A4D-51D9-4CED-9484-58C0278A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STM → PC 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14E79E-9B4C-4511-AA44-1022CDC7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958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F40"/>
                </a:solidFill>
                <a:latin typeface="Arial"/>
                <a:ea typeface="Arial"/>
                <a:cs typeface="Arial"/>
              </a:rPr>
              <a:t>ZAYS 81 + 长度 + JPEG + DeviceInfo + 校验；图片按四段 DMA 顺序发送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717048-9D8F-41C5-B720-1073B2BB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无线协议 / UART 帧头 / SD 记录格式不能混为同一种“胶囊协议”。</a:t>
            </a:r>
          </a:p>
        </p:txBody>
      </p:sp>
    </p:spTree>
    <p:extLst>
      <p:ext uri="{BB962C8B-B14F-4D97-AF65-F5344CB8AC3E}">
        <p14:creationId xmlns:p14="http://schemas.microsoft.com/office/powerpoint/2010/main" val="11210813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4D1396-CAF7-43B9-BDAF-830D79F0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05  天线选路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5AB6F-DDBA-472C-9963-7986D667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RX 天线扫描：旧版与新版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C6D71-C384-4876-881E-1803D68E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旧版独立扫描并锁定一路；新版与 TX 协商快速 SN 广播，保留三路候选。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23329-D58D-40A7-989B-1A22726A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3E465-E8DA-46F0-9E6E-08A92D59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CD39F-30E9-4963-A640-D3CCC274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TYGD31 旧版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29734-EECF-412F-A090-91533419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当前工程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3BEC8-E9EF-41E1-8944-8986E1E1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481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B085C-DDD5-4AA4-9F3F-88CCC1DB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450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逐路扫描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15235-C67B-488C-BD92-9A52D23B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450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12 路天线每 3 ms 切换一次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C01F2-67AC-420A-A6C4-35206FDA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765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9398B-1C3B-4F13-AC73-4AA06D79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81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E9113-848F-46CF-B6E4-A99CEA6D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450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收集 RSSI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368E9-532F-4923-A134-04E4E9AC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29025"/>
            <a:ext cx="450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全局累计 36 个正值，各路样本数不固定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2BB915-4424-4555-831F-466F898E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9433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F698FB-CF12-45D2-AF30-C3F1289F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481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02983C-A624-4C37-B4FC-2A6E4363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450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只选一路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2D725E-E581-4473-96E5-7D716A18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450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每路保留最强一次，选幅值最小者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7B46FD-C2EE-4874-A606-44A46479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101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9D7765-1794-4428-B04F-382C6ADE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81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DE085C-ED08-4150-9935-74C86739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38725"/>
            <a:ext cx="450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锁定并监测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40787-9063-4BF4-9411-DF625130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62575"/>
            <a:ext cx="450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1200 ms 无完整图片则重新扫描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4F1757-305D-459B-91F0-4A1B0558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52675"/>
            <a:ext cx="502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A32444-DB6D-4E14-95A9-830E3ABD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寻找目标 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AF16FC-B1D8-4FC7-BB5F-11F94B96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绑定后每路 8 ms；RX 发 0x12 请求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825E28-F0F2-499F-8D26-072B4977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765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DA7F04-327B-4001-AF17-702CD054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502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C0302B-F639-46E4-B5C6-3465A435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05175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TX 配合快速广播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A977B0-050E-4831-8180-6EE26270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2902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暂停图片，回 0x11；每 8 ms 播 SN，最长 1800 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45B870-CC05-43DD-A193-BFFA047F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FA0551-9355-4078-9F68-4311B800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502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9349C5-3635-4454-AF5E-9DCC8188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正式扫描 12 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CA9782-993E-4662-84C0-C5E04161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958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每路 32 ms × 4 轮；只计 CRC / SN 均有效的 0x05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43300F-F0F3-4313-97A3-4E6A11E9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101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36FAC4-EF7B-4E61-9850-3864EC43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02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DECEF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9F4BEB-B27B-479E-80C8-2F4C34D5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38725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排序并锁定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FE41B3-60B1-42D4-A38A-ADB5EAB0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6257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均值、≥2 样本优先；前三候选依次切换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3EDA7C-A6D5-422B-8833-8BB00486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旧版失联：直接回到扫描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C29EAD-D664-43B8-87D7-E37006FB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055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新版失联：先换候选；全部失败再寻 END</a:t>
            </a:r>
          </a:p>
        </p:txBody>
      </p:sp>
    </p:spTree>
    <p:extLst>
      <p:ext uri="{BB962C8B-B14F-4D97-AF65-F5344CB8AC3E}">
        <p14:creationId xmlns:p14="http://schemas.microsoft.com/office/powerpoint/2010/main" val="4240433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D483D1-A2A0-474A-BBDD-48F5BB61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06  工程重构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06737-805F-48AF-A625-99FB310E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TX / RX 新旧工程整体对比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8E640-9C72-456F-878B-F4B15F0E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围绕取图、唤醒、等待、空闲和选路，比较代码中的实际实现。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B72E0-BCA2-455A-A8F7-E049B050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CABD1-860C-4D78-9EDD-27C73FEA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23329-CD4C-43A5-9FE2-C0DA04CA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526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对比点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03921-3B65-4C73-BC40-A5128E37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5262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TYGD31 旧工程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D88D7-D5F3-4D8C-BE17-EC07DDCD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52625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当前工程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55118-B812-46FA-9E96-DFB8B7E8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4315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图片数据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60F55-9F75-4546-9693-B027B6B3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431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整张 JPEG 先复制到 nRF 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35489-60D1-4BCD-AB57-4F26B0C0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6220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A3516-77BA-42CE-A523-AA1181EB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发送 DATA 时按片读 CX93510 帧 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B0876-754C-435F-94FC-8299D987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765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62FEE-A681-41A0-9E2D-74E6EFAF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0990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周期唤醒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8688A-201D-4C86-93F1-9B33B258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099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TIMER2 固定周期唤醒；主循环 WFI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2E3AF-C9CD-41D5-BF2E-CA18366B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02895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86D2FC-A576-49CA-83DA-8EF2387A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99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RTC2 产生 500 ms 请求；空闲时 WFE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11D6D-C080-420A-B742-D08EF1E8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4330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3DF3F4-441C-440D-B8B9-F48BFBC2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7665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业务等待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26D00-3C5E-458F-9906-3D3BB086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766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拍摄预热和取图轮询使用 delay_ms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76F649-9651-4D75-B44E-69C10055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9570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595478-12DE-4B17-B719-40D234B9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766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TIMER1 的 1 ms 时基推进预热、分片与 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5BC8BB-23DE-4AEC-9EF9-93300836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100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BB0EFA-EDD9-4357-947A-2E19AF4B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4340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SPI 与帧 RAM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944FBF-EDEB-42B1-ACD3-CA8BBF22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434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SPI0 常开；整图搬走后关闭 PDRAM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901714-B085-40BB-927D-F4DD1F7C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36245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B08727-0918-472F-9125-7AA03A44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434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帧 RAM 保持供分片读取；事务结束关 SPIM0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B0E85D-D18C-4B01-8053-3AD267E0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7680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A80212-6B0C-4CC0-880F-F0364077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015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天线选路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39B8B8-A1D3-41BB-8EAE-B2FEFCDA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101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单次最强 RSSI，锁定一路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2C65E3-2936-4F65-894A-1B0D1E0D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02920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A1B1CC-DEA2-47B8-9691-720D0DD8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101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目标 SN + CRC 过滤，均值排序，前三候选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BCC08E-1A62-46FB-B6C3-A1F31D3A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435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A147AD-6B6C-4BB2-97DA-1288DC84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769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说明：1 ms 时基用于业务调度；芯片初始化及 CX93510 内部轮询仍有短阻塞等待。</a:t>
            </a:r>
          </a:p>
        </p:txBody>
      </p:sp>
    </p:spTree>
    <p:extLst>
      <p:ext uri="{BB962C8B-B14F-4D97-AF65-F5344CB8AC3E}">
        <p14:creationId xmlns:p14="http://schemas.microsoft.com/office/powerpoint/2010/main" val="20244053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F16A3F-B61E-43EB-8A47-4E4E3C1C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07  法规合规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9A1A7-F717-443F-9795-FDC315AC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新旧标准差异与变更注册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464D3-372A-4794-9CE6-048B3661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关键变化：安全与性能要求升级，注册资料需按新标准重新评估。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1EDFE-0949-4C03-BA85-8A2882BA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2FDF1-A30F-4BB7-923A-A3124422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760F6-B8A4-4069-AA71-8E5C56C4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标准更新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4C53F-54F4-4F08-AADE-DA7805C0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旧版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7DD7F-20F9-4E14-9C1D-26F320CD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新版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65E50-7BBB-4F88-BC7A-41BDE006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812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变化重点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F5CD4-9005-4370-94C9-B1D7C398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通用安全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23FF9-A5BF-40D7-AEFC-5AE49BE0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030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GB 9706.1-2007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6D982-C7DC-4168-A67C-1B4E6409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GB 9706.1-2020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89F8F-F00A-498F-8BB3-F143CAB0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0300"/>
            <a:ext cx="219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从基本安全扩展到基本安全＋基本性能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89B67-430E-4A1F-B5B6-0808C853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23DD8-E99F-4648-B03B-A9255657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电磁兼容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A5EAAF-DC45-4D07-A6C5-0BCA9035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15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YY 0505-2012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65FC8-B658-4623-9F32-1D4BB6DE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YY 9706.102-2021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83CF6A-85F2-40C8-9372-B3C2F51D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05150"/>
            <a:ext cx="219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按新版 EMC 要求重新评估与验证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417F71-1CA8-40B5-A8BE-AD4B753F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6D264D-3F8F-4424-AA1C-A82B639C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风险管理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DA0171-52D1-453E-8C3A-03510F85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YY/T 0316-2016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1D8989-EBC7-4DB1-85E4-E45F5F46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GB/T 42062-2022</a:t>
            </a:r>
          </a:p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YY/T 1437-2023 指南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B0D3B5-4612-4652-B464-80C64771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19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更新风险管理依据及过程/记录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E946C3-1189-42A6-AFB4-1E066464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8FA999-FEB3-4FA9-B602-AB9B9BD0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变更注册主线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491C76-52DB-4D9E-83C8-2882DF6A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958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差距分析  →  风险 / 设计更新  →  检验与资料更新  →  变更注册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0DCAB1-2FB2-4D20-81C9-05B1707C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另核对专用标准：GB 9706.218-2021（内窥镜设备）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62AE94-1F2D-414B-8A43-70BE0432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注：具体适用条款、资料范围与期限由法规/注册负责人结合注册单元确认。</a:t>
            </a:r>
          </a:p>
        </p:txBody>
      </p:sp>
    </p:spTree>
    <p:extLst>
      <p:ext uri="{BB962C8B-B14F-4D97-AF65-F5344CB8AC3E}">
        <p14:creationId xmlns:p14="http://schemas.microsoft.com/office/powerpoint/2010/main" val="12928262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63BB6C-502D-446E-AF85-5C623DCC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08  质量意识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E3B79-28CD-4675-BB60-D829B5DB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流程文件、验证与可追溯交付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86404-B721-4DCE-B696-974A5BED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软件实现只是交付的一部分，需求、风险、测试和变更记录也要连起来。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48CF6-9B86-4630-835C-A30F5F5A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6AE21-D728-4220-9DB5-AC2558AE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5E084-953B-45EE-9B22-7199DB83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CDB51-A960-4FF0-A3F1-EF00AC83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96A97-C1B7-4468-9D8B-5915948E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来源 / 编号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5443B-D27E-49A0-B2E2-7EFEC0E3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F378D-8628-4AEB-AA93-A8AE5B96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46ADD-0186-4F51-8A8C-DF841BC6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接口 / 状态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B479E-2D3E-4196-9921-63053215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CEF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7ECAB-1709-423D-B116-1219B022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实现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DBEFC-62DF-47D4-AE20-C40C82D3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提交 / 评审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92CE1-AB02-4B45-A9EB-6A9D9A46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E54A54-BA7C-4AE4-8BC6-4B3196D0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E7D88-FF8D-4D89-A388-FAB6402A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用例 / 结果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BA0963-3D3F-44EC-9411-BBA6C672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279204-4147-4382-802E-A345513F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发布维护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A21021-2BDC-498F-97D7-D8CB555C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版本 / 变更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cxnSp>
        <p:nvCxnSpPr>
          <p:cNvPr id="5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050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51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6767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52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8484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0201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F99DDB-AABB-4F25-B883-0F553C84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已梳理资料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8BA4F1-8DD1-4D0C-921A-1794E2AC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005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F40"/>
                </a:solidFill>
                <a:latin typeface="Arial"/>
                <a:ea typeface="Arial"/>
                <a:cs typeface="Arial"/>
              </a:rPr>
              <a:t>通信协议、目录结构、TX/RX/STM 软件框架、新旧工程对比。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6CC18B-39EB-4D85-BCC3-02B7DCA3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待补正式证据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EE1EE3-46C6-4C18-8DE0-31530B11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85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公司流程文件编号、适用标准清单、需求追踪、验证报告、评审和版本记录。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9AABEC-C59F-4315-AF63-A3364A71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当前工程已知边界：STM 图片解析尚无帧静默超时，列入后续风险评估与验证。</a:t>
            </a:r>
          </a:p>
        </p:txBody>
      </p:sp>
    </p:spTree>
    <p:extLst>
      <p:ext uri="{BB962C8B-B14F-4D97-AF65-F5344CB8AC3E}">
        <p14:creationId xmlns:p14="http://schemas.microsoft.com/office/powerpoint/2010/main" val="4635034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D019EC-A393-47AE-9EC7-96C7559E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09  协作与执行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19BEE-FA3F-4722-AB1A-BBE3FA33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工作方式与职业素养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57074-F58E-4890-96B2-A254A257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把五项职业素养落到具体事件，避免只做自我评价。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12D1F-3510-4021-99BA-8C905382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AF35F-7EC0-4A19-A924-F3C352AE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DC7D2-494C-499D-A368-27C76A50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FE512-11FA-4313-81B5-D50E2FC8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95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工作态度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B5550-9940-4C0C-A3E5-800BBA5E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95500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[遇到复杂任务时的投入与推进例子]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96105-890F-4545-A4B2-9CF33BF6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0E3CF-491F-4C99-BA70-0E7F89F7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33675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7623B-0675-4F84-8AD7-6D531324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336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责任心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CC98D-C909-47C6-BA42-2189F3B6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33675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[主动发现风险并跟踪到闭环的例子]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60836-8615-4216-86C2-C7F81543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62300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E2635B-5E2B-4FF2-8FA0-FD59CB8D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71850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3DBF2-5219-4E19-A48A-3DDFADC3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执行力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0BC87-2676-4EBC-9D7E-A7631D14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71850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[按计划完成并反馈进度的例子]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E82F1-8678-4626-B2AA-060F905C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00475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143D92-27E3-4ECD-8861-CB473C66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10025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1EE565-D374-4775-B37F-1FA09349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100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沟通协调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560DA4-EB8E-4A5F-AC63-54005F69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10025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[与测试 / 硬件 / 上位机协作案例]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76B5AC-0CC2-4003-AC71-55A278A0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38650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EEFA7-AC4C-4EFC-B791-C53A1174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48200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459EA0-3E66-49CA-9815-03FA6A91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48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团队协作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F67AE9-D62C-4F7D-9643-DD4E6A3E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48200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[分工、互相支持与共同交付案例]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04B3F3-625F-491E-91DE-FA8CBE4F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76825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1F0C78-06B7-4AE2-B77E-74F82A78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02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专项任务：[任务背景]  /  [本人负责]  /  [交付时间]  /  [结果或复盘]</a:t>
            </a:r>
          </a:p>
        </p:txBody>
      </p:sp>
    </p:spTree>
    <p:extLst>
      <p:ext uri="{BB962C8B-B14F-4D97-AF65-F5344CB8AC3E}">
        <p14:creationId xmlns:p14="http://schemas.microsoft.com/office/powerpoint/2010/main" val="13452290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DF165B-792F-4C09-A812-4D65ECCE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10  工作回顾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2D1B4-83C7-40BE-9EED-572785A8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试用期工作主线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99EED-E56A-4F06-9E62-945C1024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项目任务以外，重点呈现个人负责范围、交付证据和协作过程。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91D42-FA05-4932-9105-FD370A49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42AA4-1C97-454B-BEBB-6D177738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9F075-90E1-47E6-AAFB-A9BEFB40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工作内容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2DAAC-790C-448D-A522-0D192608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764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本人承担与交付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084AE-B8C0-4F7C-947E-D3873E5C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证明材料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AB23E-28DA-4D67-8393-FEF52ECF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熟悉产品与代码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6BFBF-6963-4A43-8DB3-8E32664E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384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[负责模块 / 关键流程 / 上手成果]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66746-5439-4EC1-9BD9-8E45D09B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384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[交接资料 / 学习记录]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75554-DACC-4829-84C2-0F2E2F54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2DC00-3B9D-4C98-A536-F79D7528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开发与问题闭环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06C2A-93AD-4074-BD48-B168EB99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147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[功能迭代 / 缺陷定位 / 修复结果]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5D40F-BE25-4025-92CF-2E02A6D4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[提交 / 缺陷单 / 评审]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3BE45-9D21-46E0-AA4C-D154A98F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A1E20-D12C-45D8-BA89-8084FA0E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验证与跨团队配合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36DA4-38AF-43E7-B762-DCBE5BDD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9097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[联调、验证支持、问题同步]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2B3364-60A1-4A09-8054-A72D89FE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9097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[测试记录 / 协作案例]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301D9D-B100-4B38-8836-7F5796C7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F4D732-2DC5-4768-A45B-5BED8B99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专项任务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40C8A7-CDB2-4335-8D7E-3A92F13F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672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[任务名称、时限、结果]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08F670-07BC-40ED-B81B-4017574C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[任务记录 / 汇报记录]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BA526C-421B-4555-8A0E-4F216FB2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9AD7D4-AA7E-47B8-B618-B807B7FF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38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答辩建议：每件事按“背景 → 本人动作 → 验证证据 → 结果/复盘”讲清楚。</a:t>
            </a:r>
          </a:p>
        </p:txBody>
      </p:sp>
    </p:spTree>
    <p:extLst>
      <p:ext uri="{BB962C8B-B14F-4D97-AF65-F5344CB8AC3E}">
        <p14:creationId xmlns:p14="http://schemas.microsoft.com/office/powerpoint/2010/main" val="8809103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3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1CB1C-F9C0-4C1F-9124-CCDCE1FB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914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DD2"/>
                </a:solidFill>
                <a:latin typeface="Arial"/>
                <a:ea typeface="Arial"/>
                <a:cs typeface="Arial"/>
              </a:rPr>
              <a:t>总结与下一阶段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A0851-13F8-4578-AE1B-D7FEF59D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94297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从系统理解到</a:t>
            </a:r>
          </a:p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可追溯交付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7EE91-D8C7-4724-88D9-759A0D9A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861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9CDD2"/>
                </a:solidFill>
                <a:latin typeface="Arial"/>
                <a:ea typeface="Arial"/>
                <a:cs typeface="Arial"/>
              </a:rPr>
              <a:t>下一阶段重点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351E4-DC1F-4C85-866A-17FCDB72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补齐链路与移动场景验证；完善异常恢复和回归测试；按流程沉淀需求、风险和验证记录。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897B3-429C-49C3-90B7-2C463453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E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E4E8"/>
                </a:solidFill>
                <a:latin typeface="Arial"/>
                <a:ea typeface="Arial"/>
                <a:cs typeface="Arial"/>
              </a:rPr>
              <a:t>申请转正  /  [本人补充一句具体承诺]</a:t>
            </a:r>
          </a:p>
        </p:txBody>
      </p:sp>
    </p:spTree>
    <p:extLst>
      <p:ext uri="{BB962C8B-B14F-4D97-AF65-F5344CB8AC3E}">
        <p14:creationId xmlns:p14="http://schemas.microsoft.com/office/powerpoint/2010/main" val="1761886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2026-09-24T07:53:50.4810000Z</dcterms:created>
  <dcterms:modified xsi:type="dcterms:W3CDTF">2026-09-24T07:53:50.4810000Z</dcterms:modified>
</coreProperties>
</file>