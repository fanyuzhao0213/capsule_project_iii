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abd706fa0945a8" /><Relationship Type="http://schemas.openxmlformats.org/officeDocument/2006/relationships/extended-properties" Target="/docProps/app.xml" Id="Rcef0b6d75bc54d3e" /><Relationship Type="http://schemas.openxmlformats.org/officeDocument/2006/relationships/officeDocument" Target="/ppt/presentation.xml" Id="Rb629cc6651f4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59be987a94eac"/>
  </p:sldMasterIdLst>
  <p:notesMasterIdLst>
    <p:notesMasterId xmlns:r="http://schemas.openxmlformats.org/officeDocument/2006/relationships" r:id="Rd0c522c5c2764d26"/>
  </p:notesMasterIdLst>
  <p:sldIdLst>
    <p:sldId xmlns:r="http://schemas.openxmlformats.org/officeDocument/2006/relationships" id="256" r:id="Re27e33657ce34b27"/>
    <p:sldId xmlns:r="http://schemas.openxmlformats.org/officeDocument/2006/relationships" id="257" r:id="Rf57037c6b22f4f26"/>
    <p:sldId xmlns:r="http://schemas.openxmlformats.org/officeDocument/2006/relationships" id="258" r:id="R3712515cab734132"/>
    <p:sldId xmlns:r="http://schemas.openxmlformats.org/officeDocument/2006/relationships" id="259" r:id="R7ab66257e97e4005"/>
    <p:sldId xmlns:r="http://schemas.openxmlformats.org/officeDocument/2006/relationships" id="260" r:id="R413beae173fa4830"/>
    <p:sldId xmlns:r="http://schemas.openxmlformats.org/officeDocument/2006/relationships" id="261" r:id="R0434f4a3a99d461c"/>
    <p:sldId xmlns:r="http://schemas.openxmlformats.org/officeDocument/2006/relationships" id="262" r:id="Ra83106f07def49e5"/>
    <p:sldId xmlns:r="http://schemas.openxmlformats.org/officeDocument/2006/relationships" id="263" r:id="Rc29612108eab400e"/>
    <p:sldId xmlns:r="http://schemas.openxmlformats.org/officeDocument/2006/relationships" id="264" r:id="R6946ce554e644bd6"/>
    <p:sldId xmlns:r="http://schemas.openxmlformats.org/officeDocument/2006/relationships" id="265" r:id="R5750a92c45fd4b9e"/>
    <p:sldId xmlns:r="http://schemas.openxmlformats.org/officeDocument/2006/relationships" id="266" r:id="R953d1d4c2b6f4a16"/>
    <p:sldId xmlns:r="http://schemas.openxmlformats.org/officeDocument/2006/relationships" id="267" r:id="R2143d004f79c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fad55a148b41ff" /><Relationship Type="http://schemas.openxmlformats.org/officeDocument/2006/relationships/slideMaster" Target="/ppt/slideMasters/slideMaster1.xml" Id="R02959be987a94eac" /><Relationship Type="http://schemas.openxmlformats.org/officeDocument/2006/relationships/notesMaster" Target="/ppt/notesMasters/notesMaster1.xml" Id="Rd0c522c5c2764d26" /><Relationship Type="http://schemas.openxmlformats.org/officeDocument/2006/relationships/presProps" Target="/ppt/presProps.xml" Id="R70ada5038fe140ae" /><Relationship Type="http://schemas.openxmlformats.org/officeDocument/2006/relationships/tableStyles" Target="/ppt/tableStyles.xml" Id="R4c455fb3373b4c83" /><Relationship Type="http://schemas.openxmlformats.org/officeDocument/2006/relationships/slide" Target="/ppt/slides/slide1.xml" Id="Re27e33657ce34b27" /><Relationship Type="http://schemas.openxmlformats.org/officeDocument/2006/relationships/slide" Target="/ppt/slides/slide2.xml" Id="Rf57037c6b22f4f26" /><Relationship Type="http://schemas.openxmlformats.org/officeDocument/2006/relationships/slide" Target="/ppt/slides/slide3.xml" Id="R3712515cab734132" /><Relationship Type="http://schemas.openxmlformats.org/officeDocument/2006/relationships/slide" Target="/ppt/slides/slide4.xml" Id="R7ab66257e97e4005" /><Relationship Type="http://schemas.openxmlformats.org/officeDocument/2006/relationships/slide" Target="/ppt/slides/slide5.xml" Id="R413beae173fa4830" /><Relationship Type="http://schemas.openxmlformats.org/officeDocument/2006/relationships/slide" Target="/ppt/slides/slide6.xml" Id="R0434f4a3a99d461c" /><Relationship Type="http://schemas.openxmlformats.org/officeDocument/2006/relationships/slide" Target="/ppt/slides/slide7.xml" Id="Ra83106f07def49e5" /><Relationship Type="http://schemas.openxmlformats.org/officeDocument/2006/relationships/slide" Target="/ppt/slides/slide8.xml" Id="Rc29612108eab400e" /><Relationship Type="http://schemas.openxmlformats.org/officeDocument/2006/relationships/slide" Target="/ppt/slides/slide9.xml" Id="R6946ce554e644bd6" /><Relationship Type="http://schemas.openxmlformats.org/officeDocument/2006/relationships/slide" Target="/ppt/slides/slide10.xml" Id="R5750a92c45fd4b9e" /><Relationship Type="http://schemas.openxmlformats.org/officeDocument/2006/relationships/slide" Target="/ppt/slides/slide11.xml" Id="R953d1d4c2b6f4a16" /><Relationship Type="http://schemas.openxmlformats.org/officeDocument/2006/relationships/slide" Target="/ppt/slides/slide12.xml" Id="R2143d004f79c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12228662c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eec44318c4f1a" /><Relationship Type="http://schemas.openxmlformats.org/officeDocument/2006/relationships/notesMaster" Target="/ppt/notesMasters/notesMaster1.xml" Id="R4fd20c9c9caf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2f22b403d54684" /><Relationship Type="http://schemas.openxmlformats.org/officeDocument/2006/relationships/notesMaster" Target="/ppt/notesMasters/notesMaster1.xml" Id="R36f28446add74b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ad275c62374cdf" /><Relationship Type="http://schemas.openxmlformats.org/officeDocument/2006/relationships/notesMaster" Target="/ppt/notesMasters/notesMaster1.xml" Id="Recf7f96a0830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b5b169c23455b" /><Relationship Type="http://schemas.openxmlformats.org/officeDocument/2006/relationships/notesMaster" Target="/ppt/notesMasters/notesMaster1.xml" Id="Rbc3354d1768f4d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5de2cacc134b03" /><Relationship Type="http://schemas.openxmlformats.org/officeDocument/2006/relationships/notesMaster" Target="/ppt/notesMasters/notesMaster1.xml" Id="R25cdc54f5cc740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036cf7c5e745f4" /><Relationship Type="http://schemas.openxmlformats.org/officeDocument/2006/relationships/notesMaster" Target="/ppt/notesMasters/notesMaster1.xml" Id="R22516ef145bb47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81e7d845045bd" /><Relationship Type="http://schemas.openxmlformats.org/officeDocument/2006/relationships/notesMaster" Target="/ppt/notesMasters/notesMaster1.xml" Id="R53c6e02ee806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fb923da6794994" /><Relationship Type="http://schemas.openxmlformats.org/officeDocument/2006/relationships/notesMaster" Target="/ppt/notesMasters/notesMaster1.xml" Id="R167110e34b9942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09a755d4e04cff" /><Relationship Type="http://schemas.openxmlformats.org/officeDocument/2006/relationships/notesMaster" Target="/ppt/notesMasters/notesMaster1.xml" Id="Rc1eec16a1e604a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1c2c1ac7b64546" /><Relationship Type="http://schemas.openxmlformats.org/officeDocument/2006/relationships/notesMaster" Target="/ppt/notesMasters/notesMaster1.xml" Id="R40f50c21625248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84140dfc446b1" /><Relationship Type="http://schemas.openxmlformats.org/officeDocument/2006/relationships/notesMaster" Target="/ppt/notesMasters/notesMaster1.xml" Id="R8970f88c511447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e5d067d1de4c7d" /><Relationship Type="http://schemas.openxmlformats.org/officeDocument/2006/relationships/notesMaster" Target="/ppt/notesMasters/notesMaster1.xml" Id="Rcccbd813b938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旧版源码：TYGD31-2.4GHZ/TYGD_RX/Application/antenna.c。ANTENNA_STATUS_SCAN 每3ms轮换12路，扫描函数读 radio_rssi_value&gt;0，36为全局累计样本数；每路记录最小RSSI幅值，选择单一路；ANTENNA_STATUS_DETECT每1200ms无完整图片时回到扫描。新版源码：nrf_rx/examples/peripheral/radio/receiver/antenna_manager.c 与 config.h、nrf_tx/examples/peripheral/radio/TX/image.c 与 config.h。绑定后SEEK_END每路8ms寻找目标END，在TX应答窗口发0x12；TX收到后发0x11并最多1800ms每8ms广播SN；RX正式FAST_SCAN每路32ms、4轮，总1536ms，只统计CRC正确、SN匹配的0x05包；以至少2个样本优先，再比较平均RSSI，保留前三候选。LOCKED中若目标包超时1500ms、完整图超时4000ms或连续3帧失败，先切下一候选，耗尽再SEEK_END。实际无线与移动性能仍需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依据：TYGD31-2.4GHZ/TYGD_TX/Application/domain.c、image.c、Application/antenna.c，以及当前 nrf_tx/examples/peripheral/radio/TX/main.c、image.c、cx93510.c，nrf_rx/examples/peripheral/radio/receiver/antenna_manager.c，doc/03-TX软件框架.md、doc/07-新旧工程对比.md。旧TX domain在初始化timer2后使用WFI，image_read有delay_ms(1)轮询，旧CX采集前等待25ms；SPI0正常空闲没有禁用，整幅JPEG读入image_buff后可拉低旧板PDRAM。新版RTC2负责低功耗500ms唤醒，TIMER1 1ms活动时基用于预热、分片和ACK的时间戳，主循环WFE；需要逐片读JPEG时保持CX帧RAM供电，图片事务结束关闭nRF SPIM0。不能概括为新版完全没有delay：CX93510初始化和单帧采集轮询仍使用短阻塞nrf_delay_ms。选路差异见上一页。该页只陈述实现差异，不宣称尚未测得的功耗或链路性能改进。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用于答辩概述新旧标准迁移，不替代法规评估。差异表只列标准层级的变化方向，不声称逐条条款差异。GB 9706.1-2007已废止，由GB 9706.1-2020替代；YY 0505-2012由YY 9706.102-2021替代。风险管理按用户给定背景：YY/T 0316-2016为原项目采用依据，切换至GB/T 42062-2022及YY/T 1437-2023应用指南；YY/T 1437-2023直接替代的是YY/T 1437-2016。变更注册适用性、注册单元、资料清单与过渡期限须由法规/注册负责人确认；过渡期通用政策详见国家药监局2023年第14号及官方解读。产品专用标准适用性也须确认；“9706.128”未检索到，胶囊内窥镜相关专用标准检索为GB 9706.218-2021。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官方来源：GB 9706.1-2020 https://openstd.samr.gov.cn/bzgk/std/newGbInfo?hcno=74E8A9884B75808BF9369E2E25196F53</a:t>
            </a:r>
          </a:p>
          <a:p xmlns:a="http://schemas.openxmlformats.org/drawingml/2006/main">
            <a:r>
              <a:t>GB 9706.1-2007 https://openstd.samr.gov.cn/bzgk/std/newGbInfo?hcno=6B3CB82E3FD260F2AF530E71D4836D49</a:t>
            </a:r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https://openstd.samr.gov.cn/bzgk/std/newGbInfo?hcno=963619BBF8282C5927A353D689EF4340</a:t>
            </a:r>
          </a:p>
          <a:p xmlns:a="http://schemas.openxmlformats.org/drawingml/2006/main">
            <a:r>
              <a:t>GB/T 42062-2022 https://openstd.samr.gov.cn/bzgk/std/newGbInfo?hcno=1148CB082527B776560903948B22DAB0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变更注册过渡政策官方解读 https://yjj.sh.gov.cn/qtgzwj/20230316/8b076216db34470bbcc7e20d6f6ea517.html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根据本人真实试用期工作填写此页。最好选择两到三个最能说明能力的案例，避免只说“参与了”“完成了”，需要讲清本人负责内容和证据。此页已从第3页移至总结前，作为答辩内容的最后一页。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0a267b3f7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417a051814482" /><Relationship Type="http://schemas.openxmlformats.org/officeDocument/2006/relationships/slideLayout" Target="/ppt/slideLayouts/slideLayout1.xml" Id="R872d9da06fd8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d9da06fd8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f76ddb11f404e" /><Relationship Type="http://schemas.openxmlformats.org/officeDocument/2006/relationships/notesSlide" Target="/ppt/notesSlides/notesSlide1.xml" Id="R1afb1d7aec5e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4dd583fea459d" /><Relationship Type="http://schemas.openxmlformats.org/officeDocument/2006/relationships/notesSlide" Target="/ppt/notesSlides/notesSlide2.xml" Id="R169d7d025e5641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99e0c7bf4514" /><Relationship Type="http://schemas.openxmlformats.org/officeDocument/2006/relationships/notesSlide" Target="/ppt/notesSlides/notesSlide3.xml" Id="Reed94ecd52a8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6b158dafe46e1" /><Relationship Type="http://schemas.openxmlformats.org/officeDocument/2006/relationships/notesSlide" Target="/ppt/notesSlides/notesSlide4.xml" Id="R1a6fbf8d37e5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f0d0fe8e04e65" /><Relationship Type="http://schemas.openxmlformats.org/officeDocument/2006/relationships/notesSlide" Target="/ppt/notesSlides/notesSlide5.xml" Id="R14f8e8747e3a41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31feb78247b6" /><Relationship Type="http://schemas.openxmlformats.org/officeDocument/2006/relationships/notesSlide" Target="/ppt/notesSlides/notesSlide6.xml" Id="R25756ce690be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cdf25af06400a" /><Relationship Type="http://schemas.openxmlformats.org/officeDocument/2006/relationships/notesSlide" Target="/ppt/notesSlides/notesSlide7.xml" Id="R47b2f65c351d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1b6261304487b" /><Relationship Type="http://schemas.openxmlformats.org/officeDocument/2006/relationships/notesSlide" Target="/ppt/notesSlides/notesSlide8.xml" Id="Ra3e6e23afa4c49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4f330130242b5" /><Relationship Type="http://schemas.openxmlformats.org/officeDocument/2006/relationships/notesSlide" Target="/ppt/notesSlides/notesSlide9.xml" Id="R0a1216cdf1b04e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43ab0a7da48eb" /><Relationship Type="http://schemas.openxmlformats.org/officeDocument/2006/relationships/notesSlide" Target="/ppt/notesSlides/notesSlide10.xml" Id="Rc4fa4e84e2df48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aecbcfc664f64" /><Relationship Type="http://schemas.openxmlformats.org/officeDocument/2006/relationships/notesSlide" Target="/ppt/notesSlides/notesSlide11.xml" Id="Rcb66a9d7c4134f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15376eed4b4e" /><Relationship Type="http://schemas.openxmlformats.org/officeDocument/2006/relationships/notesSlide" Target="/ppt/notesSlides/notesSlide12.xml" Id="R77d70e29fc904c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F369C-8422-43EC-B881-1C284F7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试用期转正答辩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F921F-269F-444B-99A5-5FF2247A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BF7F3-A57F-4AEA-82B8-E4F5DDB1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软件开发岗位  /  [姓名]  /  [部门]  /  [日期]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473D6-ECA0-458A-A523-D81CEE4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1CA"/>
                </a:solidFill>
                <a:latin typeface="Arial"/>
                <a:ea typeface="Arial"/>
                <a:cs typeface="Arial"/>
              </a:rPr>
              <a:t>磁控胶囊项目是工作案例之一，重点说明技术理解、改造思路与交付方式</a:t>
            </a:r>
          </a:p>
        </p:txBody>
      </p:sp>
    </p:spTree>
    <p:extLst>
      <p:ext uri="{BB962C8B-B14F-4D97-AF65-F5344CB8AC3E}">
        <p14:creationId xmlns:p14="http://schemas.microsoft.com/office/powerpoint/2010/main" val="1435980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20017D-93C3-491E-BA71-2D1918D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38298-87A1-4EF3-9860-5C990E3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F5E4C-75A2-44CF-9376-3E032756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FC0BE-8EFC-426A-A8B9-381806B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B64C1-D0EA-45AB-8404-46740133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E1387-42A9-42BF-8478-BABD3493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C96DC-F23C-4860-A55D-7B24D846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1799-D001-43D3-A868-93A9AF7F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008C2-16AA-46ED-9EB5-A314D90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A8013-95E5-4E80-851A-2FA45ACD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B3EA3-2B78-42A0-8371-BBCD53C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8A20F-D1AA-44E7-BBC1-749705D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D3138-7964-44B8-BBBD-4B2AE54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03152-5266-4FAD-BA2A-06FC73C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9830A-8774-4352-ABE8-C73B6D4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1E11-6401-4FC1-ADD8-880912A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D91BF-6418-4E6A-97EC-0EAAE3E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486CA-A466-4E2A-B995-91300B2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C4928-946E-495B-B27C-63EFF06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40B68-C37A-44A2-B046-326A704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1F307-D66F-4EB0-891D-5E257BD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7D3D0-EB15-40BF-A3A2-995DCD2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FFD4C-1E6A-46B8-9EFD-876314D7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2EF6F-CC0A-4BD3-B645-41CF0B81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DC1AD-8354-47DD-A6EA-EC3AB06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41CA0-DF91-41E5-B69B-75332C1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0FA623-59DF-43A4-BA74-DBDE7A39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202287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1CB8A-F090-4F5E-8D85-B636FA57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项目理解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5877-6032-4E00-B17F-1F79DCC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79FB9-0FD6-4ED6-B152-32B75CB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C2521-8707-40EF-A15A-6EB444D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0B282-4FA6-4694-A881-4831B14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2D56-8136-4592-A989-F62C7F0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D7D2-20C8-4A3A-AA53-0F78D48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8FA5D-6004-4281-8D45-0D67D7C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图像传感器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480×480 YUV422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37A02-F6EF-4686-A381-F207639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4014A-E469-484F-AA7E-0C706F0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50BF2-7A9E-4AAE-8ED9-09FDA8DC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采集同步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压缩 / 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B3CE-78FA-4A87-B49A-FD29D10D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E9480-3E0D-47A7-A55F-A3FB3010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CB601-2304-45A9-9092-EB9C660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 读帧 RAM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分片无线发送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54BA0-AD85-46D2-A5F3-60EDB6C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F2B8A-BE6D-4785-A6DF-F5CC056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F2769-20C7-4DC0-B76B-7083F84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选路 / 收包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66CBD-2CDC-4274-9F7C-0448908D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6FF72-1B9A-490E-A630-23CCBD28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3A9BD-5F94-49C3-9153-21B67ACF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校验 / 转发 / 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1877F-A414-429D-AA14-E2125A4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14111-A9E1-4405-8A7E-C528782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E10CB-437E-40B5-98C6-2C8FB0F2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图像显示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设备信息 / 文件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526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5FD0E-394B-4D5B-9DE3-B9E442E8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并行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6717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78FCB-876E-43AD-B5DD-D03C1D99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主机 SPI</a:t>
            </a:r>
          </a:p>
        </p:txBody>
      </p: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561C5-819B-467E-BA9A-139A6F2E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2.4 GHz Radio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9622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9E888-17D9-4DD8-AFCF-550B9792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Mbit/s</a:t>
            </a:r>
          </a:p>
        </p:txBody>
      </p: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8107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9CEC4C-3E7D-479D-B69F-258BA0C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921600 bit/s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45A969-432E-4FB9-B1CC-505053B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数据归属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B8B29-BDBC-40E2-8478-44D05447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像素流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424D41-97C1-470A-91BC-88B44AD0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帧数据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8B69AC-6132-44AC-898F-47BCE34D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固定长度无线包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3F15E3-786C-473F-A1A2-0BEA271B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校验后的图片帧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8561B8-98CD-4A7E-B284-CC7A3372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SD 卡保存固定长度 .YS 记录，PC 可接收实时图像并查看历史记录。</a:t>
            </a:r>
          </a:p>
        </p:txBody>
      </p:sp>
    </p:spTree>
    <p:extLst>
      <p:ext uri="{BB962C8B-B14F-4D97-AF65-F5344CB8AC3E}">
        <p14:creationId xmlns:p14="http://schemas.microsoft.com/office/powerpoint/2010/main" val="2129830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0FC4A-A76D-4FF4-B1F9-B043B3D9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采集与编码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F3F58-AED9-4C1B-9D2C-E223AD7B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C4B32-5320-49E6-AEB4-D265F1F3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负责采集、压缩和缓存；nRF 负责读取与传输。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74B9F-3DA7-4D4F-A97F-0FC7E73A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A9FDA-F363-4B75-BD8B-AD11C66E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8F2EE-098A-4E5D-8851-A47EDF6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42887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C0114-B04C-44BF-B15F-E629374C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28900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ECDBC-269A-41BB-A7A4-23AA20CB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9900"/>
            <a:ext cx="22002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曝光成像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并行 DVP 输出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YUV422：Y0/U/Y1/V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134D6-8477-48AE-84B6-EE88060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7622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5F3BA-7101-4684-9D51-DC8DBF20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82E6B-91D7-4B96-BF70-DF22258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DVP 同步采集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编码器处理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结果写入帧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302B8-2DA9-4E85-A838-5EFB5123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27146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2F497-B19B-48FE-962F-8B528E7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nRF52832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5111A-19E7-4D39-82CC-6A9E1DF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4860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通过 SPI 访问 CX93510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读取帧块状态、地址和长度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每个 DATA 分片按需取数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376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D4F90-4E0A-4E02-B25E-947423E1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像素流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376613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1EE2A-47FD-400E-ABB0-354EFE3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 读帧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071FD-8AB5-47D4-B180-BCCAAF5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控制路径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F3860-6AB3-421D-BC33-C7DC00D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nRF 通过 CX93510 的 I²C 代理配置 OV7676，读回关键寄存器确认输出格式。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79FE2-03F7-49F7-8B04-E8D6AC86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采集顺序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1FE3C-7A1F-466B-B22C-BC498F0C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唤醒摄像头并预热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FAEAA-EA7A-431B-A16E-606F9BD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启动单帧采集与 JPEG 压缩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6F5DF-FCA7-491B-A442-6DE687D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留在帧 RAM，nRF 分片读取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27E7BA-D101-45CD-A6A1-30C50C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 TX 不把整张 JPEG 复制到 nRF 的 image_buff[]；发送 DATA 时从 CX93510 帧 RAM 读取对应区间。</a:t>
            </a:r>
          </a:p>
        </p:txBody>
      </p:sp>
    </p:spTree>
    <p:extLst>
      <p:ext uri="{BB962C8B-B14F-4D97-AF65-F5344CB8AC3E}">
        <p14:creationId xmlns:p14="http://schemas.microsoft.com/office/powerpoint/2010/main" val="1637801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FDCDE-DE13-446B-AF57-4BD2644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通信链路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CA55B-B4B8-4476-8753-13A90A1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ABD2E-65C9-41E0-858E-A65AF07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各段使用不同帧格式，排查问题时先确认数据停在哪条链路。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3DFDA-8DFA-4611-9CD3-D162DDF3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FE4BF-557F-4D5D-A453-D58A0FE7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B1ED-4E52-44AC-B2C5-0702FC7A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00EBF-D609-4528-805A-1D38253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D0F59-C6F0-43AA-AADA-0DB338B1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BEGIN / DATA / END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每包 254 B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DATA 最多 242 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5078F-9787-4FD1-93D6-E98C46EF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F1F66-FB3B-4E28-80F4-9CF52605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D3399-22E3-4535-A2F2-45D9BF7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CRC 与 SN 匹配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路天线选路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无线包经 UART 转发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21417-FEB2-41A3-B99E-C40D02D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45802-C63B-4F45-B368-6AC2B7E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46FE9-8AEB-4519-A72E-5ED8E29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流式解析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长度 / Checksum 校验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补 DeviceInfo / JPEG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94F6C-E554-4D43-B274-C78D594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51DB2-86BB-4088-94AA-A711DBD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+ 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F07F3-F13D-4F00-8036-85667F24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USART3 DMA 发 PC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SD 写入 20064 B 记录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 10 次成功写入同步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B2C55-6A3E-4A05-888B-FE0B94A9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46494-0566-40DE-A1D1-7175A76B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</p:txBody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6295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CE4C1-393E-47FD-908D-991779C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 / SDIO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E18AA-2583-418C-A987-74F644D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RX → STM 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CF63D-D555-4237-883B-544F0E6B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FF 55 12 34 81 + 长度 + 128 B DeviceInfo + JPEG + 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897A3-1EF2-4172-B536-5A39930B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STM → PC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BC44B-78BB-4AAD-BAC6-ADCF4D0A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ZAYS 81 + 长度 + JPEG + DeviceInfo + 校验；图片按四段 DMA 顺序发送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2EEB3D-7AA1-499C-B0E7-6006B28E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无线协议 / UART 帧头 / SD 记录格式不能混为同一种“胶囊协议”。</a:t>
            </a:r>
          </a:p>
        </p:txBody>
      </p:sp>
    </p:spTree>
    <p:extLst>
      <p:ext uri="{BB962C8B-B14F-4D97-AF65-F5344CB8AC3E}">
        <p14:creationId xmlns:p14="http://schemas.microsoft.com/office/powerpoint/2010/main" val="1548493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A43211-5DBC-42AD-B68D-318A861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天线选路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B91D5-0155-4BFF-80C9-A30FA8E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RX 天线扫描：旧版与新版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A58FA-C46F-4580-9659-91F234A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D7EF1-E275-439E-8933-08656D3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F377F-E391-4CCC-AAB3-7802E3D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73860-4349-4F58-BBF2-A234798E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AD0CF-8470-4F1F-8B43-F3A0CBF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83F1F-B9D2-4C2B-97EE-F217282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93301-83DC-4986-B514-FFF0EC6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2188F-356B-4A8D-84B5-8B7AFDF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171E8-BDE5-40F1-BD7B-69E2046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F61D7-2673-408B-AA81-B9D2ED1D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F71AF-83A0-4505-B730-C3AA9CE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4C9B7-7306-4B32-A42E-D25D50C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B3C64-59C5-4D7B-8579-B465A0C1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6198-927C-47A8-98EB-7DC5668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37EF5-C8E4-4F79-BCB9-FF060D3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63EA7-9E06-461B-9FBB-8ACDA4B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59F0F-8370-4810-BD5A-AC1E6E6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0D19D-D5B2-452A-99B1-D9E89AE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D94B0-927A-4D82-9247-1CBBBED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027BB-CC87-4D16-86AC-C162568B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2840C-2743-427B-BE56-C3A6E14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88CD9-6704-449A-927D-CCFC8C6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9FDAB-11D1-42A4-A3F5-E6BBB56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40572E-5A16-4BCB-A627-58C3DED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902F7-C0EF-47F4-A86A-5534904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E7277-23D0-43D6-85B5-CD524250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458FD-173C-4E4B-AD3B-040C26F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暂停图片，回 0x11；每 8 ms 播 SN，最长 1800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007B8-D6ED-40BE-805C-D9DD19D0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4B48C-78E0-4683-96FD-ACD98EC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FCDAE-B583-4848-9666-7CC42BE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FC18F-C880-40D8-9880-E35C11C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 CRC / SN 均有效的 0x05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FF704-C053-447A-BA1C-D614211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6CFD5-D3A8-43BE-887C-98F51D0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5F2B57-5AAE-48CC-804E-C11B7D1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877AFE-EA15-406E-9917-F68BC99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50741-E2E2-4DF4-BAF8-DD89BA0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98A172-8AAA-483A-BC7F-FD04629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1567853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7D337-5F09-4F02-BF0E-6674B7D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  工程重构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6002B-15FF-45FE-BBC1-5B0155E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C2AFF-712C-470E-84ED-F9B1BFB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703F0-5B95-4CCD-A694-CBD4891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34014-A3DA-4C08-A9AB-DBD5C961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11FCE-8BED-4DD6-BF77-3A9F8F8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90AB8-F6D7-423D-B98A-B7024BF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E3FA8-1513-475A-BA2A-76AF6CB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3BF55-552E-4C62-99AC-D2F4AEF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6BE52-ACB6-46BB-AC15-B1810FB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5B112-922A-46D7-93FB-E3FA91C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377F6-F467-4841-AD2B-69BD234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165C4-EC15-4D9D-A26F-8A0D3AB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9BE7B-514A-4204-87BC-99398D0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D08AB-25A0-4C21-8BAA-A876686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D0A8E-F403-42C7-9529-CA442DC3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2467D-43F8-46E0-A43E-77EAD0F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258FA-5000-4953-8C29-B1789C6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E392F-7F08-4195-A940-512113E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22CA7-044F-45B9-AA1F-96C81A2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D9476-A8DE-4451-8E92-D7CBABE4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A87D1-38CD-4E31-8AA2-AFBC586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A01A1-1104-4E0B-873F-2C2DF09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00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F7654-298B-474A-A086-4612FED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4C0DA-4A9A-4ACF-B600-3F2449C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A4075-E1B8-454C-9630-D6C891A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624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FD4F97-FF2B-4F2E-B7FD-293850EE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8DBC9-F16B-4B13-A9B1-3053DF69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697AD-0C46-4CF9-9240-296B429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DCE8F-3315-466D-8D14-3F717C9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7B9F2-F6B0-444B-97B1-D4C077FD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9FABB-897C-4D2D-BEA8-4AA44A4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69C5E5-ED94-44B8-858D-DCDE657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810EE-EF52-443F-BE06-C8E9912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819466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57648-B25F-42E0-AC30-78F08ED7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5F0D-24DA-4F6D-A22C-2EC3496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新旧标准差异与变更注册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15613-9EF3-486D-A01F-C7839E83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关键变化：安全与性能要求升级，注册资料需按新标准重新评估。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ED2BE-79FD-4FDD-8901-65252F15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E3DF-1DA5-483C-99B7-B2F7E8D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3B9B0-49AE-4B53-9204-D68415E8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标准更新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E1FE8-3967-4DF0-9D2C-5AA1873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A621D-C330-43F7-A3EC-79480A4E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新版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08B0B-C967-439C-805D-A3CE0F38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变化重点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03567-6674-45CD-905A-4614AF75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4CFB5-0EA5-4244-A984-1C4610A3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45CE0-AEF0-4C78-AD68-B8ABA828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4D357-8694-40F8-9C45-9D58235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从基本安全扩展到基本安全＋基本性能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0B967-1A70-41D0-87D6-5993AD1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875FB-B6F2-455D-B877-4D3A13A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46F5B-C16B-4D61-B759-9A2F8CD6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1B8FE-F270-4BA7-94A0-8F97CE5F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5AE0C-B13F-4D20-B8C7-9F4CB007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按新版 EMC 要求重新评估与验证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292C4-80B2-4DF4-BBEC-B2A4019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4CD14-9A92-402C-9FAC-6574BC18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E6900-DEB3-474B-9BBB-8188B213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D3EB5-E9E5-4BA5-B1E8-AB945F8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YY/T 1437-2023 指南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7CC09-EFCD-4235-B293-981EA12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更新风险管理依据及过程/记录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56E0F-F827-4BA4-88C0-5B11ADFD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B18820-7AF0-44D3-B7C6-BC3F04AD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变更注册主线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7F437-2B76-4A81-A3B6-AB7C64D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958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差距分析  →  风险 / 设计更新  →  检验与资料更新  →  变更注册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29EA51-D7E1-4597-9EEE-7546A23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另核对专用标准：GB 9706.218-2021（内窥镜设备）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A42006-1340-462A-B523-934C93C9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注：具体适用条款、资料范围与期限由法规/注册负责人结合注册单元确认。</a:t>
            </a:r>
          </a:p>
        </p:txBody>
      </p:sp>
    </p:spTree>
    <p:extLst>
      <p:ext uri="{BB962C8B-B14F-4D97-AF65-F5344CB8AC3E}">
        <p14:creationId xmlns:p14="http://schemas.microsoft.com/office/powerpoint/2010/main" val="1191092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D1DAF-7036-4A97-9A07-FE982F61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质量意识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826B4-CC0A-4230-813B-FAA1C676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54CAD-745E-430D-962E-6C1BE09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D4D36-930F-4328-94BD-60CD57B2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4D65B-F3E7-40AB-8320-FF31F644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DB5A7-0282-4345-A0A8-BCC6FB11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5CA90-E823-4DB1-8433-7BD3496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94965-1795-4F7A-96BD-040C150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51153-16C1-44D3-92D3-450DF1B1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74079-E815-4C3D-BA1C-2A088CD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92D96-9839-4F34-8DF6-D3428A6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C0F1D-E372-4674-867E-B5EB928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76B8F-8A17-4D3B-8603-414F0E10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E4C3C-4790-4F82-8382-609965A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85617-9EFA-4A2A-8DFF-904620ED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150D8-3B84-46BB-B57F-517C6817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5554A-4090-4B54-BBE8-8CD32231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E0167-7449-4404-89D5-A49BAF1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9D111-4815-473E-AB04-E8AC4F2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D390B-3D34-4D7B-A3AD-E1322A2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28124-BBAA-4F62-ADF7-CDE59AC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02DB7-5270-45AC-B094-6BBC0880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通信协议、目录结构、TX/RX/STM 软件框架、新旧工程对比。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F009A-D282-4C2C-A2CA-333572FC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待补正式证据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1F568-5D83-4763-A055-BE52DE0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公司流程文件编号、适用标准清单、需求追踪、验证报告、评审和版本记录。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F8CA4-888A-46A9-B672-306DD4D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当前工程已知边界：STM 图片解析尚无帧静默超时，列入后续风险评估与验证。</a:t>
            </a:r>
          </a:p>
        </p:txBody>
      </p:sp>
    </p:spTree>
    <p:extLst>
      <p:ext uri="{BB962C8B-B14F-4D97-AF65-F5344CB8AC3E}">
        <p14:creationId xmlns:p14="http://schemas.microsoft.com/office/powerpoint/2010/main" val="1269417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937F1-FB12-4D70-9A01-9B4A6D8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协作与执行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53FC-A35D-441D-8FF1-D80D996F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04B27-1746-491D-8EDB-FE1FC60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E123-532D-463A-B7A9-377E2F78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2F1E8-D9B1-4F8B-9FB7-C35DC8E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E9118-73D8-4C4A-8AE2-D247DC4A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B860E-C87A-4B25-A932-B5C892BB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2FF51-6910-4F28-96C4-60CF2D1F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2610C-2275-44AA-A0E7-7DFDA087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A5CE7-3BDC-454B-A3AB-9881F0F7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0FFB2-B600-4E31-9172-295F0731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91DE3-2877-489A-93D5-C9DA02D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2C3F7-E849-4D47-BE36-C73F0A2C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46B23-2745-44A7-97C9-0BB1E4C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E01B1-719B-4426-862B-E2B05A00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2FEA4-A0E7-4F66-B95A-994ECF22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3AE4B-DFE6-4061-926A-650D66F7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35EEB-D781-4F71-8B64-2ADE7FFB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355B3-32B2-4D54-B2DC-38475BE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84AB6-56BB-4F00-9E95-9B9DFC3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E2728-3278-47CA-90A1-E28D948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8C176-E672-48C9-BACA-3A51E756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01708-22BB-46CE-B8AA-FBC94A2F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3FCA2-F8A0-4EBB-BBD4-B27EFFA8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7DDD6-82C1-4E8A-A89D-5221D92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3FD35-BB6E-4E44-9706-337F356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768990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72855-09C1-4DE2-86E1-E0C7A08F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工作回顾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474DA-6206-48DF-A476-6219BD3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82088-B5CD-4068-A3FF-874E1877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1687A-D7A4-49C6-81B8-9718CE9B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B1D62-9818-4B87-840D-E6061EDF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EE830-9D5B-43EC-A15B-2522C06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8BC8A-21BC-41D1-802A-25EA9E2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9C01-497E-4380-9759-565F9EB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2C00F-D061-412D-90CB-8A44D0B6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3B5FE-12D9-41C3-A07C-85EC188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38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[负责模块 / 关键流程 / 上手成果]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B378E-B550-4599-9AE6-9A3D1289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[交接资料 / 学习记录]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C8D9D-580E-4BA4-A168-D40A672A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C4C82-3A61-4BAB-AAD0-A5942BB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19760-4729-4125-8C3A-904F316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14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[功能迭代 / 缺陷定位 / 修复结果]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55EE7-E46D-4645-9AE1-CC408692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18623-3E18-438D-B3BE-AC93CE18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94850-1FCD-4275-86BB-61CE1E45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A2EA7-F6B5-4515-BBF2-99D9AE42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A7C13-51D3-4694-A637-958672A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F019D-3A3A-4315-BA75-1D1E3B4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7A769-3179-4C96-88AA-25935DE2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5541E-79A8-4938-8B3B-9E6B4E7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[任务名称、时限、结果]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58366-3CC5-4ECB-A296-1A96E36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6E0BE-F3C7-4839-9734-A79173FE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9DC03-BFEE-4FB8-A151-3BE1E7D7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101057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2C195-C109-4D22-AED8-B0763A19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EC134-2F9F-4373-9E4F-98155FF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D3AB4-4E15-4A07-A6BB-083EA60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0D04A-C4CB-4CCD-A08A-BFB81D0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80491-021D-4BD3-B253-2464D51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47969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2026-09-24T07:54:30.1370000Z</dcterms:created>
  <dcterms:modified xsi:type="dcterms:W3CDTF">2026-09-24T07:54:30.1370000Z</dcterms:modified>
</coreProperties>
</file>