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1a710733a24de1" /><Relationship Type="http://schemas.openxmlformats.org/officeDocument/2006/relationships/extended-properties" Target="/docProps/app.xml" Id="Rd8e09e3f70b14088" /><Relationship Type="http://schemas.openxmlformats.org/officeDocument/2006/relationships/officeDocument" Target="/ppt/presentation.xml" Id="R3aeb05b5a10748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9d16b1679d479b"/>
  </p:sldMasterIdLst>
  <p:notesMasterIdLst>
    <p:notesMasterId xmlns:r="http://schemas.openxmlformats.org/officeDocument/2006/relationships" r:id="R270901308f384a7f"/>
  </p:notesMasterIdLst>
  <p:sldIdLst>
    <p:sldId xmlns:r="http://schemas.openxmlformats.org/officeDocument/2006/relationships" id="256" r:id="Rd879f3cb89874678"/>
    <p:sldId xmlns:r="http://schemas.openxmlformats.org/officeDocument/2006/relationships" id="257" r:id="Rf2b3608ac09b43b6"/>
    <p:sldId xmlns:r="http://schemas.openxmlformats.org/officeDocument/2006/relationships" id="258" r:id="R8035e9333e4741ad"/>
    <p:sldId xmlns:r="http://schemas.openxmlformats.org/officeDocument/2006/relationships" id="259" r:id="R74049b0830154ea5"/>
    <p:sldId xmlns:r="http://schemas.openxmlformats.org/officeDocument/2006/relationships" id="260" r:id="R490ca876a3c040d5"/>
    <p:sldId xmlns:r="http://schemas.openxmlformats.org/officeDocument/2006/relationships" id="261" r:id="Rc575b72cae57422c"/>
    <p:sldId xmlns:r="http://schemas.openxmlformats.org/officeDocument/2006/relationships" id="262" r:id="Re58be4b3fb44413b"/>
    <p:sldId xmlns:r="http://schemas.openxmlformats.org/officeDocument/2006/relationships" id="263" r:id="Rdd7c7338d5214e02"/>
    <p:sldId xmlns:r="http://schemas.openxmlformats.org/officeDocument/2006/relationships" id="264" r:id="R2b85538f556b4b6d"/>
    <p:sldId xmlns:r="http://schemas.openxmlformats.org/officeDocument/2006/relationships" id="265" r:id="R730bc013e2a14bda"/>
    <p:sldId xmlns:r="http://schemas.openxmlformats.org/officeDocument/2006/relationships" id="266" r:id="R3d282c48bed742eb"/>
    <p:sldId xmlns:r="http://schemas.openxmlformats.org/officeDocument/2006/relationships" id="267" r:id="Rb10da4f0dcea478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34b3782cfd445a" /><Relationship Type="http://schemas.openxmlformats.org/officeDocument/2006/relationships/slideMaster" Target="/ppt/slideMasters/slideMaster1.xml" Id="R039d16b1679d479b" /><Relationship Type="http://schemas.openxmlformats.org/officeDocument/2006/relationships/notesMaster" Target="/ppt/notesMasters/notesMaster1.xml" Id="R270901308f384a7f" /><Relationship Type="http://schemas.openxmlformats.org/officeDocument/2006/relationships/presProps" Target="/ppt/presProps.xml" Id="Rc42e33fba62340d3" /><Relationship Type="http://schemas.openxmlformats.org/officeDocument/2006/relationships/tableStyles" Target="/ppt/tableStyles.xml" Id="Rb63194aeee364179" /><Relationship Type="http://schemas.openxmlformats.org/officeDocument/2006/relationships/slide" Target="/ppt/slides/slide1.xml" Id="Rd879f3cb89874678" /><Relationship Type="http://schemas.openxmlformats.org/officeDocument/2006/relationships/slide" Target="/ppt/slides/slide2.xml" Id="Rf2b3608ac09b43b6" /><Relationship Type="http://schemas.openxmlformats.org/officeDocument/2006/relationships/slide" Target="/ppt/slides/slide3.xml" Id="R8035e9333e4741ad" /><Relationship Type="http://schemas.openxmlformats.org/officeDocument/2006/relationships/slide" Target="/ppt/slides/slide4.xml" Id="R74049b0830154ea5" /><Relationship Type="http://schemas.openxmlformats.org/officeDocument/2006/relationships/slide" Target="/ppt/slides/slide5.xml" Id="R490ca876a3c040d5" /><Relationship Type="http://schemas.openxmlformats.org/officeDocument/2006/relationships/slide" Target="/ppt/slides/slide6.xml" Id="Rc575b72cae57422c" /><Relationship Type="http://schemas.openxmlformats.org/officeDocument/2006/relationships/slide" Target="/ppt/slides/slide7.xml" Id="Re58be4b3fb44413b" /><Relationship Type="http://schemas.openxmlformats.org/officeDocument/2006/relationships/slide" Target="/ppt/slides/slide8.xml" Id="Rdd7c7338d5214e02" /><Relationship Type="http://schemas.openxmlformats.org/officeDocument/2006/relationships/slide" Target="/ppt/slides/slide9.xml" Id="R2b85538f556b4b6d" /><Relationship Type="http://schemas.openxmlformats.org/officeDocument/2006/relationships/slide" Target="/ppt/slides/slide10.xml" Id="R730bc013e2a14bda" /><Relationship Type="http://schemas.openxmlformats.org/officeDocument/2006/relationships/slide" Target="/ppt/slides/slide11.xml" Id="R3d282c48bed742eb" /><Relationship Type="http://schemas.openxmlformats.org/officeDocument/2006/relationships/slide" Target="/ppt/slides/slide12.xml" Id="Rb10da4f0dcea47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74f43bed3b45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72a72f98bc4901" /><Relationship Type="http://schemas.openxmlformats.org/officeDocument/2006/relationships/notesMaster" Target="/ppt/notesMasters/notesMaster1.xml" Id="Rea8c4064490244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62f7933bf34ae0" /><Relationship Type="http://schemas.openxmlformats.org/officeDocument/2006/relationships/notesMaster" Target="/ppt/notesMasters/notesMaster1.xml" Id="R75cd7335884048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cb129bfbed4989" /><Relationship Type="http://schemas.openxmlformats.org/officeDocument/2006/relationships/notesMaster" Target="/ppt/notesMasters/notesMaster1.xml" Id="Rea005b80c43c42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da23fff7df4741" /><Relationship Type="http://schemas.openxmlformats.org/officeDocument/2006/relationships/notesMaster" Target="/ppt/notesMasters/notesMaster1.xml" Id="R5f5ffb261e6544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8dffc643ac470d" /><Relationship Type="http://schemas.openxmlformats.org/officeDocument/2006/relationships/notesMaster" Target="/ppt/notesMasters/notesMaster1.xml" Id="R8c87939db0ba4d6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bf743b7fa748dc" /><Relationship Type="http://schemas.openxmlformats.org/officeDocument/2006/relationships/notesMaster" Target="/ppt/notesMasters/notesMaster1.xml" Id="Rbe2898b71f69428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b3421761b7d417d" /><Relationship Type="http://schemas.openxmlformats.org/officeDocument/2006/relationships/notesMaster" Target="/ppt/notesMasters/notesMaster1.xml" Id="Rf6e57f2e37db490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e8fef2a4c44946" /><Relationship Type="http://schemas.openxmlformats.org/officeDocument/2006/relationships/notesMaster" Target="/ppt/notesMasters/notesMaster1.xml" Id="R6682f88eeb77451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52c3dc42e53446c" /><Relationship Type="http://schemas.openxmlformats.org/officeDocument/2006/relationships/notesMaster" Target="/ppt/notesMasters/notesMaster1.xml" Id="Rcd12bb4c36af47b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7111a93904a41e2" /><Relationship Type="http://schemas.openxmlformats.org/officeDocument/2006/relationships/notesMaster" Target="/ppt/notesMasters/notesMaster1.xml" Id="R54ab22e5b8064c0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d0cf963b9984e39" /><Relationship Type="http://schemas.openxmlformats.org/officeDocument/2006/relationships/notesMaster" Target="/ppt/notesMasters/notesMaster1.xml" Id="Re81fadec5c97439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c90fe2f9c304219" /><Relationship Type="http://schemas.openxmlformats.org/officeDocument/2006/relationships/notesMaster" Target="/ppt/notesMasters/notesMaster1.xml" Id="Rc5b389fd4cf24f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补充姓名、岗位、部门、日期。开场建议先说试用期的主要职责，再说明胶囊项目是其中一个能体现系统理解和工程实践的案例。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内容对应答辩表五项工作内容与五项职业素养。为避免替本人编造绩效，每一项后续页都留有具体经历、数据或文件编号的填写位置。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根据本人真实试用期工作填写此页。最好选择两到三个最能说明能力的案例，避免只说“参与了”“完成了”，需要讲清本人负责内容和证据。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源码依据：nrf_tx/examples/peripheral/radio/TX/ov7676.c、cx93510.c、image.c；RX 的 antenna_manager/radio_link；stm32F103RET6/stm_project/Core/Src/capsule_protocol.c、sd_storage.c。箭头和流程框均为可编辑 PowerPoint 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设备型号以当前源码为准：OV7676（不是 OV7766）。OV7676 经 CX93510 内部 I²C 主机配置，像素经并行 DVP 送到 CX93510；CX93510 在有限单帧模式下采集，JPEG 数据与帧块信息进入其帧 RAM；nRF52832 通过 SPI 读取帧信息并逐片读 JPEG。当前正式无线协议只发送原始图像块，不将旧版 IMG/CRC16 分块写法当作当前协议。来源：TX/ov7676.c、cx93510.c、image.c；doc/01-通信协议.md；doc/03-TX软件框架.md。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TX-RX 无线协议依据 doc/01-通信协议.md；RX到STM和STM到PC依据 doc/08-STM软件框架.md 与当前 capsule_protocol.c。协议字段和校验要以这些当前文件为准。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/06-TYGD31旧工程框架与天线扫描.md、doc/07-新旧工程对比.md、doc/03-TX软件框架.md。该页描述代码和方案差异，不宣称未验证的功耗或成像性能提升。现方案仍需按静止、移动、弱信号场景验证前三候选和扫描阈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对应考核表开发与缺陷修复、技术交接与版本迭代。不要将代码存在或仓库功能描述直接当成个人贡献证据。优先放一项能展示自己判断过程的缺陷闭环案例。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用于答辩概述新旧标准迁移，不替代法规评估。差异表只列标准层级的变化方向，不声称逐条条款差异。GB 9706.1-2007已废止，由GB 9706.1-2020替代；YY 0505-2012由YY 9706.102-2021替代。风险管理按用户给定背景：YY/T 0316-2016为原项目采用依据，切换至GB/T 42062-2022及YY/T 1437-2023应用指南；YY/T 1437-2023直接替代的是YY/T 1437-2016。变更注册适用性、注册单元、资料清单与过渡期限须由法规/注册负责人确认；过渡期通用政策详见国家药监局2023年第14号及官方解读。产品专用标准适用性也须确认；“9706.128”未检索到，胶囊内窥镜相关专用标准检索为GB 9706.218-2021。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官方来源：GB 9706.1-2020 https://openstd.samr.gov.cn/bzgk/std/newGbInfo?hcno=74E8A9884B75808BF9369E2E25196F53</a:t>
            </a:r>
          </a:p>
          <a:p xmlns:a="http://schemas.openxmlformats.org/drawingml/2006/main">
            <a:r>
              <a:t>GB 9706.1-2007 https://openstd.samr.gov.cn/bzgk/std/newGbInfo?hcno=6B3CB82E3FD260F2AF530E71D4836D49</a:t>
            </a:r>
          </a:p>
          <a:p xmlns:a="http://schemas.openxmlformats.org/drawingml/2006/main">
            <a:r>
              <a:t>YY 9706.102-2021 https://std.samr.gov.cn/hb/search/stdHBDetailed?id=BFEAFC933D025285E05397BE0A0A7BFB</a:t>
            </a:r>
          </a:p>
          <a:p xmlns:a="http://schemas.openxmlformats.org/drawingml/2006/main">
            <a:r>
              <a:t>GB 9706.218-2021 https://openstd.samr.gov.cn/bzgk/std/newGbInfo?hcno=963619BBF8282C5927A353D689EF4340</a:t>
            </a:r>
          </a:p>
          <a:p xmlns:a="http://schemas.openxmlformats.org/drawingml/2006/main">
            <a:r>
              <a:t>GB/T 42062-2022 https://openstd.samr.gov.cn/bzgk/std/newGbInfo?hcno=1148CB082527B776560903948B22DAB0</a:t>
            </a:r>
          </a:p>
          <a:p xmlns:a="http://schemas.openxmlformats.org/drawingml/2006/main">
            <a:r>
              <a:t>YY/T 1437-2023 https://std.samr.gov.cn/hb/search/stdHBDetailed?id=00D333A21F1A492AE06397BE0A0A2B32</a:t>
            </a:r>
          </a:p>
          <a:p xmlns:a="http://schemas.openxmlformats.org/drawingml/2006/main">
            <a:r>
              <a:t>变更注册过渡政策官方解读 https://yjj.sh.gov.cn/qtgzwj/20230316/8b076216db34470bbcc7e20d6f6ea517.html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项目仓库已有技术文档，但不能据此推断公司受控的法规标准清单、完整生命周期文档或正式验证已完成。把真实文件名、编号、版本和审核状态填入。软件生命周期要求可参照YY/T 0664-2020理解，系统级确认不应被代码测试替代。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对应职业素养的五项评分标准和10%的专项任务权重。请使用真实事件，写明时间、协作对象、个人责任、反馈方式和可验证结果。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结尾请补充你愿意承担的下一阶段具体职责和可检查目标。避免承诺尚未评估过的量化指标。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be2838f4cb4a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7e5f627b694551" /><Relationship Type="http://schemas.openxmlformats.org/officeDocument/2006/relationships/slideLayout" Target="/ppt/slideLayouts/slideLayout1.xml" Id="Rced1dfe43e7442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d1dfe43e7442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6b3d6ba5454968" /><Relationship Type="http://schemas.openxmlformats.org/officeDocument/2006/relationships/notesSlide" Target="/ppt/notesSlides/notesSlide1.xml" Id="R9eae686e94054f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de111b1dd045e7" /><Relationship Type="http://schemas.openxmlformats.org/officeDocument/2006/relationships/notesSlide" Target="/ppt/notesSlides/notesSlide2.xml" Id="Rd0e27fca356b42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280c2214c449b3" /><Relationship Type="http://schemas.openxmlformats.org/officeDocument/2006/relationships/notesSlide" Target="/ppt/notesSlides/notesSlide3.xml" Id="Rc85130b3f4bf42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456739a30b4624" /><Relationship Type="http://schemas.openxmlformats.org/officeDocument/2006/relationships/notesSlide" Target="/ppt/notesSlides/notesSlide4.xml" Id="Rbf9f2d0d53be4a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13da20b1df46f8" /><Relationship Type="http://schemas.openxmlformats.org/officeDocument/2006/relationships/notesSlide" Target="/ppt/notesSlides/notesSlide5.xml" Id="R0747d2b047184f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8c85432f7e4893" /><Relationship Type="http://schemas.openxmlformats.org/officeDocument/2006/relationships/notesSlide" Target="/ppt/notesSlides/notesSlide6.xml" Id="Rac64168b03c44d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6e64075dc140fc" /><Relationship Type="http://schemas.openxmlformats.org/officeDocument/2006/relationships/notesSlide" Target="/ppt/notesSlides/notesSlide7.xml" Id="R7d51c5f15d1d4fb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02fb0e7970437c" /><Relationship Type="http://schemas.openxmlformats.org/officeDocument/2006/relationships/notesSlide" Target="/ppt/notesSlides/notesSlide8.xml" Id="R9e54c71fb8a249e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2a7bc85efe4e29" /><Relationship Type="http://schemas.openxmlformats.org/officeDocument/2006/relationships/notesSlide" Target="/ppt/notesSlides/notesSlide9.xml" Id="R2ce5ff7323ee4f8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dbce8438ba4b12" /><Relationship Type="http://schemas.openxmlformats.org/officeDocument/2006/relationships/notesSlide" Target="/ppt/notesSlides/notesSlide10.xml" Id="Rd5211bb2d0db4c5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af9cbdce254e15" /><Relationship Type="http://schemas.openxmlformats.org/officeDocument/2006/relationships/notesSlide" Target="/ppt/notesSlides/notesSlide11.xml" Id="R2f6fcbcd54514fb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b16d6ca142479c" /><Relationship Type="http://schemas.openxmlformats.org/officeDocument/2006/relationships/notesSlide" Target="/ppt/notesSlides/notesSlide12.xml" Id="R4bdcd45d7aa44f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F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C0B3E0-60B6-4768-8A2B-E1C98363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9CDD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CDD2"/>
                </a:solidFill>
                <a:latin typeface="Arial"/>
                <a:ea typeface="Arial"/>
                <a:cs typeface="Arial"/>
              </a:rPr>
              <a:t>试用期转正答辩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95A0EE-2D1F-4A4B-A2D1-3A40206E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85925"/>
            <a:ext cx="9525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工作回顾与</a:t>
            </a:r>
          </a:p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工程重构实践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A8FF25-E5AD-4787-97EC-45436C4C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768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4E3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4E3E8"/>
                </a:solidFill>
                <a:latin typeface="Arial"/>
                <a:ea typeface="Arial"/>
                <a:cs typeface="Arial"/>
              </a:rPr>
              <a:t>软件开发岗位  /  [姓名]  /  [部门]  /  [日期]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6A8C5C-5A84-4CD0-9ED7-1DBCFE7B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578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C1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C1CA"/>
                </a:solidFill>
                <a:latin typeface="Arial"/>
                <a:ea typeface="Arial"/>
                <a:cs typeface="Arial"/>
              </a:rPr>
              <a:t>磁控胶囊项目是工作案例之一，重点说明技术理解、改造思路与交付方式</a:t>
            </a:r>
          </a:p>
        </p:txBody>
      </p:sp>
    </p:spTree>
    <p:extLst>
      <p:ext uri="{BB962C8B-B14F-4D97-AF65-F5344CB8AC3E}">
        <p14:creationId xmlns:p14="http://schemas.microsoft.com/office/powerpoint/2010/main" val="13058364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721359-C819-4761-9058-A66B63AF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01  工作总览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600D3A-7EE0-4A81-9D39-F1308578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试用期工作内容与考核表对应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B38284-A8FD-41C8-81B8-FD257E87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答辩主线围绕“理解工作、完成任务、形成交付、持续改进”。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6031EA-5BF8-4E98-A853-B35C6473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0C07CF-16FC-4D04-98E4-DEC31AF0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92F402-FA80-4760-83EB-E760DF00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621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610726-FADC-4B19-A176-FFCE22FB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9621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产品与系统理解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52D9CB-658B-4C3A-B921-62C78B66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96215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产品构成、主控流程、通信链路和异常路径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0E0213-302D-470E-940D-4F35CBEE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104298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D8B94C-0DC0-4C76-A684-E5E923C9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6479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30%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C5A0DD-2B76-466B-A7F8-E47AAF4D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6479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代码开发与缺陷修复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FE8651-B7F0-488C-BF9E-E2FFCA57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64795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按规范开发、定位问题、控制修改影响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4D4B1D-5D9A-4621-97DD-37C827FA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104298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250F91-519F-4BDC-9F49-4ADBFEB8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337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075AFB-5093-465B-8A7E-B5A65063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3337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交接与版本迭代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52BBC4-FF6E-4CCB-B994-CE8E6432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33375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接收资料，承担功能维护与迭代，配合验证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8F09AC-1343-488A-844E-E59AD8CA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104298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4E47D1-75E6-4BC3-8854-5186C5F2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0195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0BC4FA-6996-487C-8B88-EC1EBB98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0195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法规标准与软件文档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879442-E15E-4661-91C4-C347B0A4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01955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理解适用标准，按流程输出可追溯资料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687011-2148-4B70-B53C-77C710DD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104298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2145D0-CE78-40AF-9299-B93E6FA9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7053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10%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A06F65-D067-4E3A-93D1-D66C8366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7053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专项任务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A3BD81-5683-428F-85F8-88A9A4FD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70535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按期处理临时任务，及时反馈风险和进度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9307F7-3659-4BEA-AFD0-EB16EE87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81600"/>
            <a:ext cx="104298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B0E1C8-A842-41D0-9444-ECB37502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58165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职业素养（20%）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80C088-61A7-49D8-99C3-EC9AA2A9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58165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工作态度　责任心　执行力　沟通协调　团队协作</a:t>
            </a:r>
          </a:p>
        </p:txBody>
      </p:sp>
    </p:spTree>
    <p:extLst>
      <p:ext uri="{BB962C8B-B14F-4D97-AF65-F5344CB8AC3E}">
        <p14:creationId xmlns:p14="http://schemas.microsoft.com/office/powerpoint/2010/main" val="20821416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070D39-8119-4B65-ACF4-ED7E01FB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02  工作回顾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099E72-5A2B-4789-8D9D-A8C49663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试用期工作主线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42D730-507A-414B-AFC0-7067169C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项目任务以外，重点呈现个人负责范围、交付证据和协作过程。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0389D2-1AAA-413D-A6B3-655816CD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365ABE-E344-402A-9A58-F038C640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DFB6A9-CCC3-4AF9-8A70-D207B3B9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工作内容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E5D8F6-3DAE-439F-BE66-FF9646B8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0764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本人承担与交付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4DF952-3F7F-4BA5-A1E1-9C505496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764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证明材料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1BB2F4-5211-44AD-B2D9-9E3CCA64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384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熟悉产品与代码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EBA146-7A90-4C61-A0E8-7625C11A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638425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[负责模块 / 关键流程 / 上手成果]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0788B3-EB76-4837-9EDE-0C99C0AE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38425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[交接资料 / 学习记录]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3B51C1-43F9-4CBE-86C5-749C9BDD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10477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12D8E6-F006-4189-A19D-352F05AC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开发与问题闭环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1B87F6-F2E1-4F2E-8939-0991D7CC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31470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[功能迭代 / 缺陷定位 / 修复结果]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6D239A-E9A2-445E-8450-B042F4BE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147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[提交 / 缺陷单 / 评审]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10E17C-16B3-463C-93D5-17AC448B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10477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D4ACBB-7ABD-4186-A8B8-5F8B9DEE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909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验证与跨团队配合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828A18-4EB4-4E0D-9E73-9749411C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990975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[联调、验证支持、问题同步]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B8CA82-E6F7-4F1F-AD71-5D417F35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90975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[测试记录 / 协作案例]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D91269-12FB-47E4-BFB3-4C932187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0477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A16CB0-1ADC-4DB7-A2D0-E92EDFEA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专项任务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E084E5-33AD-4482-B1C7-6728E00E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66725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[任务名称、时限、结果]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C4057A-E7D1-40BF-9A0F-AD98C8A6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6725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[任务记录 / 汇报记录]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F0EC96-1960-4E68-830E-FB2C7F46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53025"/>
            <a:ext cx="10477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70D617-12AD-4A6C-A170-3100C557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57850"/>
            <a:ext cx="10382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答辩建议：每件事按“背景 → 本人动作 → 验证证据 → 结果/复盘”讲清楚。</a:t>
            </a:r>
          </a:p>
        </p:txBody>
      </p:sp>
    </p:spTree>
    <p:extLst>
      <p:ext uri="{BB962C8B-B14F-4D97-AF65-F5344CB8AC3E}">
        <p14:creationId xmlns:p14="http://schemas.microsoft.com/office/powerpoint/2010/main" val="7846354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9F313A9-C0B7-47D9-B3E4-FE839A62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03  项目理解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5F87AC-0E46-4F9A-A2D9-0E2B762F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产品系统与图像数据链路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43BB62-2B3C-4E8A-A8DC-80CDFC8E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胶囊端采图与编码，接收端选天线和转发，STM32 校验后送 PC 与 SD。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8AABE7-8B24-41F8-8E77-F7A93151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94B92C-6B6A-4582-B8DE-17B3C3D6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92BFC4-7CF6-40B7-A1DF-2E7C12EF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57450"/>
            <a:ext cx="15240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6C8250-F9FB-4C45-B472-CF9A5265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81275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OV7676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18E72A-8BA9-4BCA-8E80-01BDAB9B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295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图像传感器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480×480 YUV422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1465C0-14D3-412B-8088-6D30EFF3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457450"/>
            <a:ext cx="15240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548FA0-C528-494A-B527-350C48BE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581275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CX93510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47AC91-D238-43FF-858B-48AFF91A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962275"/>
            <a:ext cx="1295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采集同步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JPEG 压缩 / 帧 RAM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E91435-10D2-4558-8E53-63FFE003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57450"/>
            <a:ext cx="15240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3A9FD0-E15B-4B21-97CC-A8940839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81275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nRF TX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0B8363-CCF4-474B-B4D8-1C3C7EE4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62275"/>
            <a:ext cx="1295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SPI 读帧 RAM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分片无线发送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63996C-C508-42F2-9957-FC7296FA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457450"/>
            <a:ext cx="15240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52F8A4-ACFD-40D6-8781-A51D04FA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581275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nRF RX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1093A3-A1E6-467F-BB94-192095C0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962275"/>
            <a:ext cx="1295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12 路天线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选路 / 收包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F6F753-8607-40D5-BE00-F350419F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57450"/>
            <a:ext cx="15240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91C142-90AF-418E-BE47-ACA7F0B6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81275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STM32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BBD6FB-B712-4422-9935-DE484F69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62275"/>
            <a:ext cx="1295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USART2 解析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校验 / 转发 / SD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08B8BF-09A7-4525-B462-0344A9B1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457450"/>
            <a:ext cx="15240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3DFCF4-1A98-4592-8CE9-04DF9F97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581275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PC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26DC3C-C9A0-4AF6-A094-2BAAB6E1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962275"/>
            <a:ext cx="1295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图像显示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设备信息 / 文件</a:t>
            </a:r>
          </a:p>
        </p:txBody>
      </p:sp>
      <p:cxnSp>
        <p:nvCxnSpPr>
          <p:cNvPr id="63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152650" y="311467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D3FA0F-02BB-48D4-994C-3ED0BD36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933700"/>
            <a:ext cx="638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DVP 并行</a:t>
            </a:r>
          </a:p>
        </p:txBody>
      </p:sp>
      <p:cxnSp>
        <p:nvCxnSpPr>
          <p:cNvPr id="65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067175" y="311467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AF05F6-599A-4C4A-A0D2-A3C5891E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33700"/>
            <a:ext cx="638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主机 SPI</a:t>
            </a:r>
          </a:p>
        </p:txBody>
      </p:sp>
      <p:cxnSp>
        <p:nvCxnSpPr>
          <p:cNvPr id="67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981700" y="311467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arrow" w="med" len="me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7DB66F-B023-45F8-ADDB-2EFDBCF4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933700"/>
            <a:ext cx="638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2.4 GHz Radio</a:t>
            </a:r>
          </a:p>
        </p:txBody>
      </p:sp>
      <p:cxnSp>
        <p:nvCxnSpPr>
          <p:cNvPr id="69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896225" y="311467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arrow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192FEE-6F51-46F5-85C2-50465A5E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33700"/>
            <a:ext cx="638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USART2</a:t>
            </a:r>
          </a:p>
          <a:p xmlns:a="http://schemas.openxmlformats.org/drawingml/2006/main">
            <a: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1 Mbit/s</a:t>
            </a:r>
          </a:p>
        </p:txBody>
      </p:sp>
      <p:cxnSp>
        <p:nvCxnSpPr>
          <p:cNvPr id="71" name=""/>
          <p:cNvCxnSpPr>
            <a:stCxn xmlns:a="http://schemas.openxmlformats.org/drawingml/2006/main" id="18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9810750" y="311467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arrow" w="med" len="me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1CC41F-43BC-46D3-A665-67740EB4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933700"/>
            <a:ext cx="638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USART3</a:t>
            </a:r>
          </a:p>
          <a:p xmlns:a="http://schemas.openxmlformats.org/drawingml/2006/main">
            <a: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921600 bit/s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AFD8C1-918C-42CF-BFFD-596D5830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005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数据归属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B014A8-157F-41BF-98BF-ABD59B2B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4005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像素流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2CD0F5-8D61-49EC-B2DE-E6A5B4F7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005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JPEG 帧数据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286F027-31BB-44ED-A460-B592F0EB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4005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固定长度无线包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C542990-41B7-40B0-988A-A77035A4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4005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校验后的图片帧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C8D3FC-8B31-4C13-87BA-35F976B3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2922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SD 卡保存固定长度 .YS 记录，PC 可接收实时图像并查看历史记录。</a:t>
            </a:r>
          </a:p>
        </p:txBody>
      </p:sp>
    </p:spTree>
    <p:extLst>
      <p:ext uri="{BB962C8B-B14F-4D97-AF65-F5344CB8AC3E}">
        <p14:creationId xmlns:p14="http://schemas.microsoft.com/office/powerpoint/2010/main" val="8233463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F64C28-BB0A-41E2-963D-BA4ECD24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04  采集与编码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57A1E7-341B-4FA8-BCBC-A99D6352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图像怎样变成可发送的 JPEG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1645A1-6F1A-47EC-8D24-B94074C5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关键边界：OV7676 输出原始像素；CX93510 负责采集、压缩和缓存；nRF 负责读取与传输。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E6419D-3016-4537-8030-238536B4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C355E6-1C8F-4F91-8D5E-E9144C9E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91632B-3B5A-41A2-BA94-65497F13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05075"/>
            <a:ext cx="2428875" cy="1743075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8F2F4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77669B-576B-4CE2-BC97-105271A3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628900"/>
            <a:ext cx="22002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OV7676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E88A19-7146-4DCF-9D74-56EF9E1F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009900"/>
            <a:ext cx="22002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曝光成像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并行 DVP 输出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YUV422：Y0/U/Y1/V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44A4C-D749-453A-8927-D021651B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05075"/>
            <a:ext cx="2762250" cy="1743075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DDECEF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7D8F89-6537-4E1F-894B-A2608CB2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628900"/>
            <a:ext cx="2533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CX93510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D615A0-1544-41D5-B9BF-665E95AA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09900"/>
            <a:ext cx="25336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DVP 同步采集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JPEG 编码器处理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结果写入帧 RAM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B3D452-9961-46D1-B27C-C5CB95D7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05075"/>
            <a:ext cx="2714625" cy="1743075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8F2F4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C67314-3BC1-419D-B33C-A997A965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28900"/>
            <a:ext cx="2486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nRF52832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6CED13-4B71-441E-A37E-BD37139D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09900"/>
            <a:ext cx="24860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通过 SPI 访问 CX93510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读取帧块状态、地址和长度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每个 DATA 分片按需取数</a:t>
            </a:r>
          </a:p>
        </p:txBody>
      </p:sp>
      <p:cxnSp>
        <p:nvCxnSpPr>
          <p:cNvPr id="40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238500" y="3376613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C3D126-3FDF-4D85-8E63-F3630C38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0575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DVP 像素流</a:t>
            </a:r>
          </a:p>
        </p:txBody>
      </p:sp>
      <p:cxnSp>
        <p:nvCxnSpPr>
          <p:cNvPr id="42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524750" y="3376613"/>
            <a:ext cx="1219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A28BE1-0C73-4458-A112-753A3A50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57525"/>
            <a:ext cx="1219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SPI 读帧 RAM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72014E-DB63-446F-B438-DEC8620E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19300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36A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6A27"/>
                </a:solidFill>
                <a:latin typeface="Arial"/>
                <a:ea typeface="Arial"/>
                <a:cs typeface="Arial"/>
              </a:rPr>
              <a:t>控制路径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81BA11-EB39-4456-82F7-2DD9AE15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981200"/>
            <a:ext cx="914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nRF 通过 CX93510 的 I²C 代理配置 OV7676，读回关键寄存器确认输出格式。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55BF56-4577-411E-B1E0-ADC441A7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791075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采集顺序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27DE1A-C193-4F1C-BF93-CC83B376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791075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唤醒摄像头并预热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9766B5-914C-4B12-ABC5-D4284592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791075"/>
            <a:ext cx="314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启动单帧采集与 JPEG 压缩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44D94D-BC5F-4ABB-93B6-49C050A4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791075"/>
            <a:ext cx="3381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JPEG 留在帧 RAM，nRF 分片读取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34EF9D-EBE8-43AF-9C89-41F69A18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34025"/>
            <a:ext cx="10525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当前 TX 不把整张 JPEG 复制到 nRF 的 image_buff[]；发送 DATA 时从 CX93510 帧 RAM 读取对应区间。</a:t>
            </a:r>
          </a:p>
        </p:txBody>
      </p:sp>
    </p:spTree>
    <p:extLst>
      <p:ext uri="{BB962C8B-B14F-4D97-AF65-F5344CB8AC3E}">
        <p14:creationId xmlns:p14="http://schemas.microsoft.com/office/powerpoint/2010/main" val="20507271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7ACF0A-2B46-43DA-B7F3-9D52781C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05  通信链路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F11D21-6F61-4C22-82F1-200E7216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无线传输、接收与 PC 转发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6B09A5-E807-469C-ADDE-BD0C6278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各段使用不同帧格式，排查问题时先确认数据停在哪条链路。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EB7468-4C0E-453C-9ACC-A7EC2A30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09540D-4B3D-4D1B-9F32-455A80FD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241AEB-E4E6-4541-AB18-17E7CC48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2190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0286A3-65B7-4E28-B94E-A63EA286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81275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nRF TX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5BDD2C-88DA-44C4-8723-253A7654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62275"/>
            <a:ext cx="1962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BEGIN / DATA / END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每包 254 B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DATA 最多 242 B 图像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57D5FE-953C-481A-8A97-938EEBEC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57450"/>
            <a:ext cx="2190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D2A27D-B7E7-49CF-AC52-CB10A753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581275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nRF RX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C3DDE3-1E83-4E85-B3E9-2D12E4DB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962275"/>
            <a:ext cx="1962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CRC 与 SN 匹配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12 路天线选路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无线包经 UART 转发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2A9D00-707F-45C0-B862-51631A1F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57450"/>
            <a:ext cx="2190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F0D67C-30AF-4F72-AFCB-5B01BF86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81275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STM32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34DCCA-6E9D-4D3E-A1C2-E1138222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62275"/>
            <a:ext cx="1962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USART2 流式解析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长度 / Checksum 校验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补 DeviceInfo / JPEG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0596DF-F5DD-4AB2-A080-0C09B7B1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457450"/>
            <a:ext cx="2190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54B003-BBAE-4849-AE8A-CA632810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581275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PC + SD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5C70C1-28BF-4FA4-944D-2E6C07DD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962275"/>
            <a:ext cx="1962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USART3 DMA 发 PC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SD 写入 20064 B 记录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每 10 次成功写入同步</a:t>
            </a:r>
          </a:p>
        </p:txBody>
      </p:sp>
      <p:cxnSp>
        <p:nvCxnSpPr>
          <p:cNvPr id="46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971800" y="308610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E990A8-6ED9-40CE-A482-0167A6D4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956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Radio</a:t>
            </a:r>
          </a:p>
        </p:txBody>
      </p:sp>
      <p:cxnSp>
        <p:nvCxnSpPr>
          <p:cNvPr id="48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667375" y="308610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F339F5-D5FF-4826-9092-308FF827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8956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USART2</a:t>
            </a:r>
          </a:p>
        </p:txBody>
      </p:sp>
      <p:cxnSp>
        <p:nvCxnSpPr>
          <p:cNvPr id="50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362950" y="308610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284A7D-587C-42A9-9748-EE54FA68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9560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USART3 / SDIO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D72D1B-3EF3-4239-A323-51B129A2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386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RX → STM 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E0168B-02AE-49F2-8D81-1E6656A7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419600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F40"/>
                </a:solidFill>
                <a:latin typeface="Arial"/>
                <a:ea typeface="Arial"/>
                <a:cs typeface="Arial"/>
              </a:rPr>
              <a:t>FF 55 12 34 81 + 长度 + 128 B DeviceInfo + JPEG + 校验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31CA1A-B481-4116-9FE6-ED02CA90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149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STM → PC 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2AD176-2EBF-40C7-9161-6C222B52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8958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32F40"/>
                </a:solidFill>
                <a:latin typeface="Arial"/>
                <a:ea typeface="Arial"/>
                <a:cs typeface="Arial"/>
              </a:rPr>
              <a:t>ZAYS 81 + 长度 + JPEG + DeviceInfo + 校验；图片按四段 DMA 顺序发送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01A7B4-9843-4A04-90AB-011C8FCF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8165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36A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36A27"/>
                </a:solidFill>
                <a:latin typeface="Arial"/>
                <a:ea typeface="Arial"/>
                <a:cs typeface="Arial"/>
              </a:rPr>
              <a:t>无线协议 / UART 帧头 / SD 记录格式不能混为同一种“胶囊协议”。</a:t>
            </a:r>
          </a:p>
        </p:txBody>
      </p:sp>
    </p:spTree>
    <p:extLst>
      <p:ext uri="{BB962C8B-B14F-4D97-AF65-F5344CB8AC3E}">
        <p14:creationId xmlns:p14="http://schemas.microsoft.com/office/powerpoint/2010/main" val="12103761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BF57BB-79C4-48CC-84FF-7CB3AFE8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06  重构案例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84ADEC-8A94-48D2-8E83-ECC93C88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新旧工程差异与重构重点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BE94DC-E57B-4A1E-B261-243EE7B1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当前方案主要调整数据搬运、低功耗编排和天线选路策略。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6549F6-AFCA-4427-B7C3-574CEF4B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6B2828-6BAD-431C-A33E-5E8F8095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60FD25-8297-43A6-B7D5-26B8CB9D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383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问题 / 旧工程做法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C1521D-5BB6-4815-82CD-4729863A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383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当前工程改动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AAB262-532C-4B0A-99F8-06706A6C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0383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工程意义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A8E073-AA71-4AD5-B34E-7113A90A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90800"/>
            <a:ext cx="3286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整图先复制到 nRF image_buff[]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A6D744-F4C0-4BD0-BFE5-63A74286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90800"/>
            <a:ext cx="33813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DATA 时从 CX93510 帧 RAM 按需读取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ABA85C-8123-4135-AC53-54820EBE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590800"/>
            <a:ext cx="304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减少整图副本；帧 RAM 在发送完成前保持可读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61370A-C9D9-432C-BD72-5AFB6B3D3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71825"/>
            <a:ext cx="105251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19E119-F20A-42A7-B9A8-13EF07D0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05175"/>
            <a:ext cx="3286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SPI 常开，空闲主要靠 PDRAM 控制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22D146-5A06-47DA-ADBD-9649F09D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05175"/>
            <a:ext cx="33813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图片事务结束后关闭 nRF SPIM0；RTC2 + WFE 空闲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332A5E-315C-43EE-AA4B-ED2DBC63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305175"/>
            <a:ext cx="304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把节电策略放到主循环任务边界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2F7086-E191-42D4-BB8B-FB97C250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86200"/>
            <a:ext cx="105251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375091-7583-4B7E-BA66-89E353DA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19550"/>
            <a:ext cx="3286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RSSI 取单路最强值，单一候选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9F9A11-5EF8-4619-AAFD-81E40CF7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19550"/>
            <a:ext cx="33813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匹配绑定 SN、CRC 正确，多样本均值，前三候选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25F1F8-D6F1-44F5-AA35-4412EE10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019550"/>
            <a:ext cx="304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让样本和目标设备对应，失联时有候选可切换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858046-DD26-4C10-B586-1CD4A308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00575"/>
            <a:ext cx="105251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B696A3-B270-4E6B-BC4F-07F46366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733925"/>
            <a:ext cx="3286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超时后直接重新扫描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3888C2-E8D5-4701-AD59-1CBCBF8F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733925"/>
            <a:ext cx="33813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先尝试候选天线，再发起扫描协商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8B848F-266C-4AD5-B969-6EBB9AA7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733925"/>
            <a:ext cx="304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移动时可先切路，候选耗尽再重新扫描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37A849-B54D-4CBB-B49E-048CA860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14950"/>
            <a:ext cx="105251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1CB72F-3C83-4CC4-866B-B2354535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38800"/>
            <a:ext cx="1047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36A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36A27"/>
                </a:solidFill>
                <a:latin typeface="Arial"/>
                <a:ea typeface="Arial"/>
                <a:cs typeface="Arial"/>
              </a:rPr>
              <a:t>实测结果请补：功耗 / 完整帧率 / 丢帧 / 移动场景恢复时间 [测试数据和条件]</a:t>
            </a:r>
          </a:p>
        </p:txBody>
      </p:sp>
    </p:spTree>
    <p:extLst>
      <p:ext uri="{BB962C8B-B14F-4D97-AF65-F5344CB8AC3E}">
        <p14:creationId xmlns:p14="http://schemas.microsoft.com/office/powerpoint/2010/main" val="21393862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4EB9A2-02D6-4A4F-AD0A-37EF28A5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07  开发交付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6D39ED-6DEC-4507-B9D2-94C4F73C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个人承担工作与问题闭环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CBB546-226B-4FC3-B762-0166B3A2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用一项具体改动展示：问题怎么发现、怎样修改、如何验证。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91AF6B-F1CB-4F33-A047-8A84E73D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44E897-CA66-424B-B622-FCA9221F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D3BD96-2E18-4355-84E1-8B77FB6E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47875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案例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A6730C-73DB-4895-97A8-85C4217A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4787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本人做了什么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F12FE0-2038-4FCA-9345-85A596EB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478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如何证明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27A357-CBAF-41D6-AC5C-46831A03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4787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结果与复盘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225A7D-0531-4F87-A2C4-D84BD728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90800"/>
            <a:ext cx="1381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代码重构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9B54FA-F524-48BC-A3F0-760413A44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90800"/>
            <a:ext cx="309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[模块 / 函数 / 关键改动]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7895CD-32C9-41E6-8711-F78F94CB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90800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[提交 / 评审 / 静态检查]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752978-E022-4A34-8EBE-692403B1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90800"/>
            <a:ext cx="2524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[解决的问题 / 遗留边界]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C9FFCC-3CEF-4FF8-A4F7-8A2D6DEB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86125"/>
            <a:ext cx="105251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32910D-4C3D-46FF-AE1A-C154BFB2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1381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缺陷修复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2F7DFA-2844-4604-A324-DC8D74C8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86150"/>
            <a:ext cx="309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[现象 / 根因 / 修复策略]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5419D9-D76D-45FD-AD2B-B2BECDBE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86150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[复现步骤 / 回归记录]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0F3C59-652E-4A0E-9953-B6DF2044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86150"/>
            <a:ext cx="2524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[影响范围 / 回归结果]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767BD5-F5C3-466F-805B-5FC7BB46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81475"/>
            <a:ext cx="105251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CFDAAF-B39F-464B-B4A9-06873ADC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0"/>
            <a:ext cx="1381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版本迭代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14FC02-5650-4535-9D5E-E90E915D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81500"/>
            <a:ext cx="309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[需求来源 / 本人职责]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7ED8AF-7CA1-4B3B-93A9-A260AB94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81500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[需求追踪 / 版本记录]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BABAD6-E91E-43DF-9E4E-3AF8D551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81500"/>
            <a:ext cx="2524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[交付结果 / 后续事项]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4AF884-7096-40D3-AD35-F53DBD59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76825"/>
            <a:ext cx="105251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2A4962-F487-4206-823F-242142B8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62600"/>
            <a:ext cx="10382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36A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36A27"/>
                </a:solidFill>
                <a:latin typeface="Arial"/>
                <a:ea typeface="Arial"/>
                <a:cs typeface="Arial"/>
              </a:rPr>
              <a:t>需本人填入真实材料：代码提交号、缺陷单、评审结论、验证记录。</a:t>
            </a:r>
          </a:p>
        </p:txBody>
      </p:sp>
    </p:spTree>
    <p:extLst>
      <p:ext uri="{BB962C8B-B14F-4D97-AF65-F5344CB8AC3E}">
        <p14:creationId xmlns:p14="http://schemas.microsoft.com/office/powerpoint/2010/main" val="8704391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76B1FB-31B2-4CF1-8981-0D2FAA86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08  法规合规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B9A994-90A9-4697-83E6-F7DC3D88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新旧标准差异与变更注册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9D60B6-3856-4226-95B1-407401C8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关键变化：安全与性能要求升级，注册资料需按新标准重新评估。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92626-C997-4879-AC34-9CA7237A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BBD4AF-E718-4E19-BD74-712A0A9D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B85C62-260C-43D2-AF16-F18AA675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标准更新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D58109-C499-4063-83E2-54C8AEA5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812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旧版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C1571D-1995-47FB-863D-0D7DF8A7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812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新版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178E60-5A38-44D0-8FD7-86899328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812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变化重点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9C4287-8354-429E-94BC-6060DFBA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1952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通用安全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5BD34E-9AB9-4C13-9163-5029F437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00300"/>
            <a:ext cx="276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GB 9706.1-2007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0686B7-7610-4C1D-A7CE-BE4398B4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030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GB 9706.1-2020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45B79C-9451-47AF-9776-F1E97F62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00300"/>
            <a:ext cx="2190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从基本安全扩展到基本安全＋基本性能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EFBDB1-4E47-4691-AF59-597C5417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105251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05EE74-C973-44E6-830D-F53DA03C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1952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电磁兼容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FF0192-E933-4097-8AB3-8BD5657F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150"/>
            <a:ext cx="276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YY 0505-2012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7D7CF2-E73D-421F-9BE0-2C8608D3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051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YY 9706.102-2021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A397A6-4D11-40AE-9F09-33C9E67C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05150"/>
            <a:ext cx="2190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按新版 EMC 要求重新评估与验证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2E08F5-081C-43BE-B51A-7D43AADA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57600"/>
            <a:ext cx="105251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7DC761-E229-4008-A48A-AAF0FC48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1952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风险管理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FD1D24-3C62-44C7-AD8B-C12E39CA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10000"/>
            <a:ext cx="276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YY/T 0316-2016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7C7846-50E7-4CC2-80B1-BD381D29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GB/T 42062-2022</a:t>
            </a:r>
          </a:p>
          <a:p xmlns:a="http://schemas.openxmlformats.org/drawingml/2006/main"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YY/T 1437-2023 指南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0E4C41-C87D-4CE0-B203-603A7A25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10000"/>
            <a:ext cx="2190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更新风险管理依据及过程/记录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7F6050-CCEE-421E-8C56-C1E6BFCC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105251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6C4E93-A145-4F67-92C0-BCE77097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14875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变更注册主线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37846B-0320-4956-843F-B7569843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6958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差距分析  →  风险 / 设计更新  →  检验与资料更新  →  变更注册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394CF1-76A5-443C-B55F-711AFD7A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0175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另核对专用标准：GB 9706.218-2021（内窥镜设备）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E873BD-4A89-4788-880F-4DA80C6C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673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36A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36A27"/>
                </a:solidFill>
                <a:latin typeface="Arial"/>
                <a:ea typeface="Arial"/>
                <a:cs typeface="Arial"/>
              </a:rPr>
              <a:t>注：具体适用条款、资料范围与期限由法规/注册负责人结合注册单元确认。</a:t>
            </a:r>
          </a:p>
        </p:txBody>
      </p:sp>
    </p:spTree>
    <p:extLst>
      <p:ext uri="{BB962C8B-B14F-4D97-AF65-F5344CB8AC3E}">
        <p14:creationId xmlns:p14="http://schemas.microsoft.com/office/powerpoint/2010/main" val="8723727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B29C51-89F9-4C0C-AF79-0FC8F211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09  质量意识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B778E6-1D3A-4691-9CBB-134D1E29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流程文件、验证与可追溯交付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21A14F-C789-4EDF-8E2F-1921D03D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软件实现只是交付的一部分，需求、风险、测试和变更记录也要连起来。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C81505-2449-4B59-AD42-B8F59993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F02AF5-63F3-4113-8E01-E7AE4143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CC197C-235A-48A4-BAF2-B2107518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43175"/>
            <a:ext cx="1790700" cy="105727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E06A27-E519-4BC8-92BD-833EF985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6670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需求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85252F-595F-4D52-B267-F57A1E1A2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48000"/>
            <a:ext cx="15621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来源 / 编号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[待补]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9CC111-4E02-45BD-9FE5-808D43BC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543175"/>
            <a:ext cx="1790700" cy="105727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9E6A70-CD5C-4805-A911-032A1E4D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6670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设计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BE9BA8-58C0-48F0-897C-FB4E42F7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048000"/>
            <a:ext cx="15621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接口 / 状态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[待补]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2E46B6-BEAA-4A3C-8B5E-F3498EF6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543175"/>
            <a:ext cx="1790700" cy="105727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DECEF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93B145-1138-4CE5-B808-E1C49D11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6670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实现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BB1F59-045F-4098-A254-CB365108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048000"/>
            <a:ext cx="15621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提交 / 评审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[待补]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9F5EAE-F93F-4CE7-8FAD-D90507BD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543175"/>
            <a:ext cx="1790700" cy="105727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7B6600-120F-4B4B-BEC0-32B52710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6670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验证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C02CA1-C324-4D4E-B195-9208C993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048000"/>
            <a:ext cx="15621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用例 / 结果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[待补]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DA7D52-6DBD-48A5-8B50-6710103B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543175"/>
            <a:ext cx="1790700" cy="105727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9B39B7-01A2-43A0-A5F4-5207B085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6670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发布维护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A5EDB0-3937-42B3-90BE-7A61134B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048000"/>
            <a:ext cx="15621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版本 / 变更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[待补]</a:t>
            </a:r>
          </a:p>
        </p:txBody>
      </p:sp>
      <p:cxnSp>
        <p:nvCxnSpPr>
          <p:cNvPr id="50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505075" y="3071813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arrow" w="med" len="med"/>
          </a:ln>
        </p:spPr>
      </p:cxnSp>
      <p:cxnSp>
        <p:nvCxnSpPr>
          <p:cNvPr id="51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676775" y="3071813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arrow" w="med" len="med"/>
          </a:ln>
        </p:spPr>
      </p:cxnSp>
      <p:cxnSp>
        <p:nvCxnSpPr>
          <p:cNvPr id="52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848475" y="3071813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arrow" w="med" len="med"/>
          </a:ln>
        </p:spPr>
      </p:cxnSp>
      <p:cxnSp>
        <p:nvCxnSpPr>
          <p:cNvPr id="53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020175" y="3071813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B1D4BD-C673-4E78-A557-F40D62BC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已梳理资料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A42D21-D34D-4AF0-A4E7-E75BAE80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40055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F40"/>
                </a:solidFill>
                <a:latin typeface="Arial"/>
                <a:ea typeface="Arial"/>
                <a:cs typeface="Arial"/>
              </a:rPr>
              <a:t>通信协议、目录结构、TX/RX/STM 软件框架、新旧工程对比。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4A927F-3016-4098-9E21-55A69F9D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36A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36A27"/>
                </a:solidFill>
                <a:latin typeface="Arial"/>
                <a:ea typeface="Arial"/>
                <a:cs typeface="Arial"/>
              </a:rPr>
              <a:t>待补正式证据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13C1EC-9790-4F39-BAE2-327E473F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85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公司流程文件编号、适用标准清单、需求追踪、验证报告、评审和版本记录。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284F03-F3AB-4E23-907B-7D57561F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6737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36A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36A27"/>
                </a:solidFill>
                <a:latin typeface="Arial"/>
                <a:ea typeface="Arial"/>
                <a:cs typeface="Arial"/>
              </a:rPr>
              <a:t>当前工程已知边界：STM 图片解析尚无帧静默超时，列入后续风险评估与验证。</a:t>
            </a:r>
          </a:p>
        </p:txBody>
      </p:sp>
    </p:spTree>
    <p:extLst>
      <p:ext uri="{BB962C8B-B14F-4D97-AF65-F5344CB8AC3E}">
        <p14:creationId xmlns:p14="http://schemas.microsoft.com/office/powerpoint/2010/main" val="16215128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0EF07D-AC66-4FA5-B537-B0A7EEE0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10  协作与执行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ED4EE6-0309-42C7-8A6C-F7E3DA3A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工作方式与职业素养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194BDF-9E96-4767-B97F-7FFA3CC1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把五项职业素养落到具体事件，避免只做自我评价。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5AC407-77C5-4492-B6F3-84968EA08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C48C05-5AE0-4D2F-A43A-787105C0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C1A1EC-2204-4755-9AB7-4CF80DAE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95500"/>
            <a:ext cx="57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29EBF1-95DE-4E8C-A5F2-A9F70AEE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0955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工作态度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6912B9-8365-4180-9638-9DCCC145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095500"/>
            <a:ext cx="7334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[遇到复杂任务时的投入与推进例子]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F2006B-D009-4E70-AC4C-79AFDD29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24125"/>
            <a:ext cx="103346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B7A5ED-99DA-4FFD-92A9-F6964C6D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33675"/>
            <a:ext cx="57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F6D19A-F50C-472E-90BD-0E2CAE80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336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责任心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AB9A2F-3C8B-44BD-A3AF-ABF6B80D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33675"/>
            <a:ext cx="7334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[主动发现风险并跟踪到闭环的例子]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27C3B8-8C99-4D77-8AC0-6A97134F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62300"/>
            <a:ext cx="103346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B06D59-C6C2-446B-9902-6AC3C896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71850"/>
            <a:ext cx="57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772418-278F-411A-990F-E0B3FDED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718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执行力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FF8759-A7B7-4D72-9B29-055CA94C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71850"/>
            <a:ext cx="7334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[按计划完成并反馈进度的例子]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0D506C-98DC-44B9-A0A9-36568FD9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00475"/>
            <a:ext cx="103346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BE2B36-E7E0-4E67-9891-809AEBBC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10025"/>
            <a:ext cx="57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ADBCF9-C134-4646-9545-CB7C879F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100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沟通协调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E2E45B-BFE6-4AA2-AC1F-03A23FB3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10025"/>
            <a:ext cx="7334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[与测试 / 硬件 / 上位机协作案例]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135807-5E61-4753-B2F0-FA8E5ABA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38650"/>
            <a:ext cx="103346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B65C7C-4871-4528-B951-ED13AE8D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48200"/>
            <a:ext cx="57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2127D3-962B-4BA3-B9C9-A412FEDD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482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团队协作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2DA3D1-0731-4EB4-B6F3-E194518F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648200"/>
            <a:ext cx="7334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[分工、互相支持与共同交付案例]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276361-9B24-4F2F-A43D-B4B9635C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76825"/>
            <a:ext cx="103346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F3C30D-F938-4256-9BAF-39BA839C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1022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36A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36A27"/>
                </a:solidFill>
                <a:latin typeface="Arial"/>
                <a:ea typeface="Arial"/>
                <a:cs typeface="Arial"/>
              </a:rPr>
              <a:t>专项任务：[任务背景]  /  [本人负责]  /  [交付时间]  /  [结果或复盘]</a:t>
            </a:r>
          </a:p>
        </p:txBody>
      </p:sp>
    </p:spTree>
    <p:extLst>
      <p:ext uri="{BB962C8B-B14F-4D97-AF65-F5344CB8AC3E}">
        <p14:creationId xmlns:p14="http://schemas.microsoft.com/office/powerpoint/2010/main" val="14476039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32F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E0C359-F658-48A6-BE8B-3666E076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6275"/>
            <a:ext cx="9144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9CDD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9CDD2"/>
                </a:solidFill>
                <a:latin typeface="Arial"/>
                <a:ea typeface="Arial"/>
                <a:cs typeface="Arial"/>
              </a:rPr>
              <a:t>总结与下一阶段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D7A45E-C1D5-4387-8485-653EB610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942975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从系统理解到</a:t>
            </a:r>
          </a:p>
          <a:p xmlns:a="http://schemas.openxmlformats.org/drawingml/2006/main">
            <a:pPr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可追溯交付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028C39-D818-4779-8300-D68BCC72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861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9CDD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9CDD2"/>
                </a:solidFill>
                <a:latin typeface="Arial"/>
                <a:ea typeface="Arial"/>
                <a:cs typeface="Arial"/>
              </a:rPr>
              <a:t>下一阶段重点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4CD136-D961-4722-B7DD-927B1DA0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1019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补齐链路与移动场景验证；完善异常恢复和回归测试；按流程沉淀需求、风险和验证记录。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54160F-4768-4400-AF50-0102DF43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864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3E4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3E4E8"/>
                </a:solidFill>
                <a:latin typeface="Arial"/>
                <a:ea typeface="Arial"/>
                <a:cs typeface="Arial"/>
              </a:rPr>
              <a:t>申请转正  /  [本人补充一句具体承诺]</a:t>
            </a:r>
          </a:p>
        </p:txBody>
      </p:sp>
    </p:spTree>
    <p:extLst>
      <p:ext uri="{BB962C8B-B14F-4D97-AF65-F5344CB8AC3E}">
        <p14:creationId xmlns:p14="http://schemas.microsoft.com/office/powerpoint/2010/main" val="21180105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2026-09-24T07:05:14.9510000Z</dcterms:created>
  <dcterms:modified xsi:type="dcterms:W3CDTF">2026-09-24T07:05:14.9510000Z</dcterms:modified>
</coreProperties>
</file>