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1dc334527941a5" /><Relationship Type="http://schemas.openxmlformats.org/officeDocument/2006/relationships/extended-properties" Target="/docProps/app.xml" Id="Rb5e2e9e3436d420a" /><Relationship Type="http://schemas.openxmlformats.org/officeDocument/2006/relationships/officeDocument" Target="/ppt/presentation.xml" Id="R3b025cbdea2542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396206db8e4050"/>
  </p:sldMasterIdLst>
  <p:notesMasterIdLst>
    <p:notesMasterId xmlns:r="http://schemas.openxmlformats.org/officeDocument/2006/relationships" r:id="Rf29c6f7ce7144558"/>
  </p:notesMasterIdLst>
  <p:sldIdLst>
    <p:sldId xmlns:r="http://schemas.openxmlformats.org/officeDocument/2006/relationships" id="256" r:id="R01cffd70468a401b"/>
    <p:sldId xmlns:r="http://schemas.openxmlformats.org/officeDocument/2006/relationships" id="257" r:id="Rc7ee6ab423ba44c4"/>
    <p:sldId xmlns:r="http://schemas.openxmlformats.org/officeDocument/2006/relationships" id="258" r:id="Rdd95c87809ff449a"/>
    <p:sldId xmlns:r="http://schemas.openxmlformats.org/officeDocument/2006/relationships" id="259" r:id="R90e95939ad414c5a"/>
    <p:sldId xmlns:r="http://schemas.openxmlformats.org/officeDocument/2006/relationships" id="260" r:id="Rd8818f382ed345ff"/>
    <p:sldId xmlns:r="http://schemas.openxmlformats.org/officeDocument/2006/relationships" id="261" r:id="R89b4f7ad4a624e3a"/>
    <p:sldId xmlns:r="http://schemas.openxmlformats.org/officeDocument/2006/relationships" id="262" r:id="R70b3cdcd5930416b"/>
    <p:sldId xmlns:r="http://schemas.openxmlformats.org/officeDocument/2006/relationships" id="263" r:id="R3f07a657c1e34bd3"/>
    <p:sldId xmlns:r="http://schemas.openxmlformats.org/officeDocument/2006/relationships" id="264" r:id="R5ad123a6e60a4793"/>
    <p:sldId xmlns:r="http://schemas.openxmlformats.org/officeDocument/2006/relationships" id="265" r:id="Ra91638b366064fc1"/>
    <p:sldId xmlns:r="http://schemas.openxmlformats.org/officeDocument/2006/relationships" id="266" r:id="R57b0ce4945224345"/>
    <p:sldId xmlns:r="http://schemas.openxmlformats.org/officeDocument/2006/relationships" id="267" r:id="Rb54fb00ee81b4d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0f0b0c14f04bbe" /><Relationship Type="http://schemas.openxmlformats.org/officeDocument/2006/relationships/slideMaster" Target="/ppt/slideMasters/slideMaster1.xml" Id="R79396206db8e4050" /><Relationship Type="http://schemas.openxmlformats.org/officeDocument/2006/relationships/notesMaster" Target="/ppt/notesMasters/notesMaster1.xml" Id="Rf29c6f7ce7144558" /><Relationship Type="http://schemas.openxmlformats.org/officeDocument/2006/relationships/presProps" Target="/ppt/presProps.xml" Id="R34f04b2ede794965" /><Relationship Type="http://schemas.openxmlformats.org/officeDocument/2006/relationships/tableStyles" Target="/ppt/tableStyles.xml" Id="R91151ee518ca4bc9" /><Relationship Type="http://schemas.openxmlformats.org/officeDocument/2006/relationships/slide" Target="/ppt/slides/slide1.xml" Id="R01cffd70468a401b" /><Relationship Type="http://schemas.openxmlformats.org/officeDocument/2006/relationships/slide" Target="/ppt/slides/slide2.xml" Id="Rc7ee6ab423ba44c4" /><Relationship Type="http://schemas.openxmlformats.org/officeDocument/2006/relationships/slide" Target="/ppt/slides/slide3.xml" Id="Rdd95c87809ff449a" /><Relationship Type="http://schemas.openxmlformats.org/officeDocument/2006/relationships/slide" Target="/ppt/slides/slide4.xml" Id="R90e95939ad414c5a" /><Relationship Type="http://schemas.openxmlformats.org/officeDocument/2006/relationships/slide" Target="/ppt/slides/slide5.xml" Id="Rd8818f382ed345ff" /><Relationship Type="http://schemas.openxmlformats.org/officeDocument/2006/relationships/slide" Target="/ppt/slides/slide6.xml" Id="R89b4f7ad4a624e3a" /><Relationship Type="http://schemas.openxmlformats.org/officeDocument/2006/relationships/slide" Target="/ppt/slides/slide7.xml" Id="R70b3cdcd5930416b" /><Relationship Type="http://schemas.openxmlformats.org/officeDocument/2006/relationships/slide" Target="/ppt/slides/slide8.xml" Id="R3f07a657c1e34bd3" /><Relationship Type="http://schemas.openxmlformats.org/officeDocument/2006/relationships/slide" Target="/ppt/slides/slide9.xml" Id="R5ad123a6e60a4793" /><Relationship Type="http://schemas.openxmlformats.org/officeDocument/2006/relationships/slide" Target="/ppt/slides/slide10.xml" Id="Ra91638b366064fc1" /><Relationship Type="http://schemas.openxmlformats.org/officeDocument/2006/relationships/slide" Target="/ppt/slides/slide11.xml" Id="R57b0ce4945224345" /><Relationship Type="http://schemas.openxmlformats.org/officeDocument/2006/relationships/slide" Target="/ppt/slides/slide12.xml" Id="Rb54fb00ee81b4d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d296b9145f42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8516ebd0c34b97" /><Relationship Type="http://schemas.openxmlformats.org/officeDocument/2006/relationships/notesMaster" Target="/ppt/notesMasters/notesMaster1.xml" Id="Rc059aea2d8154a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13237f4e294b83" /><Relationship Type="http://schemas.openxmlformats.org/officeDocument/2006/relationships/notesMaster" Target="/ppt/notesMasters/notesMaster1.xml" Id="R6b331efdf77140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281d1aa3254aee" /><Relationship Type="http://schemas.openxmlformats.org/officeDocument/2006/relationships/notesMaster" Target="/ppt/notesMasters/notesMaster1.xml" Id="R7020820c51bd4d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daa6b6c4b14788" /><Relationship Type="http://schemas.openxmlformats.org/officeDocument/2006/relationships/notesMaster" Target="/ppt/notesMasters/notesMaster1.xml" Id="Rfec0b90a79df4c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3be38ee3214b4e" /><Relationship Type="http://schemas.openxmlformats.org/officeDocument/2006/relationships/notesMaster" Target="/ppt/notesMasters/notesMaster1.xml" Id="Rc80b4dfdfd5846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ea74e5126a4120" /><Relationship Type="http://schemas.openxmlformats.org/officeDocument/2006/relationships/notesMaster" Target="/ppt/notesMasters/notesMaster1.xml" Id="R22200f47e56a47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091afdb1f84dff" /><Relationship Type="http://schemas.openxmlformats.org/officeDocument/2006/relationships/notesMaster" Target="/ppt/notesMasters/notesMaster1.xml" Id="Rd7372683b55a42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6de09ef7ea41fa" /><Relationship Type="http://schemas.openxmlformats.org/officeDocument/2006/relationships/notesMaster" Target="/ppt/notesMasters/notesMaster1.xml" Id="Rd163e3d4092c44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238b613c164a51" /><Relationship Type="http://schemas.openxmlformats.org/officeDocument/2006/relationships/notesMaster" Target="/ppt/notesMasters/notesMaster1.xml" Id="Rab764162b41840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de4904f7d74b0a" /><Relationship Type="http://schemas.openxmlformats.org/officeDocument/2006/relationships/notesMaster" Target="/ppt/notesMasters/notesMaster1.xml" Id="R44f185432743450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83bb63d05b413d" /><Relationship Type="http://schemas.openxmlformats.org/officeDocument/2006/relationships/notesMaster" Target="/ppt/notesMasters/notesMaster1.xml" Id="Rc3b4a2feafc94d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a0c17bd4d04a87" /><Relationship Type="http://schemas.openxmlformats.org/officeDocument/2006/relationships/notesMaster" Target="/ppt/notesMasters/notesMaster1.xml" Id="Ra9730a08549b44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补充姓名、岗位、部门、日期。开场建议先说试用期的主要职责，再说明胶囊项目是其中一个能体现系统理解和工程实践的案例。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内容对应答辩表五项工作内容与五项职业素养。为避免替本人编造绩效，每一项后续页都留有具体经历、数据或文件编号的填写位置。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源码依据：nrf_tx/examples/peripheral/radio/TX/ov7676.c、cx93510.c、image.c；RX 的 antenna_manager/radio_link；stm32F103RET6/stm_project/Core/Src/capsule_protocol.c、sd_storage.c。箭头和流程框均为可编辑 PowerPoint 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设备型号以当前源码为准：OV7676（不是 OV7766）。OV7676 经 CX93510 内部 I²C 主机配置，像素经并行 DVP 送到 CX93510；CX93510 在有限单帧模式下采集，JPEG 数据与帧块信息进入其帧 RAM；nRF52832 通过 SPI 读取帧信息并逐片读 JPEG。当前正式无线协议只发送原始图像块，不将旧版 IMG/CRC16 分块写法当作当前协议。来源：TX/ov7676.c、cx93510.c、image.c；doc/01-通信协议.md；doc/03-TX软件框架.md。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TX-RX 无线协议依据 doc/01-通信协议.md；RX到STM和STM到PC依据 doc/08-STM软件框架.md 与当前 capsule_protocol.c。协议字段和校验要以这些当前文件为准。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旧版源码：TYGD31-2.4GHZ/TYGD_RX/Application/antenna.c。ANTENNA_STATUS_SCAN 每3ms轮换12路，扫描函数读 radio_rssi_value&gt;0，36为全局累计样本数；每路记录最小RSSI幅值，选择单一路；ANTENNA_STATUS_DETECT每1200ms无完整图片时回到扫描。新版源码：nrf_rx/examples/peripheral/radio/receiver/antenna_manager.c 与 config.h、nrf_tx/examples/peripheral/radio/TX/image.c 与 config.h。绑定后SEEK_END每路8ms寻找目标END，在TX应答窗口发0x12；TX收到后发0x11并最多1800ms每8ms广播SN；RX正式FAST_SCAN每路32ms、4轮，总1536ms，只统计CRC正确、SN匹配的0x05包；以至少2个样本优先，再比较平均RSSI，保留前三候选。LOCKED中若目标包超时1500ms、完整图超时4000ms或连续3帧失败，先切下一候选，耗尽再SEEK_END。实际无线与移动性能仍需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依据：TYGD31-2.4GHZ/TYGD_TX/Application/domain.c、image.c、Application/antenna.c，以及当前 nrf_tx/examples/peripheral/radio/TX/main.c、image.c、cx93510.c，nrf_rx/examples/peripheral/radio/receiver/antenna_manager.c，doc/03-TX软件框架.md、doc/07-新旧工程对比.md。旧TX domain在初始化timer2后使用WFI，image_read有delay_ms(1)轮询，旧CX采集前等待25ms；SPI0正常空闲没有禁用，整幅JPEG读入image_buff后可拉低旧板PDRAM。新版RTC2负责低功耗500ms唤醒，TIMER1 1ms活动时基用于预热、分片和ACK的时间戳，主循环WFE；需要逐片读JPEG时保持CX帧RAM供电，图片事务结束关闭nRF SPIM0。不能概括为新版完全没有delay：CX93510初始化和单帧采集轮询仍使用短阻塞nrf_delay_ms。选路差异见上一页。该页只陈述实现差异，不宣称尚未测得的功耗或链路性能改进。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用于答辩概述新旧标准迁移，不替代法规评估。差异表只列标准层级的变化方向，不声称逐条条款差异。GB 9706.1-2007已废止，由GB 9706.1-2020替代；YY 0505-2012由YY 9706.102-2021替代。风险管理按用户给定背景：YY/T 0316-2016为原项目采用依据，切换至GB/T 42062-2022及YY/T 1437-2023应用指南；YY/T 1437-2023直接替代的是YY/T 1437-2016。变更注册适用性、注册单元、资料清单与过渡期限须由法规/注册负责人确认；过渡期通用政策详见国家药监局2023年第14号及官方解读。产品专用标准适用性也须确认；“9706.128”未检索到，胶囊内窥镜相关专用标准检索为GB 9706.218-2021。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官方来源：GB 9706.1-2020 https://openstd.samr.gov.cn/bzgk/std/newGbInfo?hcno=74E8A9884B75808BF9369E2E25196F53</a:t>
            </a:r>
          </a:p>
          <a:p xmlns:a="http://schemas.openxmlformats.org/drawingml/2006/main">
            <a:r>
              <a:t>GB 9706.1-2007 https://openstd.samr.gov.cn/bzgk/std/newGbInfo?hcno=6B3CB82E3FD260F2AF530E71D4836D49</a:t>
            </a:r>
          </a:p>
          <a:p xmlns:a="http://schemas.openxmlformats.org/drawingml/2006/main">
            <a:r>
              <a:t>YY 9706.102-2021 https://std.samr.gov.cn/hb/search/stdHBDetailed?id=BFEAFC933D025285E05397BE0A0A7BFB</a:t>
            </a:r>
          </a:p>
          <a:p xmlns:a="http://schemas.openxmlformats.org/drawingml/2006/main">
            <a:r>
              <a:t>GB 9706.218-2021 https://openstd.samr.gov.cn/bzgk/std/newGbInfo?hcno=963619BBF8282C5927A353D689EF4340</a:t>
            </a:r>
          </a:p>
          <a:p xmlns:a="http://schemas.openxmlformats.org/drawingml/2006/main">
            <a:r>
              <a:t>GB/T 42062-2022 https://openstd.samr.gov.cn/bzgk/std/newGbInfo?hcno=1148CB082527B776560903948B22DAB0</a:t>
            </a:r>
          </a:p>
          <a:p xmlns:a="http://schemas.openxmlformats.org/drawingml/2006/main">
            <a:r>
              <a:t>YY/T 1437-2023 https://std.samr.gov.cn/hb/search/stdHBDetailed?id=00D333A21F1A492AE06397BE0A0A2B32</a:t>
            </a:r>
          </a:p>
          <a:p xmlns:a="http://schemas.openxmlformats.org/drawingml/2006/main">
            <a:r>
              <a:t>变更注册过渡政策官方解读 https://yjj.sh.gov.cn/qtgzwj/20230316/8b076216db34470bbcc7e20d6f6ea517.html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项目仓库已有技术文档，但不能据此推断公司受控的法规标准清单、完整生命周期文档或正式验证已完成。把真实文件名、编号、版本和审核状态填入。软件生命周期要求可参照YY/T 0664-2020理解，系统级确认不应被代码测试替代。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对应职业素养的五项评分标准和10%的专项任务权重。请使用真实事件，写明时间、协作对象、个人责任、反馈方式和可验证结果。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根据本人真实试用期工作填写此页。最好选择两到三个最能说明能力的案例，避免只说“参与了”“完成了”，需要讲清本人负责内容和证据。此页已从第3页移至总结前，作为答辩内容的最后一页。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结尾请补充你愿意承担的下一阶段具体职责和可检查目标。避免承诺尚未评估过的量化指标。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4bb0aa8f545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c6766a27bc470a" /><Relationship Type="http://schemas.openxmlformats.org/officeDocument/2006/relationships/slideLayout" Target="/ppt/slideLayouts/slideLayout1.xml" Id="Ra32216dff66a40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2216dff66a40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56ea4c91149d6" /><Relationship Type="http://schemas.openxmlformats.org/officeDocument/2006/relationships/notesSlide" Target="/ppt/notesSlides/notesSlide1.xml" Id="R603e133a26614e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c13bdfd8f4c7a" /><Relationship Type="http://schemas.openxmlformats.org/officeDocument/2006/relationships/notesSlide" Target="/ppt/notesSlides/notesSlide2.xml" Id="R4e5b6e5521c040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96ce28d854e3c" /><Relationship Type="http://schemas.openxmlformats.org/officeDocument/2006/relationships/notesSlide" Target="/ppt/notesSlides/notesSlide3.xml" Id="R08f4b274a1b64b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310c5c7e04c60" /><Relationship Type="http://schemas.openxmlformats.org/officeDocument/2006/relationships/notesSlide" Target="/ppt/notesSlides/notesSlide4.xml" Id="R64065254720246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b37190bde401a" /><Relationship Type="http://schemas.openxmlformats.org/officeDocument/2006/relationships/notesSlide" Target="/ppt/notesSlides/notesSlide5.xml" Id="Rac57645bd6724f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d9e4656544f6f" /><Relationship Type="http://schemas.openxmlformats.org/officeDocument/2006/relationships/notesSlide" Target="/ppt/notesSlides/notesSlide6.xml" Id="Rf3541adb79ea43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59530c7d8443b" /><Relationship Type="http://schemas.openxmlformats.org/officeDocument/2006/relationships/notesSlide" Target="/ppt/notesSlides/notesSlide7.xml" Id="R1736c4ecc3424e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37324657d400d" /><Relationship Type="http://schemas.openxmlformats.org/officeDocument/2006/relationships/notesSlide" Target="/ppt/notesSlides/notesSlide8.xml" Id="R2e925c8db68c40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cb9598ea74063" /><Relationship Type="http://schemas.openxmlformats.org/officeDocument/2006/relationships/notesSlide" Target="/ppt/notesSlides/notesSlide9.xml" Id="R042795f9bbe549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684b3d4d140c0" /><Relationship Type="http://schemas.openxmlformats.org/officeDocument/2006/relationships/notesSlide" Target="/ppt/notesSlides/notesSlide10.xml" Id="R2c5208462bff47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10cc72547400c" /><Relationship Type="http://schemas.openxmlformats.org/officeDocument/2006/relationships/notesSlide" Target="/ppt/notesSlides/notesSlide11.xml" Id="R66a1c0e6ae5148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14d76b45544ab" /><Relationship Type="http://schemas.openxmlformats.org/officeDocument/2006/relationships/notesSlide" Target="/ppt/notesSlides/notesSlide12.xml" Id="R9382337509e74c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88082-50CC-4E9F-A3B5-B7E8AC4D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试用期转正答辩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A77CE-7080-4F80-A6DD-4DA9A180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9525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工作回顾与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工程重构实践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0464D-4CAE-4AD5-9A61-A8E0511D0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D4E3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软件开发岗位  /  [姓名]  /  [部门]  /  [日期]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A3AD9-A6A4-4A29-8E7A-51326221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C1C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C1CA"/>
                </a:solidFill>
                <a:latin typeface="Arial"/>
                <a:ea typeface="Arial"/>
                <a:cs typeface="Arial"/>
              </a:rPr>
              <a:t>磁控胶囊项目是工作案例之一，重点说明技术理解、改造思路与交付方式</a:t>
            </a:r>
          </a:p>
        </p:txBody>
      </p:sp>
    </p:spTree>
    <p:extLst>
      <p:ext uri="{BB962C8B-B14F-4D97-AF65-F5344CB8AC3E}">
        <p14:creationId xmlns:p14="http://schemas.microsoft.com/office/powerpoint/2010/main" val="938767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84B00D-F16E-42C6-A1DA-3F3213A6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  工作总览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CB891-CCC4-476A-955B-76CC90C5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试用期工作内容与考核表对应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3B4EB-C85A-4D0E-9CD9-340E6ADC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答辩主线围绕“理解工作、完成任务、形成交付、持续改进”。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576924-C0E3-4839-851A-F72D7F9D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8D781-2515-4BFA-8891-E9889FB3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58D68-2670-4F74-BA97-3771D780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621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80733-4597-4F14-9046-531741D5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621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产品与系统理解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11F7B2-2FFF-40FF-96D1-10A247DB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621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产品构成、主控流程、通信链路和异常路径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FD2D6-6E15-4A5C-8428-EB2AF4FE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92BA11-AF9F-4CD9-BFF1-162282C1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479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59DD8-2B4A-4CB8-837E-2C504CAF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479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代码开发与缺陷修复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ACB4D-B62C-4D71-9880-A4D058D8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479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按规范开发、定位问题、控制修改影响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F69B6-8E4F-476E-9074-22AC8529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B0D90-ECC8-4EFF-8C85-AFDBEC30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337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6902C-83A9-47F5-8B36-CA435D3D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交接与版本迭代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7E3050-3F92-44E0-BD19-194242CF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337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接收资料，承担功能维护与迭代，配合验证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9444EE-EBC0-4F94-AC73-00D0BB30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ED3E8-BF68-427D-99EC-59884F7F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195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7A861-F06E-47E6-AFD7-09BE2AFF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195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法规标准与软件文档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466FDC-F90D-41B0-9B5C-7B34F990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195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理解适用标准，按流程输出可追溯资料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422BD-3B7F-4CF5-82FC-4D54456A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D664E1-C7F6-4BDB-B535-A95AC39D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053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4B8567-8AFB-48BC-A433-8A4FA0A4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053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专项任务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818791-80CF-48E8-A50C-09B50F17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053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按期处理临时任务，及时反馈风险和进度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15278E-017F-4FFD-8EB7-C7901D80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A90AB6-B210-44DF-BCD8-D72769FB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816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职业素养（20%）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169BC3-6027-40BF-B37C-3F89B0051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816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工作态度　责任心　执行力　沟通协调　团队协作</a:t>
            </a:r>
          </a:p>
        </p:txBody>
      </p:sp>
    </p:spTree>
    <p:extLst>
      <p:ext uri="{BB962C8B-B14F-4D97-AF65-F5344CB8AC3E}">
        <p14:creationId xmlns:p14="http://schemas.microsoft.com/office/powerpoint/2010/main" val="15969890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29FA7F-A2D3-42DB-B120-32E6C3CB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  项目理解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E52E0-2759-42F6-A40A-9D24F8C7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产品系统与图像数据链路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676B6-0271-4FB5-9B04-781892C1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胶囊端采图与编码，接收端选天线和转发，STM32 校验后送 PC 与 SD。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0A384-0195-4F98-8ED4-CFAFA38E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0A29A-0D46-4632-A5B0-2A1DF42B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6F30D-D421-468A-80EB-EDFD29EF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E0DDE3-50F1-49F5-AEE2-ACFDFC46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OV7676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D6A6B-D5FB-4DAE-82CC-0DFC0E42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图像传感器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480×480 YUV422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E2B14-0A07-4677-A72F-17C3AD94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4887B-C9A9-4A71-8B6A-0F96EFC4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CX93510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97D7F-3018-468C-8EE3-119D76DF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采集同步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JPEG 压缩 / 帧 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6194A-0E5B-4384-AFDB-E5445436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032EF-F42B-4CE6-A333-E222A0C1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 TX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6B6415-ED5F-4E63-817C-94C7FA2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SPI 读帧 RAM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分片无线发送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F83A21-FADA-4286-AE39-BE3B92EC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6CEFD-FDB1-410A-A342-06572CCD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 RX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42C51-920E-4673-8AB2-578AA65D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 路天线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选路 / 收包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E27B19-9516-493F-8729-CC2B4D3B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0E948-3445-4392-8D42-409909B3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STM32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674A6-950D-4BEA-8A1A-EE6290BD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USART2 解析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校验 / 转发 / SD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5256B9-DA81-4AC5-8D5B-BEF18B6C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457450"/>
            <a:ext cx="15240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8D4788-782C-4362-B6A2-51AD5158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581275"/>
            <a:ext cx="129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2B044B-1B97-41CF-B06C-F7612CF5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962275"/>
            <a:ext cx="1295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图像显示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设备信息 / 文件</a:t>
            </a:r>
          </a:p>
        </p:txBody>
      </p:sp>
      <p:cxnSp>
        <p:nvCxnSpPr>
          <p:cNvPr id="63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152650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117900-4A71-4401-938F-F7017C92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DVP 并行</a:t>
            </a:r>
          </a:p>
        </p:txBody>
      </p:sp>
      <p:cxnSp>
        <p:nvCxnSpPr>
          <p:cNvPr id="6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67175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AA5972-D29A-42BB-A24D-26864F93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主机 SPI</a:t>
            </a:r>
          </a:p>
        </p:txBody>
      </p: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981700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7B33C4-F066-45AB-BA17-2338E3FF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2.4 GHz Radio</a:t>
            </a:r>
          </a:p>
        </p:txBody>
      </p:sp>
      <p:cxnSp>
        <p:nvCxnSpPr>
          <p:cNvPr id="69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896225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AA1148-905D-44FC-A83B-7551C767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USART2</a:t>
            </a:r>
          </a:p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 Mbit/s</a:t>
            </a:r>
          </a:p>
        </p:txBody>
      </p:sp>
      <p:cxnSp>
        <p:nvCxnSpPr>
          <p:cNvPr id="71" name=""/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810750" y="3114675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0D944B-EF4C-4E34-8D5B-11EEE04E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33700"/>
            <a:ext cx="638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USART3</a:t>
            </a:r>
          </a:p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921600 bit/s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CAC2CC-0147-480A-989D-438858AE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数据归属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065086-2436-431A-B2BC-0F3AF76C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00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像素流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F378D2-37EC-4C5E-880F-C8FCC5EE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00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JPEG 帧数据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8A8E95-9F52-4622-9BA6-D9643213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4005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固定长度无线包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45FD17-D3B0-4033-9566-D2F14FDA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4005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校验后的图片帧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0D19A3-CE57-4CAA-A7D4-74672B60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292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SD 卡保存固定长度 .YS 记录，PC 可接收实时图像并查看历史记录。</a:t>
            </a:r>
          </a:p>
        </p:txBody>
      </p:sp>
    </p:spTree>
    <p:extLst>
      <p:ext uri="{BB962C8B-B14F-4D97-AF65-F5344CB8AC3E}">
        <p14:creationId xmlns:p14="http://schemas.microsoft.com/office/powerpoint/2010/main" val="20811533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F6493B-3A87-47A7-B29F-6E7F0FF1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  采集与编码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C2030-5046-41BA-9FBD-D61B2B30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图像怎样变成可发送的 JPEG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4C303-44D2-4730-A3F6-B39ADDFB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关键边界：OV7676 输出原始像素；CX93510 负责采集、压缩和缓存；nRF 负责读取与传输。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5F5A4-B60F-416A-BB8A-191B75FB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1264B-48C1-4FB5-829C-C1BF6342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9D197-FA63-4785-9CE9-CB2271F0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05075"/>
            <a:ext cx="2428875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8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B7200-A9C7-4C4F-A0F2-2D7202D1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628900"/>
            <a:ext cx="2200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OV7676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8217D8-18D2-41D7-9F67-0E562DD5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009900"/>
            <a:ext cx="22002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曝光成像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并行 DVP 输出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YUV422：Y0/U/Y1/V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67199-14B9-4E4E-BE5C-4C5DF5D3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05075"/>
            <a:ext cx="2762250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DDECEF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848DF-AB79-4A1A-A81A-D408D6FB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2890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CX93510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02E4B9-58A2-4F16-9F9F-FBBFFAFE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009900"/>
            <a:ext cx="25336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DVP 同步采集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JPEG 编码器处理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结果写入帧 RAM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0F357-E932-4330-B5E0-DA0050CF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05075"/>
            <a:ext cx="2714625" cy="1743075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8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1F551-36B8-4852-9C08-4C8A8A95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4860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nRF52832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FA7BE-7ACD-4FF1-A8CB-5A1107ED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24860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通过 SPI 访问 CX93510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读取帧块状态、地址和长度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每个 DATA 分片按需取数</a:t>
            </a:r>
          </a:p>
        </p:txBody>
      </p:sp>
      <p:cxnSp>
        <p:nvCxnSpPr>
          <p:cNvPr id="4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238500" y="3376613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BEE9D-0C8A-4E18-B57C-B92DE0AE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57525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DVP 像素流</a:t>
            </a:r>
          </a:p>
        </p:txBody>
      </p: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524750" y="3376613"/>
            <a:ext cx="1219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1FE93-268C-4520-BBC5-E832F6F9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57525"/>
            <a:ext cx="1219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SPI 读帧 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26690E-A6DE-42B4-A42D-661A0256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控制路径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04F562-223D-4D53-B0C2-62981684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9812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nRF 通过 CX93510 的 I²C 代理配置 OV7676，读回关键寄存器确认输出格式。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E30533-CAE4-400A-93E6-380C4D15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910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采集顺序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C30DF-C7EB-4B87-88AD-418D62D2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91075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唤醒摄像头并预热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5C7EE2-CA0F-428C-8CC2-C06B2BF2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91075"/>
            <a:ext cx="3143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启动单帧采集与 JPEG 压缩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436F1D-61B9-4E16-8626-8E9B2C13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91075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JPEG 留在帧 RAM，nRF 分片读取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FE67F9-4B39-48AE-8D57-1D7FCE97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34025"/>
            <a:ext cx="10525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当前 TX 不把整张 JPEG 复制到 nRF 的 image_buff[]；发送 DATA 时从 CX93510 帧 RAM 读取对应区间。</a:t>
            </a:r>
          </a:p>
        </p:txBody>
      </p:sp>
    </p:spTree>
    <p:extLst>
      <p:ext uri="{BB962C8B-B14F-4D97-AF65-F5344CB8AC3E}">
        <p14:creationId xmlns:p14="http://schemas.microsoft.com/office/powerpoint/2010/main" val="1499801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C4F014-9AC3-4FBA-8307-5F4D51E0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  通信链路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EA96F-AD28-48B5-B2F9-7B04FBB28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无线传输、接收与 PC 转发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30E717-78C4-4D21-ADB1-BAF7DDCD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各段使用不同帧格式，排查问题时先确认数据停在哪条链路。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E8D77-EDDC-4962-AC27-39EEA6A5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BDE24-5C44-483B-BC91-8EE8BAAA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0F320-F950-4A1F-B365-7C62934B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ADFF91-CF02-443E-BF06-DB0FC1BF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812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 TX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D1DFD-0BA6-4413-96C8-210B6196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BEGIN / DATA / END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每包 254 B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DATA 最多 242 B 图像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3CB45-2783-4281-A769-D27367E7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574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D596B-EAAA-4452-B1DB-FFAF0A44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812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nRF RX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365F6-CBC3-49A7-9106-2C9DE30C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9622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CRC 与 SN 匹配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 路天线选路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无线包经 UART 转发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45FBEB-F9B4-4C73-8DD6-B3A3EE65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B91FC-775C-4260-BD5F-8F1B0C39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812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STM32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E9839-4AC3-4ABA-A844-94FC1545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622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USART2 流式解析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长度 / Checksum 校验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补 DeviceInfo / JPEG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1A30E-AF7B-4165-9484-912CB30B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45745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036CC-D646-4EBF-B59E-72B5FBFB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81275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PC + SD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4DB08-5405-4495-8E3D-F7CFD5FF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62275"/>
            <a:ext cx="1962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USART3 DMA 发 PC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SD 写入 20064 B 记录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 10 次成功写入同步</a:t>
            </a:r>
          </a:p>
        </p:txBody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30861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1AE89E-7982-45F4-89C8-971705C0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95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Radio</a:t>
            </a:r>
          </a:p>
        </p:txBody>
      </p:sp>
      <p:cxnSp>
        <p:nvCxnSpPr>
          <p:cNvPr id="4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67375" y="30861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7BA4B0-2623-4F84-8259-A3868DE3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95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USART2</a:t>
            </a:r>
          </a:p>
        </p:txBody>
      </p:sp>
      <p:cxnSp>
        <p:nvCxnSpPr>
          <p:cNvPr id="5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362950" y="308610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BCFFC5-E143-47D5-8AFF-30081AEC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956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USART3 / SDIO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769678-973A-4011-A284-51EF5A67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RX → STM 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EA2469-99EF-4137-B660-04351940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19600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FF 55 12 34 81 + 长度 + 128 B DeviceInfo + JPEG + 校验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8BFDF1-62F0-4D4D-A4DB-06F85AA4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STM → PC 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2B5A75-0C4C-4D02-8985-7AA744F6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958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ZAYS 81 + 长度 + JPEG + DeviceInfo + 校验；图片按四段 DMA 顺序发送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6649A2-9DD5-4C84-AC97-FE061BD4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无线协议 / UART 帧头 / SD 记录格式不能混为同一种“胶囊协议”。</a:t>
            </a:r>
          </a:p>
        </p:txBody>
      </p:sp>
    </p:spTree>
    <p:extLst>
      <p:ext uri="{BB962C8B-B14F-4D97-AF65-F5344CB8AC3E}">
        <p14:creationId xmlns:p14="http://schemas.microsoft.com/office/powerpoint/2010/main" val="17639013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4BE8E4-CFB9-427A-B4AA-80FD66D3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  天线选路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28418-7E59-47EC-891C-D9A48313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RX 天线扫描：旧版与新版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EFD4F-6A01-4C61-90C7-6F6AA5DD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旧版独立扫描并锁定一路；新版与 TX 协商快速 SN 广播，保留三路候选。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15B7B-A1BD-44D6-B986-C98AEEE0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CCE64-6902-479D-853C-73E445EF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C22A1-264D-4821-B4CE-6ED59C11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TYGD31 旧版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DE50C-0CD9-4FB0-8DE5-3A8FEFB0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当前工程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9A02F-4DA1-47AF-ACF3-5795745F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C5B15-6B70-4ACC-8C6B-AD844EB8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逐路扫描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1128F-0935-44A6-BD8E-05C9C99F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 路天线每 3 ms 切换一次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E4E90-FC71-49A2-9955-7626F913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480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4EC707-FA89-4D39-8C5C-85E750BB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AF407-174D-4784-A6CC-0995054E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收集 RSSI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D08526-0F56-4F3C-A23E-C158C584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29025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全局累计 36 个正值，各路样本数不固定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8F7E54-2FB4-4A22-8D89-D44B7E4A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147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6709E-2234-4376-BD01-EB1075E7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3FD4B2-AC5A-4BFB-AEE9-6444FE83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只选一路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E19561-F583-4538-9AD4-0ABD34E0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每路保留最强一次，选幅值最小者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0EAC8-3308-4E62-A559-209E7DEB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815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2B783B-C47F-499F-888F-EB6025B4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5A237-2AF3-4477-B74E-AAA7DE8B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锁定并监测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1C57E-11FB-420F-8519-90FC2414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62575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1200 ms 无完整图片则重新扫描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C93DAE-9A28-4396-91D2-7FF65BD3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52675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1DEDDD-36AD-49B6-883C-A0BF774F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寻找目标 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6E55F9-6F99-43DF-B16E-B9E546AE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绑定后每路 8 ms；RX 发 0x12 请求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08EC6A-A668-4220-BA9A-0E633052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36F92D-BDF7-4DC7-BD60-67FBADCC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2E1E88-3164-4326-AE6B-DD0C7FD1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05175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TX 配合快速广播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26F411-6290-4906-BF9A-DB341979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2902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TX 回 0x11，约 1800 ms 密集播 SN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692B74-BD44-45A2-9102-7B02F2CE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14775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C82632-EF5A-44D8-8945-745CE4E7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0E9DE6-7F1B-40FE-A21C-F1ECA315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正式扫描 12 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99F404-5B2F-4A00-AC50-E6204A99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958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每路 32 ms × 4 轮；只计目标有效 0x05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98C056-F4C1-40DE-85C0-23D3EA64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81550"/>
            <a:ext cx="333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537622-0D0E-44E2-BF66-56919523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ECEF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D219AB-DA7F-4BF5-B2DC-8C05AD19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38725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排序并锁定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EAED9B-F2DC-4CC9-BC35-B447DE55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6257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均值、≥2 样本优先；前三候选依次切换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974559-9D81-4EC1-9940-EC6AE9CF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旧版失联：直接回到扫描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A784DB-F4E8-45BF-B807-8FFEA1E9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055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新版失联：先换候选；全部失败再寻 END</a:t>
            </a:r>
          </a:p>
        </p:txBody>
      </p:sp>
    </p:spTree>
    <p:extLst>
      <p:ext uri="{BB962C8B-B14F-4D97-AF65-F5344CB8AC3E}">
        <p14:creationId xmlns:p14="http://schemas.microsoft.com/office/powerpoint/2010/main" val="12796915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43E9CE-B717-4C18-BB36-3FF63454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06  工程重构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A9593-652F-436E-B0AA-768C646D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TX / RX 新旧工程整体对比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C131F-9187-4780-A4E3-87E6B9C2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围绕取图、唤醒、等待、空闲和选路，比较代码中的实际实现。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86328-D961-4BC0-837B-FB77E577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E70E6D-F6E0-40F3-B962-11676AE8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3D844-205B-4B22-8F87-932D80E5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对比点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5EFA1-5DBC-4902-B69C-0F269A45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5262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TYGD31 旧工程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0BFA0A-34EC-4007-960D-C0252290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当前工程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AF56A-74F2-489B-BAA2-9BD5B756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4315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图片数据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5870C-E3CA-4C32-870A-ABE100DD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431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整张 JPEG 先复制到 nRF 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6F89B-12EB-4F29-BFD9-2178C5C9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6220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3D8C5-1BD9-49C0-8161-5DB87EB2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发送 DATA 时按片读 CX93510 帧 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70F7D-107A-4AC9-8362-204AE110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765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E5D5B-AB9B-4C59-B229-CF05B150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0990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周期唤醒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A6948-0765-4EFB-AE4B-F7404858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099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TIMER2 固定周期唤醒；主循环 WFI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3CA69-7092-4AED-A386-0F6D133E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2895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BE213-CEA4-41F4-9BA4-A36F472A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99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RTC2 产生 500 ms 请求；空闲时 WFE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B1D900-8544-47C5-8ABB-690872A6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4330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95D823-EA68-494F-8767-D49893A9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7665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业务等待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6B4A85-4090-4383-9818-59DCBBE9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766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拍摄预热和取图轮询使用 delay_ms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687ADD-AB45-4282-99FF-D2B9746A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9570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73A4C-959B-4C07-8A39-F449C97C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766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TIMER1 的 1 ms 时基推进预热、分片与 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950F6-C1FE-4D8F-8E13-E34C115A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100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C5C62E-8D53-4EE3-B33E-B7B69785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4340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SPI 与帧 RAM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06612-56EC-4229-8FA2-456D745B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434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SPI0 常开；整图搬走后关闭 PDRAM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5620CB-DDDC-4766-BB23-4B61D161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36245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1C5152-F09B-4135-AF75-1B3B9BD6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434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帧 RAM 保持供分片读取；事务结束关 SPIM0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77815C-2F3D-4D24-AB07-697584FB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7680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A903C2-A1F0-4A88-A6EC-6CBFF22E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015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天线选路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26E035-CBD6-45FC-9231-7480FD33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101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单次最强 RSSI，锁定一路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61B9B7-F67F-4368-B71D-439A7292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2920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133E12-E851-4B3C-A99E-8CDED9C2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101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目标 SN + CRC 过滤，均值排序，前三候选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3803EC-E19D-4D44-8F83-98726D49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435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8F8C9A-C520-400E-8BAB-547587BB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769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说明：1 ms 时基用于业务调度；芯片初始化及 CX93510 内部轮询仍有短阻塞等待。</a:t>
            </a:r>
          </a:p>
        </p:txBody>
      </p:sp>
    </p:spTree>
    <p:extLst>
      <p:ext uri="{BB962C8B-B14F-4D97-AF65-F5344CB8AC3E}">
        <p14:creationId xmlns:p14="http://schemas.microsoft.com/office/powerpoint/2010/main" val="12713348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9B8C30-60FB-4767-AF74-C0C0E89A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07  法规合规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2215D-628C-4642-9F24-0CA4E281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新旧标准差异与变更注册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AA893-C06C-43DF-86F6-E90146C2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关键变化：安全与性能要求升级，注册资料需按新标准重新评估。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2568A-F4AF-468A-8FC2-25476969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DB77E-151A-4B75-A67F-4BCB578B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D5AB8-6516-4E07-A137-F211615C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标准更新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B005E-A4D0-4137-AAE5-3D5C0200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旧版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77C0D-EEC6-4449-B7BD-1CDE7679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新版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76D5B4-CB51-4BDB-80C4-42C59B1B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812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变化重点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07CD9-1720-4C06-91D2-1A3ECBC0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通用安全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18200-3676-4E41-A915-1A3AB5E6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03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GB 9706.1-2007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7A197-9072-4FA6-98EB-612E3620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GB 9706.1-2020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DD770-31B1-4C81-925D-02C1672F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0300"/>
            <a:ext cx="219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从基本安全扩展到基本安全＋基本性能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0806E-07B6-4273-A6D9-2A70FAB8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8E68F-6F5D-4224-9F5F-E8FB796C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电磁兼容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1F7C2-813A-4468-AAE3-E7C72DE0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0515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YY 0505-2012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E9CB32-3C7A-46D7-A684-83189198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0515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YY 9706.102-2021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CBF66-E821-4B05-8161-DB6FEDAD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05150"/>
            <a:ext cx="219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按新版 EMC 要求重新评估与验证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612F81-A282-4864-AF43-CA096FCA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B1213-8058-4409-BC31-8E6B59BD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952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风险管理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B233C2-B99E-4BB6-84F4-09CE419D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100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YY/T 0316-2016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D911A0-767F-4CB3-9EE8-EDEFD05F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276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GB/T 42062-2022</a:t>
            </a:r>
          </a:p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YY/T 1437-2023 指南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D2A40F-0E7D-41F8-83DC-46AD7EEA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10000"/>
            <a:ext cx="2190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更新风险管理依据及过程/记录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98452A-C5F0-41A7-AEE7-7CB2B397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5CCD82-9D7A-4E6E-B47D-95C76CD9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变更注册主线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E2C9FE-1EA9-43D2-8F23-866140A7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95825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差距分析  →  风险 / 设计更新  →  检验与资料更新  →  变更注册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A1FC6-62C7-4266-B59B-071A199A3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另核对专用标准：GB 9706.218-2021（内窥镜设备）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A73088-CB97-4E3E-B2B4-6E37C641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注：具体适用条款、资料范围与期限由法规/注册负责人结合注册单元确认。</a:t>
            </a:r>
          </a:p>
        </p:txBody>
      </p:sp>
    </p:spTree>
    <p:extLst>
      <p:ext uri="{BB962C8B-B14F-4D97-AF65-F5344CB8AC3E}">
        <p14:creationId xmlns:p14="http://schemas.microsoft.com/office/powerpoint/2010/main" val="9233846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6EE809-D57F-4D85-B9DD-F184EFE4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08  质量意识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99C51-7C93-4A09-B0A7-5876D4BB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流程文件、验证与可追溯交付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6A64B-D859-482E-8A35-917A82E4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软件实现只是交付的一部分，需求、风险、测试和变更记录也要连起来。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0BA6FA-C77F-4159-8660-531C5629E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55320-EF88-419A-BF94-0DDE7103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09EE1-374A-4939-AF5B-4AB5BFAE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8EEDC-E0E1-444F-BE67-B4F46197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1379B8-43C8-4334-BBB1-9C14BBA3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来源 / 编号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EB279-590D-4237-9BB7-B8FF3191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19E01-1C0B-4F8E-881A-7EF073A8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设计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EB5140-9F3B-4E00-BE9F-49F11643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接口 / 状态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001A2-CAB2-40AA-95F7-2ABFB21B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CEF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4A77EE-BCAC-4DEC-A801-EEFCA146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实现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CE79B9-C3E2-4D8B-ABEB-A9EC4A06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提交 / 评审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415A8-E0E6-4228-A6E7-1891D6F8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F6F47-37E7-482A-BAD4-33530C40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17033-B6CB-45B0-991C-51822D40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用例 / 结果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01FFE-3FC2-4490-A5EC-89A5230C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F0CCB-F306-471D-8EAF-056C3946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发布维护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B951FF-B00C-4323-8E08-1FA87CBC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版本 / 变更</a:t>
            </a:r>
          </a:p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cxnSp>
        <p:nvCxnSpPr>
          <p:cNvPr id="50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050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51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6767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52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8484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0201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720D09-4FB8-422B-B4CA-3F6B448C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已梳理资料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2611EE-5A4B-4911-9912-33FBC0F0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005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通信协议、目录结构、TX/RX/STM 软件框架、新旧工程对比。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CEEC3C-4F1F-4ACA-9CDE-522B68D9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待补正式证据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49A504-2797-45ED-86D7-F8924F6A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53000"/>
            <a:ext cx="885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公司流程文件编号、适用标准清单、需求追踪、验证报告、评审和版本记录。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A9D568-2A5C-4BD3-A6EE-94E63C02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当前工程已知边界：STM 图片解析尚无帧静默超时，列入后续风险评估与验证。</a:t>
            </a:r>
          </a:p>
        </p:txBody>
      </p:sp>
    </p:spTree>
    <p:extLst>
      <p:ext uri="{BB962C8B-B14F-4D97-AF65-F5344CB8AC3E}">
        <p14:creationId xmlns:p14="http://schemas.microsoft.com/office/powerpoint/2010/main" val="10453620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CA3D01-47ED-43E9-8605-F1D164D7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09  协作与执行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7C779-BC1C-4E51-8241-305FA0FD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工作方式与职业素养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9028A-3A18-4507-A327-16DCAABC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把五项职业素养落到具体事件，避免只做自我评价。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6C6AC-3413-4369-B21D-A5EBC264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2D72D-B046-40DE-8047-3688AA41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257AC-DD80-4D2C-9006-BE07BE99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54F38-513E-41C7-9FB1-90BF8A80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95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工作态度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3A3AD-41B7-49AB-BBD5-6EE727F3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[遇到复杂任务时的投入与推进例子]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BBBA2-3E77-48A1-9DE3-2473170D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5DC18-A979-40E3-A862-FD79492F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33675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F8A4D-4275-4850-B675-C134C0B4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336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责任心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6B35B-D12A-4F8A-B428-A6CD3193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33675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[主动发现风险并跟踪到闭环的例子]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D88CD-506A-4F13-A48F-86687751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62300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BB0EA-1D01-4FB0-B531-4FD00F80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7185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34F25-EA77-4C95-8CEC-921FA2B2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执行力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688B3-90DF-43E4-94CD-542CF927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185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[按计划完成并反馈进度的例子]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63A13-BE6D-4FBF-8374-88A86C24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0047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78BFE-E477-4965-8B8E-98700FD5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10025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44E6E-4F74-4602-BEAC-9346BD01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10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沟通协调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FC30F8-A110-4A42-80FD-537F3C83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10025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[与测试 / 硬件 / 上位机协作案例]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21F2EC-CCBE-4200-85C9-71A677C7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38650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26E0CC-D528-4001-BCA5-E047E706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4820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AE9A1-06DA-439D-A234-CB5E90CA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团队协作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A79688-CD7E-40C4-96EC-ED8BF675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4820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[分工、互相支持与共同交付案例]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3714F7-79CC-4BC1-889A-E7BD3BB30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7682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C3B26C-BB19-4AA9-9599-3ABD6FC4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02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专项任务：[任务背景]  /  [本人负责]  /  [交付时间]  /  [结果或复盘]</a:t>
            </a:r>
          </a:p>
        </p:txBody>
      </p:sp>
    </p:spTree>
    <p:extLst>
      <p:ext uri="{BB962C8B-B14F-4D97-AF65-F5344CB8AC3E}">
        <p14:creationId xmlns:p14="http://schemas.microsoft.com/office/powerpoint/2010/main" val="3206113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0B79E0-570E-4870-9A83-27857A4C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10  工作回顾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EBC91-2BC4-4AD3-A514-9B46ADC0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试用期工作主线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6927B-07B6-46F8-A952-5A94109A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项目任务以外，重点呈现个人负责范围、交付证据和协作过程。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A23AC-3527-45E8-9273-608D5851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CBC6C-A4D1-479A-B7D1-7299BE17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F0C77-777D-405C-8D80-724D0F7D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工作内容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A5183-26EC-4013-A13F-B7CEC1E9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764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本人承担与交付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C6F30-2EC7-4EFD-884B-F5752295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证明材料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2DA61-EB6A-4B99-AC74-568DF51D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熟悉产品与代码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718C4-F807-4E42-B3D1-543E5D06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63842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[负责模块 / 关键流程 / 上手成果]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4BE39-66E0-4AA2-9443-48EEDCA7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384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[交接资料 / 学习记录]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66BF5-3B0E-46AF-9E7F-2CF1F4D5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2E33B-3BAD-450B-A18A-EC98538B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开发与问题闭环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44F05-306A-4082-9F77-8F52B5C3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1470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[功能迭代 / 缺陷定位 / 修复结果]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F748C-1E12-405F-8A66-BA4509D3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[提交 / 缺陷单 / 评审]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74AA0-42A5-4F75-BF4D-136C0E96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450AD-DB7D-4A9A-AA68-87BA9538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验证与跨团队配合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893F51-4046-45AA-B051-8473A577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90975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[联调、验证支持、问题同步]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A31002-9CF3-473D-AF15-2FA2C7D7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9097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[测试记录 / 协作案例]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BAD9B9-A8DF-4371-AE85-1FD6969C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565CDD-D85E-43D8-9404-0147F59C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专项任务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5C4C5C-5BAE-410A-8D5F-C79DEFA7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672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[任务名称、时限、结果]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C5B6DD-5059-4E26-8F82-498D047E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[任务记录 / 汇报记录]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CD56CD-E6F6-4923-8DA1-B8E93B05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C0A7EF-C817-4603-A314-09F1678E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38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答辩建议：每件事按“背景 → 本人动作 → 验证证据 → 结果/复盘”讲清楚。</a:t>
            </a:r>
          </a:p>
        </p:txBody>
      </p:sp>
    </p:spTree>
    <p:extLst>
      <p:ext uri="{BB962C8B-B14F-4D97-AF65-F5344CB8AC3E}">
        <p14:creationId xmlns:p14="http://schemas.microsoft.com/office/powerpoint/2010/main" val="19779168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95B763-D143-4D94-BB59-6C0F801B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914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总结与下一阶段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B2F538-2913-4DC2-BE47-D01631A8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94297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从系统理解到</a:t>
            </a:r>
          </a:p>
          <a:p xmlns:a="http://schemas.openxmlformats.org/drawingml/2006/main">
            <a:pPr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可追溯交付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22EE7-2003-4122-BA09-9276F24A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861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下一阶段重点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63469-C590-4615-BB91-E3B7CF86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补齐链路与移动场景验证；完善异常恢复和回归测试；按流程沉淀需求、风险和验证记录。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F0026A-1B08-4FB6-A646-5DCDD0BD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3E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E4E8"/>
                </a:solidFill>
                <a:latin typeface="Arial"/>
                <a:ea typeface="Arial"/>
                <a:cs typeface="Arial"/>
              </a:rPr>
              <a:t>申请转正  /  [本人补充一句具体承诺]</a:t>
            </a:r>
          </a:p>
        </p:txBody>
      </p:sp>
    </p:spTree>
    <p:extLst>
      <p:ext uri="{BB962C8B-B14F-4D97-AF65-F5344CB8AC3E}">
        <p14:creationId xmlns:p14="http://schemas.microsoft.com/office/powerpoint/2010/main" val="10012397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2026-09-24T07:49:47.4890000Z</dcterms:created>
  <dcterms:modified xsi:type="dcterms:W3CDTF">2026-09-24T07:49:47.4890000Z</dcterms:modified>
</coreProperties>
</file>